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43"/>
  </p:notesMasterIdLst>
  <p:handoutMasterIdLst>
    <p:handoutMasterId r:id="rId44"/>
  </p:handoutMasterIdLst>
  <p:sldIdLst>
    <p:sldId id="277" r:id="rId5"/>
    <p:sldId id="304" r:id="rId6"/>
    <p:sldId id="256" r:id="rId7"/>
    <p:sldId id="257" r:id="rId8"/>
    <p:sldId id="258" r:id="rId9"/>
    <p:sldId id="259" r:id="rId10"/>
    <p:sldId id="322" r:id="rId11"/>
    <p:sldId id="308" r:id="rId12"/>
    <p:sldId id="261" r:id="rId13"/>
    <p:sldId id="262" r:id="rId14"/>
    <p:sldId id="263" r:id="rId15"/>
    <p:sldId id="264" r:id="rId16"/>
    <p:sldId id="265" r:id="rId17"/>
    <p:sldId id="330" r:id="rId18"/>
    <p:sldId id="328" r:id="rId19"/>
    <p:sldId id="334" r:id="rId20"/>
    <p:sldId id="341" r:id="rId21"/>
    <p:sldId id="290" r:id="rId22"/>
    <p:sldId id="346" r:id="rId23"/>
    <p:sldId id="326" r:id="rId24"/>
    <p:sldId id="333" r:id="rId25"/>
    <p:sldId id="329" r:id="rId26"/>
    <p:sldId id="351" r:id="rId27"/>
    <p:sldId id="344" r:id="rId28"/>
    <p:sldId id="295" r:id="rId29"/>
    <p:sldId id="349" r:id="rId30"/>
    <p:sldId id="323" r:id="rId31"/>
    <p:sldId id="325" r:id="rId32"/>
    <p:sldId id="331" r:id="rId33"/>
    <p:sldId id="345" r:id="rId34"/>
    <p:sldId id="339" r:id="rId35"/>
    <p:sldId id="337" r:id="rId36"/>
    <p:sldId id="299" r:id="rId37"/>
    <p:sldId id="350" r:id="rId38"/>
    <p:sldId id="300" r:id="rId39"/>
    <p:sldId id="324" r:id="rId40"/>
    <p:sldId id="260" r:id="rId41"/>
    <p:sldId id="34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DFA9DAD-BEE4-4EA2-B84B-2DD43BB05719}">
          <p14:sldIdLst>
            <p14:sldId id="277"/>
            <p14:sldId id="304"/>
            <p14:sldId id="256"/>
            <p14:sldId id="257"/>
            <p14:sldId id="258"/>
            <p14:sldId id="259"/>
            <p14:sldId id="322"/>
            <p14:sldId id="308"/>
            <p14:sldId id="261"/>
            <p14:sldId id="262"/>
            <p14:sldId id="263"/>
            <p14:sldId id="264"/>
            <p14:sldId id="265"/>
            <p14:sldId id="330"/>
            <p14:sldId id="328"/>
            <p14:sldId id="334"/>
            <p14:sldId id="341"/>
            <p14:sldId id="290"/>
            <p14:sldId id="346"/>
            <p14:sldId id="326"/>
            <p14:sldId id="333"/>
            <p14:sldId id="329"/>
            <p14:sldId id="351"/>
            <p14:sldId id="344"/>
            <p14:sldId id="295"/>
            <p14:sldId id="349"/>
            <p14:sldId id="323"/>
            <p14:sldId id="325"/>
            <p14:sldId id="331"/>
            <p14:sldId id="345"/>
            <p14:sldId id="339"/>
            <p14:sldId id="337"/>
            <p14:sldId id="299"/>
            <p14:sldId id="350"/>
            <p14:sldId id="300"/>
            <p14:sldId id="324"/>
            <p14:sldId id="260"/>
            <p14:sldId id="34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BBDD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112675-C3F7-DAF4-BEF7-A7DA4933302B}" v="2" dt="2025-10-10T02:57:51.0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ESARA K.G.N it22561084" userId="S::it22561084@my.sliit.lk::b880d7e0-eaef-435e-afb8-9b1eada3a6fa" providerId="AD" clId="Web-{2F112675-C3F7-DAF4-BEF7-A7DA4933302B}"/>
    <pc:docChg chg="modSld">
      <pc:chgData name="JEESARA K.G.N it22561084" userId="S::it22561084@my.sliit.lk::b880d7e0-eaef-435e-afb8-9b1eada3a6fa" providerId="AD" clId="Web-{2F112675-C3F7-DAF4-BEF7-A7DA4933302B}" dt="2025-10-10T02:57:51.052" v="1" actId="1076"/>
      <pc:docMkLst>
        <pc:docMk/>
      </pc:docMkLst>
      <pc:sldChg chg="modSp">
        <pc:chgData name="JEESARA K.G.N it22561084" userId="S::it22561084@my.sliit.lk::b880d7e0-eaef-435e-afb8-9b1eada3a6fa" providerId="AD" clId="Web-{2F112675-C3F7-DAF4-BEF7-A7DA4933302B}" dt="2025-10-10T02:57:51.052" v="1" actId="1076"/>
        <pc:sldMkLst>
          <pc:docMk/>
          <pc:sldMk cId="1454507170" sldId="331"/>
        </pc:sldMkLst>
        <pc:picChg chg="mod">
          <ac:chgData name="JEESARA K.G.N it22561084" userId="S::it22561084@my.sliit.lk::b880d7e0-eaef-435e-afb8-9b1eada3a6fa" providerId="AD" clId="Web-{2F112675-C3F7-DAF4-BEF7-A7DA4933302B}" dt="2025-10-10T02:57:51.052" v="1" actId="1076"/>
          <ac:picMkLst>
            <pc:docMk/>
            <pc:sldMk cId="1454507170" sldId="331"/>
            <ac:picMk id="12" creationId="{379C63E3-A324-5A8C-6F90-BB53D9D1C1D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BAAE38-79BE-4082-9A4D-2BEC47341C04}" type="datetimeFigureOut">
              <a:rPr lang="en-US" smtClean="0"/>
              <a:t>10/9/2025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F15613-D24F-46B4-9010-BD7B318E3C30}" type="slidenum">
              <a:rPr lang="en-US" smtClean="0"/>
              <a:t>‹#›</a:t>
            </a:fld>
            <a:endParaRPr lang="en-US"/>
          </a:p>
        </p:txBody>
      </p:sp>
    </p:spTree>
    <p:extLst>
      <p:ext uri="{BB962C8B-B14F-4D97-AF65-F5344CB8AC3E}">
        <p14:creationId xmlns:p14="http://schemas.microsoft.com/office/powerpoint/2010/main" val="28640503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5BCF22-2D75-4779-9C8B-6270AA3FA919}" type="datetimeFigureOut">
              <a:rPr lang="en-US" smtClean="0"/>
              <a:t>10/9/2025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0B8AC8-E212-48B2-9917-7448FC83DD17}" type="slidenum">
              <a:rPr lang="en-US" smtClean="0"/>
              <a:t>‹#›</a:t>
            </a:fld>
            <a:endParaRPr lang="en-US"/>
          </a:p>
        </p:txBody>
      </p:sp>
    </p:spTree>
    <p:extLst>
      <p:ext uri="{BB962C8B-B14F-4D97-AF65-F5344CB8AC3E}">
        <p14:creationId xmlns:p14="http://schemas.microsoft.com/office/powerpoint/2010/main" val="1786590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0B8AC8-E212-48B2-9917-7448FC83DD17}" type="slidenum">
              <a:rPr lang="en-US" smtClean="0"/>
              <a:t>1</a:t>
            </a:fld>
            <a:endParaRPr lang="en-US"/>
          </a:p>
        </p:txBody>
      </p:sp>
    </p:spTree>
    <p:extLst>
      <p:ext uri="{BB962C8B-B14F-4D97-AF65-F5344CB8AC3E}">
        <p14:creationId xmlns:p14="http://schemas.microsoft.com/office/powerpoint/2010/main" val="4033943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0B8AC8-E212-48B2-9917-7448FC83DD17}" type="slidenum">
              <a:rPr lang="en-US" smtClean="0"/>
              <a:t>2</a:t>
            </a:fld>
            <a:endParaRPr lang="en-US"/>
          </a:p>
        </p:txBody>
      </p:sp>
    </p:spTree>
    <p:extLst>
      <p:ext uri="{BB962C8B-B14F-4D97-AF65-F5344CB8AC3E}">
        <p14:creationId xmlns:p14="http://schemas.microsoft.com/office/powerpoint/2010/main" val="1600105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0B8AC8-E212-48B2-9917-7448FC83DD17}" type="slidenum">
              <a:rPr lang="en-US" smtClean="0"/>
              <a:t>15</a:t>
            </a:fld>
            <a:endParaRPr lang="en-US"/>
          </a:p>
        </p:txBody>
      </p:sp>
    </p:spTree>
    <p:extLst>
      <p:ext uri="{BB962C8B-B14F-4D97-AF65-F5344CB8AC3E}">
        <p14:creationId xmlns:p14="http://schemas.microsoft.com/office/powerpoint/2010/main" val="3754762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0B8AC8-E212-48B2-9917-7448FC83DD17}" type="slidenum">
              <a:rPr lang="en-US" smtClean="0"/>
              <a:t>30</a:t>
            </a:fld>
            <a:endParaRPr lang="en-US"/>
          </a:p>
        </p:txBody>
      </p:sp>
    </p:spTree>
    <p:extLst>
      <p:ext uri="{BB962C8B-B14F-4D97-AF65-F5344CB8AC3E}">
        <p14:creationId xmlns:p14="http://schemas.microsoft.com/office/powerpoint/2010/main" val="39817047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roject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762000"/>
            <a:ext cx="10363200" cy="1470025"/>
          </a:xfrm>
        </p:spPr>
        <p:txBody>
          <a:bodyPr/>
          <a:lstStyle>
            <a:lvl1pPr>
              <a:defRPr/>
            </a:lvl1pPr>
          </a:lstStyle>
          <a:p>
            <a:r>
              <a:rPr lang="en-US"/>
              <a:t>Add the Project Title</a:t>
            </a:r>
          </a:p>
        </p:txBody>
      </p:sp>
      <p:sp>
        <p:nvSpPr>
          <p:cNvPr id="3" name="Subtitle 2"/>
          <p:cNvSpPr>
            <a:spLocks noGrp="1"/>
          </p:cNvSpPr>
          <p:nvPr>
            <p:ph type="subTitle" idx="1" hasCustomPrompt="1"/>
          </p:nvPr>
        </p:nvSpPr>
        <p:spPr>
          <a:xfrm>
            <a:off x="1828800" y="25146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Project ID</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856449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2447088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dividua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1188891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al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0238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a:t>Section Title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Section Sub-Titles</a:t>
            </a:r>
          </a:p>
        </p:txBody>
      </p:sp>
      <p:sp>
        <p:nvSpPr>
          <p:cNvPr id="19" name="Rectangle 18">
            <a:extLst>
              <a:ext uri="{FF2B5EF4-FFF2-40B4-BE49-F238E27FC236}">
                <a16:creationId xmlns:a16="http://schemas.microsoft.com/office/drawing/2014/main" id="{77C29E58-4878-471A-A8CF-FA8607A4052E}"/>
              </a:ext>
            </a:extLst>
          </p:cNvPr>
          <p:cNvSpPr/>
          <p:nvPr userDrawn="1"/>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ITXXXXXXXX</a:t>
            </a:r>
            <a:r>
              <a:rPr lang="en-US" sz="1800">
                <a:solidFill>
                  <a:schemeClr val="tx1"/>
                </a:solidFill>
              </a:rPr>
              <a:t>   |   &lt;</a:t>
            </a:r>
            <a:r>
              <a:rPr lang="en-US" sz="1800" b="1">
                <a:solidFill>
                  <a:schemeClr val="tx1"/>
                </a:solidFill>
              </a:rPr>
              <a:t>&lt;Student Name&gt;&gt;   </a:t>
            </a:r>
            <a:r>
              <a:rPr lang="en-US" sz="1800">
                <a:solidFill>
                  <a:schemeClr val="tx1"/>
                </a:solidFill>
              </a:rPr>
              <a:t>|   </a:t>
            </a:r>
            <a:r>
              <a:rPr lang="en-US" sz="1800" b="0">
                <a:solidFill>
                  <a:schemeClr val="tx1"/>
                </a:solidFill>
              </a:rPr>
              <a:t>&lt;&lt;Project ID&gt;&gt;</a:t>
            </a:r>
          </a:p>
        </p:txBody>
      </p:sp>
    </p:spTree>
    <p:extLst>
      <p:ext uri="{BB962C8B-B14F-4D97-AF65-F5344CB8AC3E}">
        <p14:creationId xmlns:p14="http://schemas.microsoft.com/office/powerpoint/2010/main" val="3293331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tudent Information Sec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a:t>Student IT Number | Student Name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Student’s Specialization</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4" name="Rectangle 3">
            <a:extLst>
              <a:ext uri="{FF2B5EF4-FFF2-40B4-BE49-F238E27FC236}">
                <a16:creationId xmlns:a16="http://schemas.microsoft.com/office/drawing/2014/main" id="{0A8789F7-2DE1-4BD0-98A0-4D627E8C7924}"/>
              </a:ext>
            </a:extLst>
          </p:cNvPr>
          <p:cNvSpPr/>
          <p:nvPr userDrawn="1"/>
        </p:nvSpPr>
        <p:spPr>
          <a:xfrm>
            <a:off x="10134600" y="152400"/>
            <a:ext cx="1981200" cy="228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Student Must add a professional photo to this cage</a:t>
            </a:r>
          </a:p>
        </p:txBody>
      </p:sp>
    </p:spTree>
    <p:extLst>
      <p:ext uri="{BB962C8B-B14F-4D97-AF65-F5344CB8AC3E}">
        <p14:creationId xmlns:p14="http://schemas.microsoft.com/office/powerpoint/2010/main" val="2008593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0358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7086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65089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1"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2" name="Slide Number Placeholder 5">
            <a:extLst>
              <a:ext uri="{FF2B5EF4-FFF2-40B4-BE49-F238E27FC236}">
                <a16:creationId xmlns:a16="http://schemas.microsoft.com/office/drawing/2014/main" id="{A75490AD-C6C9-4021-8C34-1F6444AB48BF}"/>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a:p>
        </p:txBody>
      </p:sp>
    </p:spTree>
    <p:extLst>
      <p:ext uri="{BB962C8B-B14F-4D97-AF65-F5344CB8AC3E}">
        <p14:creationId xmlns:p14="http://schemas.microsoft.com/office/powerpoint/2010/main" val="335222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二等辺三角形 11"/>
          <p:cNvSpPr/>
          <p:nvPr userDrawn="1"/>
        </p:nvSpPr>
        <p:spPr>
          <a:xfrm>
            <a:off x="0" y="6406010"/>
            <a:ext cx="12192000" cy="452885"/>
          </a:xfrm>
          <a:prstGeom prst="triangle">
            <a:avLst>
              <a:gd name="adj" fmla="val 8544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557430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752404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6120786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310850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304800"/>
            <a:ext cx="11684000" cy="7921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143000"/>
            <a:ext cx="11684000" cy="5181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C064364F-1F37-4C7B-B31F-2D4F671B2CB9}"/>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a:p>
        </p:txBody>
      </p:sp>
      <p:pic>
        <p:nvPicPr>
          <p:cNvPr id="7" name="Picture 6" descr="A picture containing photo, table, person, monitor&#10;&#10;Description automatically generated">
            <a:extLst>
              <a:ext uri="{FF2B5EF4-FFF2-40B4-BE49-F238E27FC236}">
                <a16:creationId xmlns:a16="http://schemas.microsoft.com/office/drawing/2014/main" id="{0503738D-67F6-4FC8-88E8-C0D768AD3312}"/>
              </a:ext>
            </a:extLst>
          </p:cNvPr>
          <p:cNvPicPr>
            <a:picLocks noChangeAspect="1"/>
          </p:cNvPicPr>
          <p:nvPr userDrawn="1"/>
        </p:nvPicPr>
        <p:blipFill rotWithShape="1">
          <a:blip r:embed="rId16"/>
          <a:srcRect t="90286" r="71976"/>
          <a:stretch/>
        </p:blipFill>
        <p:spPr>
          <a:xfrm>
            <a:off x="0" y="6373302"/>
            <a:ext cx="2514600" cy="490308"/>
          </a:xfrm>
          <a:prstGeom prst="rect">
            <a:avLst/>
          </a:prstGeom>
        </p:spPr>
      </p:pic>
      <p:sp>
        <p:nvSpPr>
          <p:cNvPr id="4" name="TextBox 3">
            <a:extLst>
              <a:ext uri="{FF2B5EF4-FFF2-40B4-BE49-F238E27FC236}">
                <a16:creationId xmlns:a16="http://schemas.microsoft.com/office/drawing/2014/main" id="{A16EC11E-4ADA-413C-92B1-C0871F068AF1}"/>
              </a:ext>
            </a:extLst>
          </p:cNvPr>
          <p:cNvSpPr txBox="1"/>
          <p:nvPr userDrawn="1"/>
        </p:nvSpPr>
        <p:spPr>
          <a:xfrm>
            <a:off x="10287000" y="6536937"/>
            <a:ext cx="1066800" cy="276999"/>
          </a:xfrm>
          <a:prstGeom prst="rect">
            <a:avLst/>
          </a:prstGeom>
          <a:noFill/>
        </p:spPr>
        <p:txBody>
          <a:bodyPr wrap="square" rtlCol="0">
            <a:spAutoFit/>
          </a:bodyPr>
          <a:lstStyle/>
          <a:p>
            <a:fld id="{98C4007C-554A-4B16-A31C-089CB53EF86F}" type="datetime1">
              <a:rPr lang="en-US" sz="1200" b="1" smtClean="0"/>
              <a:t>10/9/2025</a:t>
            </a:fld>
            <a:endParaRPr lang="en-US" sz="1200" b="1"/>
          </a:p>
        </p:txBody>
      </p:sp>
    </p:spTree>
    <p:extLst>
      <p:ext uri="{BB962C8B-B14F-4D97-AF65-F5344CB8AC3E}">
        <p14:creationId xmlns:p14="http://schemas.microsoft.com/office/powerpoint/2010/main" val="4137453564"/>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50" r:id="rId3"/>
    <p:sldLayoutId id="2147483662" r:id="rId4"/>
    <p:sldLayoutId id="2147483651" r:id="rId5"/>
    <p:sldLayoutId id="2147483660"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p:txStyles>
    <p:title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3.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9" Type="http://schemas.openxmlformats.org/officeDocument/2006/relationships/image" Target="../media/image19.svg"/></Relationships>
</file>

<file path=ppt/slides/_rels/slide6.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10.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jpeg"/><Relationship Id="rId1" Type="http://schemas.openxmlformats.org/officeDocument/2006/relationships/slideLayout" Target="../slideLayouts/slideLayout10.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slides/_rels/slide11.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svg"/><Relationship Id="rId18" Type="http://schemas.openxmlformats.org/officeDocument/2006/relationships/image" Target="../media/image53.png"/><Relationship Id="rId3" Type="http://schemas.openxmlformats.org/officeDocument/2006/relationships/image" Target="../media/image38.svg"/><Relationship Id="rId7" Type="http://schemas.openxmlformats.org/officeDocument/2006/relationships/image" Target="../media/image42.svg"/><Relationship Id="rId12" Type="http://schemas.openxmlformats.org/officeDocument/2006/relationships/image" Target="../media/image47.png"/><Relationship Id="rId17" Type="http://schemas.openxmlformats.org/officeDocument/2006/relationships/image" Target="../media/image52.svg"/><Relationship Id="rId2" Type="http://schemas.openxmlformats.org/officeDocument/2006/relationships/image" Target="../media/image37.png"/><Relationship Id="rId16" Type="http://schemas.openxmlformats.org/officeDocument/2006/relationships/image" Target="../media/image51.png"/><Relationship Id="rId1" Type="http://schemas.openxmlformats.org/officeDocument/2006/relationships/slideLayout" Target="../slideLayouts/slideLayout10.xml"/><Relationship Id="rId6" Type="http://schemas.openxmlformats.org/officeDocument/2006/relationships/image" Target="../media/image41.png"/><Relationship Id="rId11" Type="http://schemas.openxmlformats.org/officeDocument/2006/relationships/image" Target="../media/image46.svg"/><Relationship Id="rId5" Type="http://schemas.openxmlformats.org/officeDocument/2006/relationships/image" Target="../media/image40.svg"/><Relationship Id="rId15" Type="http://schemas.openxmlformats.org/officeDocument/2006/relationships/image" Target="../media/image50.svg"/><Relationship Id="rId10" Type="http://schemas.openxmlformats.org/officeDocument/2006/relationships/image" Target="../media/image45.png"/><Relationship Id="rId19" Type="http://schemas.openxmlformats.org/officeDocument/2006/relationships/image" Target="../media/image54.svg"/><Relationship Id="rId4" Type="http://schemas.openxmlformats.org/officeDocument/2006/relationships/image" Target="../media/image39.png"/><Relationship Id="rId9" Type="http://schemas.openxmlformats.org/officeDocument/2006/relationships/image" Target="../media/image44.svg"/><Relationship Id="rId14" Type="http://schemas.openxmlformats.org/officeDocument/2006/relationships/image" Target="../media/image49.png"/></Relationships>
</file>

<file path=ppt/slides/_rels/slide12.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svg"/><Relationship Id="rId7" Type="http://schemas.openxmlformats.org/officeDocument/2006/relationships/image" Target="../media/image60.svg"/><Relationship Id="rId2" Type="http://schemas.openxmlformats.org/officeDocument/2006/relationships/image" Target="../media/image55.png"/><Relationship Id="rId1" Type="http://schemas.openxmlformats.org/officeDocument/2006/relationships/slideLayout" Target="../slideLayouts/slideLayout10.xml"/><Relationship Id="rId6" Type="http://schemas.openxmlformats.org/officeDocument/2006/relationships/image" Target="../media/image59.png"/><Relationship Id="rId5" Type="http://schemas.openxmlformats.org/officeDocument/2006/relationships/image" Target="../media/image58.svg"/><Relationship Id="rId4" Type="http://schemas.openxmlformats.org/officeDocument/2006/relationships/image" Target="../media/image57.png"/></Relationships>
</file>

<file path=ppt/slides/_rels/slide1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5.png"/><Relationship Id="rId1" Type="http://schemas.openxmlformats.org/officeDocument/2006/relationships/slideLayout" Target="../slideLayouts/slideLayout3.xml"/><Relationship Id="rId5" Type="http://schemas.openxmlformats.org/officeDocument/2006/relationships/image" Target="../media/image68.svg"/><Relationship Id="rId4" Type="http://schemas.openxmlformats.org/officeDocument/2006/relationships/image" Target="../media/image6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4.png"/><Relationship Id="rId1" Type="http://schemas.openxmlformats.org/officeDocument/2006/relationships/slideLayout" Target="../slideLayouts/slideLayout3.xml"/><Relationship Id="rId4" Type="http://schemas.openxmlformats.org/officeDocument/2006/relationships/image" Target="../media/image72.png"/></Relationships>
</file>

<file path=ppt/slides/_rels/slide23.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5.png"/><Relationship Id="rId1" Type="http://schemas.openxmlformats.org/officeDocument/2006/relationships/slideLayout" Target="../slideLayouts/slideLayout3.xml"/><Relationship Id="rId5" Type="http://schemas.openxmlformats.org/officeDocument/2006/relationships/image" Target="../media/image68.svg"/><Relationship Id="rId4" Type="http://schemas.openxmlformats.org/officeDocument/2006/relationships/image" Target="../media/image67.png"/></Relationships>
</file>

<file path=ppt/slides/_rels/slide2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80.png"/><Relationship Id="rId5" Type="http://schemas.openxmlformats.org/officeDocument/2006/relationships/image" Target="../media/image79.svg"/><Relationship Id="rId4" Type="http://schemas.openxmlformats.org/officeDocument/2006/relationships/image" Target="../media/image78.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1.jpeg"/><Relationship Id="rId1" Type="http://schemas.openxmlformats.org/officeDocument/2006/relationships/slideLayout" Target="../slideLayouts/slideLayout10.xml"/><Relationship Id="rId5" Type="http://schemas.openxmlformats.org/officeDocument/2006/relationships/image" Target="../media/image83.png"/><Relationship Id="rId4" Type="http://schemas.openxmlformats.org/officeDocument/2006/relationships/image" Target="../media/image8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jpeg"/><Relationship Id="rId1" Type="http://schemas.openxmlformats.org/officeDocument/2006/relationships/slideLayout" Target="../slideLayouts/slideLayout3.xml"/><Relationship Id="rId4" Type="http://schemas.openxmlformats.org/officeDocument/2006/relationships/image" Target="../media/image86.svg"/></Relationships>
</file>

<file path=ppt/slides/_rels/slide3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60.svg"/><Relationship Id="rId3" Type="http://schemas.openxmlformats.org/officeDocument/2006/relationships/image" Target="../media/image91.svg"/><Relationship Id="rId7" Type="http://schemas.openxmlformats.org/officeDocument/2006/relationships/image" Target="../media/image95.svg"/><Relationship Id="rId12" Type="http://schemas.openxmlformats.org/officeDocument/2006/relationships/image" Target="../media/image59.png"/><Relationship Id="rId2" Type="http://schemas.openxmlformats.org/officeDocument/2006/relationships/image" Target="../media/image90.png"/><Relationship Id="rId1" Type="http://schemas.openxmlformats.org/officeDocument/2006/relationships/slideLayout" Target="../slideLayouts/slideLayout10.xml"/><Relationship Id="rId6" Type="http://schemas.openxmlformats.org/officeDocument/2006/relationships/image" Target="../media/image94.png"/><Relationship Id="rId11" Type="http://schemas.openxmlformats.org/officeDocument/2006/relationships/image" Target="../media/image99.svg"/><Relationship Id="rId5" Type="http://schemas.openxmlformats.org/officeDocument/2006/relationships/image" Target="../media/image93.svg"/><Relationship Id="rId10" Type="http://schemas.openxmlformats.org/officeDocument/2006/relationships/image" Target="../media/image98.png"/><Relationship Id="rId4" Type="http://schemas.openxmlformats.org/officeDocument/2006/relationships/image" Target="../media/image92.png"/><Relationship Id="rId9" Type="http://schemas.openxmlformats.org/officeDocument/2006/relationships/image" Target="../media/image97.svg"/></Relationships>
</file>

<file path=ppt/slides/_rels/slide38.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6000"/>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75E098-F3D0-453C-BBF5-A7C840F21FD8}"/>
              </a:ext>
            </a:extLst>
          </p:cNvPr>
          <p:cNvSpPr>
            <a:spLocks noGrp="1"/>
          </p:cNvSpPr>
          <p:nvPr>
            <p:ph type="ctrTitle"/>
          </p:nvPr>
        </p:nvSpPr>
        <p:spPr>
          <a:xfrm>
            <a:off x="6045766" y="961329"/>
            <a:ext cx="5943601" cy="3377065"/>
          </a:xfrm>
        </p:spPr>
        <p:txBody>
          <a:bodyPr>
            <a:noAutofit/>
          </a:bodyPr>
          <a:lstStyle/>
          <a:p>
            <a:r>
              <a:rPr lang="en-US" b="1">
                <a:solidFill>
                  <a:schemeClr val="accent1">
                    <a:lumMod val="50000"/>
                  </a:schemeClr>
                </a:solidFill>
                <a:effectLst>
                  <a:outerShdw blurRad="38100" dist="38100" dir="2700000" algn="tl">
                    <a:srgbClr val="000000">
                      <a:alpha val="43137"/>
                    </a:srgbClr>
                  </a:outerShdw>
                </a:effectLst>
              </a:rPr>
              <a:t>SMART POLYPHARMACY AND VITAMIN RECOMMENDATION SYSTEM</a:t>
            </a:r>
          </a:p>
        </p:txBody>
      </p:sp>
      <p:sp>
        <p:nvSpPr>
          <p:cNvPr id="5" name="Subtitle 4">
            <a:extLst>
              <a:ext uri="{FF2B5EF4-FFF2-40B4-BE49-F238E27FC236}">
                <a16:creationId xmlns:a16="http://schemas.microsoft.com/office/drawing/2014/main" id="{288F3F03-40A0-499D-BDCC-A8E886D9D7C4}"/>
              </a:ext>
            </a:extLst>
          </p:cNvPr>
          <p:cNvSpPr>
            <a:spLocks noGrp="1"/>
          </p:cNvSpPr>
          <p:nvPr>
            <p:ph type="subTitle" idx="1"/>
          </p:nvPr>
        </p:nvSpPr>
        <p:spPr>
          <a:xfrm>
            <a:off x="7430871" y="5498522"/>
            <a:ext cx="4558496" cy="796298"/>
          </a:xfrm>
        </p:spPr>
        <p:txBody>
          <a:bodyPr>
            <a:normAutofit fontScale="92500"/>
          </a:bodyPr>
          <a:lstStyle/>
          <a:p>
            <a:r>
              <a:rPr lang="en-US" b="1">
                <a:solidFill>
                  <a:schemeClr val="tx1"/>
                </a:solidFill>
              </a:rPr>
              <a:t>Group ID : 25 – 26J - 368</a:t>
            </a:r>
          </a:p>
        </p:txBody>
      </p:sp>
      <p:pic>
        <p:nvPicPr>
          <p:cNvPr id="7" name="Picture 6" descr="A computer screen with medical items&#10;&#10;Description automatically generated">
            <a:extLst>
              <a:ext uri="{FF2B5EF4-FFF2-40B4-BE49-F238E27FC236}">
                <a16:creationId xmlns:a16="http://schemas.microsoft.com/office/drawing/2014/main" id="{4AA90808-B684-BBC5-E83D-125C33C786C9}"/>
              </a:ext>
            </a:extLst>
          </p:cNvPr>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5900"/>
                    </a14:imgEffect>
                    <a14:imgEffect>
                      <a14:saturation sat="200000"/>
                    </a14:imgEffect>
                  </a14:imgLayer>
                </a14:imgProps>
              </a:ext>
              <a:ext uri="{28A0092B-C50C-407E-A947-70E740481C1C}">
                <a14:useLocalDpi xmlns:a14="http://schemas.microsoft.com/office/drawing/2010/main" val="0"/>
              </a:ext>
            </a:extLst>
          </a:blip>
          <a:srcRect t="20928" b="9198"/>
          <a:stretch/>
        </p:blipFill>
        <p:spPr>
          <a:xfrm>
            <a:off x="983417" y="1027948"/>
            <a:ext cx="4581718" cy="4802104"/>
          </a:xfrm>
          <a:prstGeom prst="roundRect">
            <a:avLst>
              <a:gd name="adj" fmla="val 3753"/>
            </a:avLst>
          </a:prstGeom>
          <a:solidFill>
            <a:srgbClr val="FFFFFF"/>
          </a:solidFill>
          <a:ln w="76200" cap="sq">
            <a:solidFill>
              <a:srgbClr val="292929"/>
            </a:solidFill>
            <a:miter lim="800000"/>
          </a:ln>
          <a:effectLst>
            <a:outerShdw blurRad="50800" dist="50800" dir="5400000" sx="98000" sy="98000" algn="ctr" rotWithShape="0">
              <a:srgbClr val="000000">
                <a:alpha val="0"/>
              </a:srgbClr>
            </a:outerShdw>
            <a:reflection blurRad="127000" stA="48000" endPos="10000" dir="5400000" sy="-100000" algn="bl" rotWithShape="0"/>
          </a:effectLst>
          <a:scene3d>
            <a:camera prst="orthographicFront"/>
            <a:lightRig rig="threePt" dir="t">
              <a:rot lat="0" lon="0" rev="2700000"/>
            </a:lightRig>
          </a:scene3d>
          <a:sp3d>
            <a:contourClr>
              <a:srgbClr val="C0C0C0"/>
            </a:contourClr>
          </a:sp3d>
        </p:spPr>
      </p:pic>
      <p:grpSp>
        <p:nvGrpSpPr>
          <p:cNvPr id="10" name="Group 9">
            <a:extLst>
              <a:ext uri="{FF2B5EF4-FFF2-40B4-BE49-F238E27FC236}">
                <a16:creationId xmlns:a16="http://schemas.microsoft.com/office/drawing/2014/main" id="{727ABD84-38D0-25B7-57AE-61A63AF62E5F}"/>
              </a:ext>
            </a:extLst>
          </p:cNvPr>
          <p:cNvGrpSpPr/>
          <p:nvPr/>
        </p:nvGrpSpPr>
        <p:grpSpPr>
          <a:xfrm>
            <a:off x="282251" y="621774"/>
            <a:ext cx="434007" cy="2472698"/>
            <a:chOff x="11581124" y="3077312"/>
            <a:chExt cx="434007" cy="2472698"/>
          </a:xfrm>
        </p:grpSpPr>
        <p:sp>
          <p:nvSpPr>
            <p:cNvPr id="3" name="Rectangle 2">
              <a:extLst>
                <a:ext uri="{FF2B5EF4-FFF2-40B4-BE49-F238E27FC236}">
                  <a16:creationId xmlns:a16="http://schemas.microsoft.com/office/drawing/2014/main" id="{8064A8FE-C1ED-DBA4-DFD2-159B916B05DF}"/>
                </a:ext>
              </a:extLst>
            </p:cNvPr>
            <p:cNvSpPr/>
            <p:nvPr/>
          </p:nvSpPr>
          <p:spPr>
            <a:xfrm>
              <a:off x="11588186" y="4201125"/>
              <a:ext cx="426945" cy="719364"/>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BCD018E-25AB-FF07-F287-42A59382701A}"/>
                </a:ext>
              </a:extLst>
            </p:cNvPr>
            <p:cNvSpPr/>
            <p:nvPr/>
          </p:nvSpPr>
          <p:spPr>
            <a:xfrm>
              <a:off x="11588186" y="5105400"/>
              <a:ext cx="426945" cy="44461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462AFC-EB0E-E929-E73D-EFBE092E2152}"/>
                </a:ext>
              </a:extLst>
            </p:cNvPr>
            <p:cNvSpPr/>
            <p:nvPr/>
          </p:nvSpPr>
          <p:spPr>
            <a:xfrm>
              <a:off x="11581124" y="3077312"/>
              <a:ext cx="426945" cy="93890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3FD64BE7-2976-C46E-D877-AADFAB3E0414}"/>
              </a:ext>
            </a:extLst>
          </p:cNvPr>
          <p:cNvGrpSpPr/>
          <p:nvPr/>
        </p:nvGrpSpPr>
        <p:grpSpPr>
          <a:xfrm rot="10800000">
            <a:off x="5832294" y="3741517"/>
            <a:ext cx="434007" cy="2472698"/>
            <a:chOff x="11581124" y="3077312"/>
            <a:chExt cx="434007" cy="2472698"/>
          </a:xfrm>
        </p:grpSpPr>
        <p:sp>
          <p:nvSpPr>
            <p:cNvPr id="12" name="Rectangle 11">
              <a:extLst>
                <a:ext uri="{FF2B5EF4-FFF2-40B4-BE49-F238E27FC236}">
                  <a16:creationId xmlns:a16="http://schemas.microsoft.com/office/drawing/2014/main" id="{00B19C6E-925D-C036-5829-0D0D87E42059}"/>
                </a:ext>
              </a:extLst>
            </p:cNvPr>
            <p:cNvSpPr/>
            <p:nvPr/>
          </p:nvSpPr>
          <p:spPr>
            <a:xfrm>
              <a:off x="11588186" y="4201125"/>
              <a:ext cx="426945" cy="719364"/>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FE7D90F-0387-F54C-8B8A-133DAF7FCCFB}"/>
                </a:ext>
              </a:extLst>
            </p:cNvPr>
            <p:cNvSpPr/>
            <p:nvPr/>
          </p:nvSpPr>
          <p:spPr>
            <a:xfrm>
              <a:off x="11588186" y="5105400"/>
              <a:ext cx="426945" cy="44461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09618E8-FB57-6583-E304-EE0E552270B5}"/>
                </a:ext>
              </a:extLst>
            </p:cNvPr>
            <p:cNvSpPr/>
            <p:nvPr/>
          </p:nvSpPr>
          <p:spPr>
            <a:xfrm>
              <a:off x="11581124" y="3077312"/>
              <a:ext cx="426945" cy="93890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13887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F90E1F4-7622-83E0-2E14-15F18E0D58F7}"/>
              </a:ext>
            </a:extLst>
          </p:cNvPr>
          <p:cNvSpPr/>
          <p:nvPr/>
        </p:nvSpPr>
        <p:spPr>
          <a:xfrm>
            <a:off x="0" y="0"/>
            <a:ext cx="8976360" cy="1248037"/>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DBE3D2AC-4454-375D-FEDB-14B78F83E4DB}"/>
              </a:ext>
            </a:extLst>
          </p:cNvPr>
          <p:cNvSpPr txBox="1">
            <a:spLocks noGrp="1"/>
          </p:cNvSpPr>
          <p:nvPr>
            <p:ph type="title" idx="4294967295"/>
          </p:nvPr>
        </p:nvSpPr>
        <p:spPr>
          <a:xfrm>
            <a:off x="898430" y="200204"/>
            <a:ext cx="4047196" cy="792162"/>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b="1" i="0" u="none" strike="noStrike" kern="1200" cap="none" spc="0" normalizeH="0" baseline="0" noProof="0">
                <a:ln>
                  <a:noFill/>
                </a:ln>
                <a:solidFill>
                  <a:schemeClr val="bg1"/>
                </a:solidFill>
                <a:effectLst/>
                <a:uLnTx/>
                <a:uFillTx/>
                <a:latin typeface="+mn-lt"/>
                <a:ea typeface="+mj-ea"/>
                <a:cs typeface="Adobe Devanagari" pitchFamily="18" charset="0"/>
              </a:rPr>
              <a:t>Our Team</a:t>
            </a:r>
            <a:endParaRPr kumimoji="0" lang="en-US" b="0" i="0" u="none" strike="noStrike" kern="1200" cap="none" spc="0" normalizeH="0" baseline="0" noProof="0">
              <a:ln>
                <a:noFill/>
              </a:ln>
              <a:solidFill>
                <a:schemeClr val="bg1"/>
              </a:solidFill>
              <a:effectLst/>
              <a:uLnTx/>
              <a:uFillTx/>
              <a:latin typeface="+mn-lt"/>
              <a:ea typeface="+mj-ea"/>
              <a:cs typeface="Adobe Devanagari" pitchFamily="18" charset="0"/>
            </a:endParaRPr>
          </a:p>
        </p:txBody>
      </p:sp>
      <p:pic>
        <p:nvPicPr>
          <p:cNvPr id="2" name="Picture 1" descr="A blue and green arrows on a black background&#10;&#10;Description automatically generated">
            <a:extLst>
              <a:ext uri="{FF2B5EF4-FFF2-40B4-BE49-F238E27FC236}">
                <a16:creationId xmlns:a16="http://schemas.microsoft.com/office/drawing/2014/main" id="{92BE8466-74FC-C541-F79B-730B15932D75}"/>
              </a:ext>
            </a:extLst>
          </p:cNvPr>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rot="5400000">
            <a:off x="9579277" y="110822"/>
            <a:ext cx="1137215" cy="1137215"/>
          </a:xfrm>
          <a:prstGeom prst="rect">
            <a:avLst/>
          </a:prstGeom>
        </p:spPr>
      </p:pic>
      <p:graphicFrame>
        <p:nvGraphicFramePr>
          <p:cNvPr id="3" name="Table 2">
            <a:extLst>
              <a:ext uri="{FF2B5EF4-FFF2-40B4-BE49-F238E27FC236}">
                <a16:creationId xmlns:a16="http://schemas.microsoft.com/office/drawing/2014/main" id="{4F5B7D55-D8CE-8C8B-6E18-7673ED500786}"/>
              </a:ext>
            </a:extLst>
          </p:cNvPr>
          <p:cNvGraphicFramePr>
            <a:graphicFrameLocks noGrp="1"/>
          </p:cNvGraphicFramePr>
          <p:nvPr>
            <p:extLst>
              <p:ext uri="{D42A27DB-BD31-4B8C-83A1-F6EECF244321}">
                <p14:modId xmlns:p14="http://schemas.microsoft.com/office/powerpoint/2010/main" val="2073595581"/>
              </p:ext>
            </p:extLst>
          </p:nvPr>
        </p:nvGraphicFramePr>
        <p:xfrm>
          <a:off x="2019299" y="1528857"/>
          <a:ext cx="8383230" cy="4183683"/>
        </p:xfrm>
        <a:graphic>
          <a:graphicData uri="http://schemas.openxmlformats.org/drawingml/2006/table">
            <a:tbl>
              <a:tblPr firstRow="1" bandRow="1">
                <a:tableStyleId>{5C22544A-7EE6-4342-B048-85BDC9FD1C3A}</a:tableStyleId>
              </a:tblPr>
              <a:tblGrid>
                <a:gridCol w="4191615">
                  <a:extLst>
                    <a:ext uri="{9D8B030D-6E8A-4147-A177-3AD203B41FA5}">
                      <a16:colId xmlns:a16="http://schemas.microsoft.com/office/drawing/2014/main" val="2212065369"/>
                    </a:ext>
                  </a:extLst>
                </a:gridCol>
                <a:gridCol w="4191615">
                  <a:extLst>
                    <a:ext uri="{9D8B030D-6E8A-4147-A177-3AD203B41FA5}">
                      <a16:colId xmlns:a16="http://schemas.microsoft.com/office/drawing/2014/main" val="290782568"/>
                    </a:ext>
                  </a:extLst>
                </a:gridCol>
              </a:tblGrid>
              <a:tr h="593138">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Group ID : 25 – 26J – 368 </a:t>
                      </a:r>
                      <a:endParaRPr lang="en-US" sz="1800" b="0">
                        <a:solidFill>
                          <a:schemeClr val="bg1"/>
                        </a:solidFill>
                      </a:endParaRPr>
                    </a:p>
                  </a:txBody>
                  <a:tcPr/>
                </a:tc>
                <a:tc hMerge="1">
                  <a:txBody>
                    <a:bodyPr/>
                    <a:lstStyle/>
                    <a:p>
                      <a:endParaRPr lang="en-US"/>
                    </a:p>
                  </a:txBody>
                  <a:tcPr/>
                </a:tc>
                <a:extLst>
                  <a:ext uri="{0D108BD9-81ED-4DB2-BD59-A6C34878D82A}">
                    <a16:rowId xmlns:a16="http://schemas.microsoft.com/office/drawing/2014/main" val="3431818184"/>
                  </a:ext>
                </a:extLst>
              </a:tr>
              <a:tr h="512935">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t>Supervisor                 </a:t>
                      </a:r>
                      <a:r>
                        <a:rPr lang="en-US" sz="1800" b="1" baseline="0"/>
                        <a:t> </a:t>
                      </a:r>
                      <a:r>
                        <a:rPr lang="en-US" sz="1800" b="1"/>
                        <a:t>-  </a:t>
                      </a:r>
                      <a:r>
                        <a:rPr lang="en-US" sz="1800" b="0"/>
                        <a:t>Ms. Jenny Krishara</a:t>
                      </a:r>
                    </a:p>
                  </a:txBody>
                  <a:tcPr/>
                </a:tc>
                <a:tc hMerge="1">
                  <a:txBody>
                    <a:bodyPr/>
                    <a:lstStyle/>
                    <a:p>
                      <a:endParaRPr lang="en-US"/>
                    </a:p>
                  </a:txBody>
                  <a:tcPr/>
                </a:tc>
                <a:extLst>
                  <a:ext uri="{0D108BD9-81ED-4DB2-BD59-A6C34878D82A}">
                    <a16:rowId xmlns:a16="http://schemas.microsoft.com/office/drawing/2014/main" val="4073991732"/>
                  </a:ext>
                </a:extLst>
              </a:tr>
              <a:tr h="512935">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t>Co-supervisor            -  </a:t>
                      </a:r>
                      <a:r>
                        <a:rPr lang="en-US" sz="1800" b="0"/>
                        <a:t>Dr. Dinuka Wijendra</a:t>
                      </a:r>
                    </a:p>
                  </a:txBody>
                  <a:tcPr/>
                </a:tc>
                <a:tc hMerge="1">
                  <a:txBody>
                    <a:bodyPr/>
                    <a:lstStyle/>
                    <a:p>
                      <a:endParaRPr lang="en-US"/>
                    </a:p>
                  </a:txBody>
                  <a:tcPr/>
                </a:tc>
                <a:extLst>
                  <a:ext uri="{0D108BD9-81ED-4DB2-BD59-A6C34878D82A}">
                    <a16:rowId xmlns:a16="http://schemas.microsoft.com/office/drawing/2014/main" val="365489154"/>
                  </a:ext>
                </a:extLst>
              </a:tr>
              <a:tr h="512935">
                <a:tc>
                  <a:txBody>
                    <a:bodyPr/>
                    <a:lstStyle/>
                    <a:p>
                      <a:pPr algn="ctr"/>
                      <a:r>
                        <a:rPr lang="en-US" b="1"/>
                        <a:t>Student Name</a:t>
                      </a:r>
                    </a:p>
                  </a:txBody>
                  <a:tcPr/>
                </a:tc>
                <a:tc>
                  <a:txBody>
                    <a:bodyPr/>
                    <a:lstStyle/>
                    <a:p>
                      <a:pPr algn="ctr"/>
                      <a:r>
                        <a:rPr lang="en-US" b="1"/>
                        <a:t>Student ID</a:t>
                      </a:r>
                    </a:p>
                  </a:txBody>
                  <a:tcPr/>
                </a:tc>
                <a:extLst>
                  <a:ext uri="{0D108BD9-81ED-4DB2-BD59-A6C34878D82A}">
                    <a16:rowId xmlns:a16="http://schemas.microsoft.com/office/drawing/2014/main" val="3407203194"/>
                  </a:ext>
                </a:extLst>
              </a:tr>
              <a:tr h="5129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Reshmi M.G.G.K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IT22600448</a:t>
                      </a:r>
                    </a:p>
                  </a:txBody>
                  <a:tcPr/>
                </a:tc>
                <a:extLst>
                  <a:ext uri="{0D108BD9-81ED-4DB2-BD59-A6C34878D82A}">
                    <a16:rowId xmlns:a16="http://schemas.microsoft.com/office/drawing/2014/main" val="3876323740"/>
                  </a:ext>
                </a:extLst>
              </a:tr>
              <a:tr h="512935">
                <a:tc>
                  <a:txBody>
                    <a:bodyPr/>
                    <a:lstStyle/>
                    <a:p>
                      <a:pPr algn="ctr"/>
                      <a:r>
                        <a:rPr lang="en-US"/>
                        <a:t>Jeesara K.G.N</a:t>
                      </a:r>
                    </a:p>
                  </a:txBody>
                  <a:tcPr/>
                </a:tc>
                <a:tc>
                  <a:txBody>
                    <a:bodyPr/>
                    <a:lstStyle/>
                    <a:p>
                      <a:pPr algn="ctr"/>
                      <a:r>
                        <a:rPr lang="en-US"/>
                        <a:t>IT22561084</a:t>
                      </a:r>
                    </a:p>
                  </a:txBody>
                  <a:tcPr/>
                </a:tc>
                <a:extLst>
                  <a:ext uri="{0D108BD9-81ED-4DB2-BD59-A6C34878D82A}">
                    <a16:rowId xmlns:a16="http://schemas.microsoft.com/office/drawing/2014/main" val="3215349611"/>
                  </a:ext>
                </a:extLst>
              </a:tr>
              <a:tr h="512935">
                <a:tc>
                  <a:txBody>
                    <a:bodyPr/>
                    <a:lstStyle/>
                    <a:p>
                      <a:pPr algn="ctr"/>
                      <a:r>
                        <a:rPr lang="en-US"/>
                        <a:t>Jayalath J.P.R.J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IT22591098</a:t>
                      </a:r>
                    </a:p>
                  </a:txBody>
                  <a:tcPr/>
                </a:tc>
                <a:extLst>
                  <a:ext uri="{0D108BD9-81ED-4DB2-BD59-A6C34878D82A}">
                    <a16:rowId xmlns:a16="http://schemas.microsoft.com/office/drawing/2014/main" val="1631118897"/>
                  </a:ext>
                </a:extLst>
              </a:tr>
              <a:tr h="5129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Tharaka B.W.P</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IT22600516</a:t>
                      </a:r>
                    </a:p>
                  </a:txBody>
                  <a:tcPr/>
                </a:tc>
                <a:extLst>
                  <a:ext uri="{0D108BD9-81ED-4DB2-BD59-A6C34878D82A}">
                    <a16:rowId xmlns:a16="http://schemas.microsoft.com/office/drawing/2014/main" val="547810663"/>
                  </a:ext>
                </a:extLst>
              </a:tr>
            </a:tbl>
          </a:graphicData>
        </a:graphic>
      </p:graphicFrame>
    </p:spTree>
    <p:extLst>
      <p:ext uri="{BB962C8B-B14F-4D97-AF65-F5344CB8AC3E}">
        <p14:creationId xmlns:p14="http://schemas.microsoft.com/office/powerpoint/2010/main" val="4073318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997463" y="2402653"/>
            <a:ext cx="6262676" cy="3522755"/>
          </a:xfrm>
          <a:custGeom>
            <a:avLst/>
            <a:gdLst/>
            <a:ahLst/>
            <a:cxnLst/>
            <a:rect l="l" t="t" r="r" b="b"/>
            <a:pathLst>
              <a:path w="9394014" h="5284133">
                <a:moveTo>
                  <a:pt x="0" y="0"/>
                </a:moveTo>
                <a:lnTo>
                  <a:pt x="9394014" y="0"/>
                </a:lnTo>
                <a:lnTo>
                  <a:pt x="9394014" y="5284133"/>
                </a:lnTo>
                <a:lnTo>
                  <a:pt x="0" y="5284133"/>
                </a:lnTo>
                <a:lnTo>
                  <a:pt x="0" y="0"/>
                </a:lnTo>
                <a:close/>
              </a:path>
            </a:pathLst>
          </a:custGeom>
          <a:blipFill>
            <a:blip r:embed="rId2">
              <a:alphaModFix amt="38000"/>
            </a:blip>
            <a:stretch>
              <a:fillRect/>
            </a:stretch>
          </a:blipFill>
        </p:spPr>
        <p:txBody>
          <a:bodyPr/>
          <a:lstStyle/>
          <a:p>
            <a:endParaRPr lang="en-US"/>
          </a:p>
        </p:txBody>
      </p:sp>
      <p:grpSp>
        <p:nvGrpSpPr>
          <p:cNvPr id="3" name="Group 3"/>
          <p:cNvGrpSpPr/>
          <p:nvPr/>
        </p:nvGrpSpPr>
        <p:grpSpPr>
          <a:xfrm>
            <a:off x="4708020" y="2187040"/>
            <a:ext cx="795381" cy="798218"/>
            <a:chOff x="0" y="0"/>
            <a:chExt cx="809911" cy="812800"/>
          </a:xfrm>
        </p:grpSpPr>
        <p:sp>
          <p:nvSpPr>
            <p:cNvPr id="4" name="Freeform 4"/>
            <p:cNvSpPr/>
            <p:nvPr/>
          </p:nvSpPr>
          <p:spPr>
            <a:xfrm>
              <a:off x="0" y="0"/>
              <a:ext cx="809911" cy="812800"/>
            </a:xfrm>
            <a:custGeom>
              <a:avLst/>
              <a:gdLst/>
              <a:ahLst/>
              <a:cxnLst/>
              <a:rect l="l" t="t" r="r" b="b"/>
              <a:pathLst>
                <a:path w="809911" h="812800">
                  <a:moveTo>
                    <a:pt x="404956" y="0"/>
                  </a:moveTo>
                  <a:cubicBezTo>
                    <a:pt x="181305" y="0"/>
                    <a:pt x="0" y="181951"/>
                    <a:pt x="0" y="406400"/>
                  </a:cubicBezTo>
                  <a:cubicBezTo>
                    <a:pt x="0" y="630849"/>
                    <a:pt x="181305" y="812800"/>
                    <a:pt x="404956" y="812800"/>
                  </a:cubicBezTo>
                  <a:cubicBezTo>
                    <a:pt x="628606" y="812800"/>
                    <a:pt x="809911" y="630849"/>
                    <a:pt x="809911" y="406400"/>
                  </a:cubicBezTo>
                  <a:cubicBezTo>
                    <a:pt x="809911" y="181951"/>
                    <a:pt x="628606" y="0"/>
                    <a:pt x="404956" y="0"/>
                  </a:cubicBezTo>
                  <a:close/>
                </a:path>
              </a:pathLst>
            </a:custGeom>
            <a:solidFill>
              <a:srgbClr val="373A40"/>
            </a:solidFill>
          </p:spPr>
          <p:txBody>
            <a:bodyPr/>
            <a:lstStyle/>
            <a:p>
              <a:endParaRPr lang="en-US"/>
            </a:p>
          </p:txBody>
        </p:sp>
        <p:sp>
          <p:nvSpPr>
            <p:cNvPr id="5" name="TextBox 5"/>
            <p:cNvSpPr txBox="1"/>
            <p:nvPr/>
          </p:nvSpPr>
          <p:spPr>
            <a:xfrm>
              <a:off x="75929" y="19050"/>
              <a:ext cx="658053" cy="717550"/>
            </a:xfrm>
            <a:prstGeom prst="rect">
              <a:avLst/>
            </a:prstGeom>
          </p:spPr>
          <p:txBody>
            <a:bodyPr lIns="33867" tIns="33867" rIns="33867" bIns="33867" rtlCol="0" anchor="ctr"/>
            <a:lstStyle/>
            <a:p>
              <a:pPr algn="ctr" defTabSz="609630">
                <a:lnSpc>
                  <a:spcPts val="2986"/>
                </a:lnSpc>
              </a:pPr>
              <a:r>
                <a:rPr lang="en-US" sz="2133" b="1" spc="213">
                  <a:solidFill>
                    <a:srgbClr val="EEEEEE"/>
                  </a:solidFill>
                  <a:latin typeface="Roboto Mono Bold"/>
                  <a:ea typeface="Roboto Mono Bold"/>
                  <a:cs typeface="Roboto Mono Bold"/>
                  <a:sym typeface="Roboto Mono Bold"/>
                </a:rPr>
                <a:t>01</a:t>
              </a:r>
            </a:p>
          </p:txBody>
        </p:sp>
      </p:grpSp>
      <p:grpSp>
        <p:nvGrpSpPr>
          <p:cNvPr id="6" name="Group 6"/>
          <p:cNvGrpSpPr/>
          <p:nvPr/>
        </p:nvGrpSpPr>
        <p:grpSpPr>
          <a:xfrm>
            <a:off x="6643282" y="3429000"/>
            <a:ext cx="795381" cy="798218"/>
            <a:chOff x="0" y="0"/>
            <a:chExt cx="809911" cy="812800"/>
          </a:xfrm>
        </p:grpSpPr>
        <p:sp>
          <p:nvSpPr>
            <p:cNvPr id="7" name="Freeform 7"/>
            <p:cNvSpPr/>
            <p:nvPr/>
          </p:nvSpPr>
          <p:spPr>
            <a:xfrm>
              <a:off x="0" y="0"/>
              <a:ext cx="809911" cy="812800"/>
            </a:xfrm>
            <a:custGeom>
              <a:avLst/>
              <a:gdLst/>
              <a:ahLst/>
              <a:cxnLst/>
              <a:rect l="l" t="t" r="r" b="b"/>
              <a:pathLst>
                <a:path w="809911" h="812800">
                  <a:moveTo>
                    <a:pt x="404956" y="0"/>
                  </a:moveTo>
                  <a:cubicBezTo>
                    <a:pt x="181305" y="0"/>
                    <a:pt x="0" y="181951"/>
                    <a:pt x="0" y="406400"/>
                  </a:cubicBezTo>
                  <a:cubicBezTo>
                    <a:pt x="0" y="630849"/>
                    <a:pt x="181305" y="812800"/>
                    <a:pt x="404956" y="812800"/>
                  </a:cubicBezTo>
                  <a:cubicBezTo>
                    <a:pt x="628606" y="812800"/>
                    <a:pt x="809911" y="630849"/>
                    <a:pt x="809911" y="406400"/>
                  </a:cubicBezTo>
                  <a:cubicBezTo>
                    <a:pt x="809911" y="181951"/>
                    <a:pt x="628606" y="0"/>
                    <a:pt x="404956" y="0"/>
                  </a:cubicBezTo>
                  <a:close/>
                </a:path>
              </a:pathLst>
            </a:custGeom>
            <a:solidFill>
              <a:srgbClr val="373A40"/>
            </a:solidFill>
          </p:spPr>
          <p:txBody>
            <a:bodyPr/>
            <a:lstStyle/>
            <a:p>
              <a:endParaRPr lang="en-US"/>
            </a:p>
          </p:txBody>
        </p:sp>
        <p:sp>
          <p:nvSpPr>
            <p:cNvPr id="8" name="TextBox 8"/>
            <p:cNvSpPr txBox="1"/>
            <p:nvPr/>
          </p:nvSpPr>
          <p:spPr>
            <a:xfrm>
              <a:off x="75929" y="19050"/>
              <a:ext cx="658053" cy="717550"/>
            </a:xfrm>
            <a:prstGeom prst="rect">
              <a:avLst/>
            </a:prstGeom>
          </p:spPr>
          <p:txBody>
            <a:bodyPr lIns="33867" tIns="33867" rIns="33867" bIns="33867" rtlCol="0" anchor="ctr"/>
            <a:lstStyle/>
            <a:p>
              <a:pPr algn="ctr" defTabSz="609630">
                <a:lnSpc>
                  <a:spcPts val="2986"/>
                </a:lnSpc>
              </a:pPr>
              <a:r>
                <a:rPr lang="en-US" sz="2133" b="1" spc="213">
                  <a:solidFill>
                    <a:srgbClr val="EEEEEE"/>
                  </a:solidFill>
                  <a:latin typeface="Roboto Mono Bold"/>
                  <a:ea typeface="Roboto Mono Bold"/>
                  <a:cs typeface="Roboto Mono Bold"/>
                  <a:sym typeface="Roboto Mono Bold"/>
                </a:rPr>
                <a:t>02</a:t>
              </a:r>
            </a:p>
          </p:txBody>
        </p:sp>
      </p:grpSp>
      <p:grpSp>
        <p:nvGrpSpPr>
          <p:cNvPr id="9" name="Group 9"/>
          <p:cNvGrpSpPr/>
          <p:nvPr/>
        </p:nvGrpSpPr>
        <p:grpSpPr>
          <a:xfrm>
            <a:off x="4730370" y="5040542"/>
            <a:ext cx="795381" cy="798218"/>
            <a:chOff x="0" y="0"/>
            <a:chExt cx="809911" cy="812800"/>
          </a:xfrm>
        </p:grpSpPr>
        <p:sp>
          <p:nvSpPr>
            <p:cNvPr id="10" name="Freeform 10"/>
            <p:cNvSpPr/>
            <p:nvPr/>
          </p:nvSpPr>
          <p:spPr>
            <a:xfrm>
              <a:off x="0" y="0"/>
              <a:ext cx="809911" cy="812800"/>
            </a:xfrm>
            <a:custGeom>
              <a:avLst/>
              <a:gdLst/>
              <a:ahLst/>
              <a:cxnLst/>
              <a:rect l="l" t="t" r="r" b="b"/>
              <a:pathLst>
                <a:path w="809911" h="812800">
                  <a:moveTo>
                    <a:pt x="404956" y="0"/>
                  </a:moveTo>
                  <a:cubicBezTo>
                    <a:pt x="181305" y="0"/>
                    <a:pt x="0" y="181951"/>
                    <a:pt x="0" y="406400"/>
                  </a:cubicBezTo>
                  <a:cubicBezTo>
                    <a:pt x="0" y="630849"/>
                    <a:pt x="181305" y="812800"/>
                    <a:pt x="404956" y="812800"/>
                  </a:cubicBezTo>
                  <a:cubicBezTo>
                    <a:pt x="628606" y="812800"/>
                    <a:pt x="809911" y="630849"/>
                    <a:pt x="809911" y="406400"/>
                  </a:cubicBezTo>
                  <a:cubicBezTo>
                    <a:pt x="809911" y="181951"/>
                    <a:pt x="628606" y="0"/>
                    <a:pt x="404956" y="0"/>
                  </a:cubicBezTo>
                  <a:close/>
                </a:path>
              </a:pathLst>
            </a:custGeom>
            <a:solidFill>
              <a:srgbClr val="373A40"/>
            </a:solidFill>
          </p:spPr>
          <p:txBody>
            <a:bodyPr/>
            <a:lstStyle/>
            <a:p>
              <a:endParaRPr lang="en-US"/>
            </a:p>
          </p:txBody>
        </p:sp>
        <p:sp>
          <p:nvSpPr>
            <p:cNvPr id="11" name="TextBox 11"/>
            <p:cNvSpPr txBox="1"/>
            <p:nvPr/>
          </p:nvSpPr>
          <p:spPr>
            <a:xfrm>
              <a:off x="75929" y="19050"/>
              <a:ext cx="658053" cy="717550"/>
            </a:xfrm>
            <a:prstGeom prst="rect">
              <a:avLst/>
            </a:prstGeom>
          </p:spPr>
          <p:txBody>
            <a:bodyPr lIns="33867" tIns="33867" rIns="33867" bIns="33867" rtlCol="0" anchor="ctr"/>
            <a:lstStyle/>
            <a:p>
              <a:pPr algn="ctr" defTabSz="609630">
                <a:lnSpc>
                  <a:spcPts val="2986"/>
                </a:lnSpc>
              </a:pPr>
              <a:r>
                <a:rPr lang="en-US" sz="2133" b="1" spc="213">
                  <a:solidFill>
                    <a:srgbClr val="EEEEEE"/>
                  </a:solidFill>
                  <a:latin typeface="Roboto Mono Bold"/>
                  <a:ea typeface="Roboto Mono Bold"/>
                  <a:cs typeface="Roboto Mono Bold"/>
                  <a:sym typeface="Roboto Mono Bold"/>
                </a:rPr>
                <a:t>03</a:t>
              </a:r>
            </a:p>
          </p:txBody>
        </p:sp>
      </p:grpSp>
      <p:sp>
        <p:nvSpPr>
          <p:cNvPr id="12" name="Freeform 12"/>
          <p:cNvSpPr/>
          <p:nvPr/>
        </p:nvSpPr>
        <p:spPr>
          <a:xfrm>
            <a:off x="11769572" y="5439651"/>
            <a:ext cx="278674" cy="1155127"/>
          </a:xfrm>
          <a:custGeom>
            <a:avLst/>
            <a:gdLst/>
            <a:ahLst/>
            <a:cxnLst/>
            <a:rect l="l" t="t" r="r" b="b"/>
            <a:pathLst>
              <a:path w="418011" h="1732690">
                <a:moveTo>
                  <a:pt x="0" y="0"/>
                </a:moveTo>
                <a:lnTo>
                  <a:pt x="418011" y="0"/>
                </a:lnTo>
                <a:lnTo>
                  <a:pt x="418011" y="1732690"/>
                </a:lnTo>
                <a:lnTo>
                  <a:pt x="0" y="173269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Freeform 13"/>
          <p:cNvSpPr/>
          <p:nvPr/>
        </p:nvSpPr>
        <p:spPr>
          <a:xfrm rot="4564482">
            <a:off x="4801737" y="3977607"/>
            <a:ext cx="481087" cy="1105948"/>
          </a:xfrm>
          <a:custGeom>
            <a:avLst/>
            <a:gdLst/>
            <a:ahLst/>
            <a:cxnLst/>
            <a:rect l="l" t="t" r="r" b="b"/>
            <a:pathLst>
              <a:path w="721631" h="1658922">
                <a:moveTo>
                  <a:pt x="0" y="0"/>
                </a:moveTo>
                <a:lnTo>
                  <a:pt x="721631" y="0"/>
                </a:lnTo>
                <a:lnTo>
                  <a:pt x="721631" y="1658922"/>
                </a:lnTo>
                <a:lnTo>
                  <a:pt x="0" y="165892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4" name="TextBox 14"/>
          <p:cNvSpPr txBox="1"/>
          <p:nvPr/>
        </p:nvSpPr>
        <p:spPr>
          <a:xfrm>
            <a:off x="225376" y="1079983"/>
            <a:ext cx="11279523" cy="553998"/>
          </a:xfrm>
          <a:prstGeom prst="rect">
            <a:avLst/>
          </a:prstGeom>
        </p:spPr>
        <p:txBody>
          <a:bodyPr wrap="square" lIns="0" tIns="0" rIns="0" bIns="0" rtlCol="0" anchor="t">
            <a:spAutoFit/>
          </a:bodyPr>
          <a:lstStyle/>
          <a:p>
            <a:pPr lvl="1" algn="ctr" defTabSz="609630"/>
            <a:r>
              <a:rPr lang="en-US" b="1" spc="210">
                <a:solidFill>
                  <a:srgbClr val="000000"/>
                </a:solidFill>
                <a:latin typeface="Times New Roman" panose="02020603050405020304" pitchFamily="18" charset="0"/>
                <a:ea typeface="Arial MT Pro Bold"/>
                <a:cs typeface="Times New Roman" panose="02020603050405020304" pitchFamily="18" charset="0"/>
                <a:sym typeface="Arial MT Pro Bold"/>
              </a:rPr>
              <a:t>Our study focuses on evaluating the market landscape, patient needs, and competitive factors relevant to the Smart Polypharmacy and Vitamin Recommendation System.</a:t>
            </a:r>
          </a:p>
        </p:txBody>
      </p:sp>
      <p:sp>
        <p:nvSpPr>
          <p:cNvPr id="15" name="TextBox 15"/>
          <p:cNvSpPr txBox="1"/>
          <p:nvPr/>
        </p:nvSpPr>
        <p:spPr>
          <a:xfrm>
            <a:off x="5764127" y="2560749"/>
            <a:ext cx="1758311" cy="540404"/>
          </a:xfrm>
          <a:prstGeom prst="rect">
            <a:avLst/>
          </a:prstGeom>
        </p:spPr>
        <p:txBody>
          <a:bodyPr lIns="0" tIns="0" rIns="0" bIns="0" rtlCol="0" anchor="t">
            <a:spAutoFit/>
          </a:bodyPr>
          <a:lstStyle/>
          <a:p>
            <a:pPr defTabSz="609630">
              <a:lnSpc>
                <a:spcPts val="2240"/>
              </a:lnSpc>
            </a:pPr>
            <a:r>
              <a:rPr lang="en-US" sz="1600" b="1" spc="160">
                <a:solidFill>
                  <a:srgbClr val="4A71F6"/>
                </a:solidFill>
                <a:latin typeface="Times New Roman" panose="02020603050405020304" pitchFamily="18" charset="0"/>
                <a:ea typeface="Montserrat Bold"/>
                <a:cs typeface="Times New Roman" panose="02020603050405020304" pitchFamily="18" charset="0"/>
                <a:sym typeface="Montserrat Bold"/>
              </a:rPr>
              <a:t>SCOPE OF THE STUDY</a:t>
            </a:r>
          </a:p>
        </p:txBody>
      </p:sp>
      <p:sp>
        <p:nvSpPr>
          <p:cNvPr id="16" name="Freeform 16"/>
          <p:cNvSpPr/>
          <p:nvPr/>
        </p:nvSpPr>
        <p:spPr>
          <a:xfrm rot="-6407892">
            <a:off x="6727700" y="1521782"/>
            <a:ext cx="578775" cy="1330518"/>
          </a:xfrm>
          <a:custGeom>
            <a:avLst/>
            <a:gdLst/>
            <a:ahLst/>
            <a:cxnLst/>
            <a:rect l="l" t="t" r="r" b="b"/>
            <a:pathLst>
              <a:path w="868163" h="1995777">
                <a:moveTo>
                  <a:pt x="0" y="0"/>
                </a:moveTo>
                <a:lnTo>
                  <a:pt x="868163" y="0"/>
                </a:lnTo>
                <a:lnTo>
                  <a:pt x="868163" y="1995777"/>
                </a:lnTo>
                <a:lnTo>
                  <a:pt x="0" y="199577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7" name="Freeform 17"/>
          <p:cNvSpPr/>
          <p:nvPr/>
        </p:nvSpPr>
        <p:spPr>
          <a:xfrm rot="-6407892">
            <a:off x="6559919" y="4701174"/>
            <a:ext cx="578775" cy="1330518"/>
          </a:xfrm>
          <a:custGeom>
            <a:avLst/>
            <a:gdLst/>
            <a:ahLst/>
            <a:cxnLst/>
            <a:rect l="l" t="t" r="r" b="b"/>
            <a:pathLst>
              <a:path w="868163" h="1995777">
                <a:moveTo>
                  <a:pt x="0" y="0"/>
                </a:moveTo>
                <a:lnTo>
                  <a:pt x="868163" y="0"/>
                </a:lnTo>
                <a:lnTo>
                  <a:pt x="868163" y="1995777"/>
                </a:lnTo>
                <a:lnTo>
                  <a:pt x="0" y="199577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8" name="TextBox 18"/>
          <p:cNvSpPr txBox="1"/>
          <p:nvPr/>
        </p:nvSpPr>
        <p:spPr>
          <a:xfrm>
            <a:off x="225376" y="2921759"/>
            <a:ext cx="4057193" cy="2385781"/>
          </a:xfrm>
          <a:prstGeom prst="rect">
            <a:avLst/>
          </a:prstGeom>
        </p:spPr>
        <p:txBody>
          <a:bodyPr lIns="0" tIns="0" rIns="0" bIns="0" rtlCol="0" anchor="t">
            <a:spAutoFit/>
          </a:bodyPr>
          <a:lstStyle/>
          <a:p>
            <a:pPr algn="r" defTabSz="609630">
              <a:lnSpc>
                <a:spcPts val="2666"/>
              </a:lnSpc>
            </a:pPr>
            <a:r>
              <a:rPr lang="en-US" b="1" spc="249">
                <a:solidFill>
                  <a:srgbClr val="000000"/>
                </a:solidFill>
                <a:latin typeface="Times New Roman" panose="02020603050405020304" pitchFamily="18" charset="0"/>
                <a:ea typeface="Canva Sans Bold"/>
                <a:cs typeface="Times New Roman" panose="02020603050405020304" pitchFamily="18" charset="0"/>
                <a:sym typeface="Canva Sans Bold"/>
              </a:rPr>
              <a:t>Understanding the market implications of a Smart Polypharmacy and Vitamin Recommendation System is crucial for staying competitive and meeting evolving patient needs.</a:t>
            </a:r>
          </a:p>
        </p:txBody>
      </p:sp>
      <p:sp>
        <p:nvSpPr>
          <p:cNvPr id="19" name="TextBox 19"/>
          <p:cNvSpPr txBox="1"/>
          <p:nvPr/>
        </p:nvSpPr>
        <p:spPr>
          <a:xfrm>
            <a:off x="7782789" y="1957500"/>
            <a:ext cx="3653171" cy="2039533"/>
          </a:xfrm>
          <a:prstGeom prst="rect">
            <a:avLst/>
          </a:prstGeom>
        </p:spPr>
        <p:txBody>
          <a:bodyPr lIns="0" tIns="0" rIns="0" bIns="0" rtlCol="0" anchor="t">
            <a:spAutoFit/>
          </a:bodyPr>
          <a:lstStyle/>
          <a:p>
            <a:pPr defTabSz="609630">
              <a:lnSpc>
                <a:spcPts val="2666"/>
              </a:lnSpc>
            </a:pPr>
            <a:r>
              <a:rPr lang="en-US" b="1" spc="249">
                <a:solidFill>
                  <a:srgbClr val="000000"/>
                </a:solidFill>
                <a:latin typeface="Times New Roman" panose="02020603050405020304" pitchFamily="18" charset="0"/>
                <a:ea typeface="Arimo Bold"/>
                <a:cs typeface="Times New Roman" panose="02020603050405020304" pitchFamily="18" charset="0"/>
                <a:sym typeface="Arimo Bold"/>
              </a:rPr>
              <a:t>Our study aims to explore challenges, assess feasibility, and provide insights for a Smart Polypharmacy and Vitamin Recommendation System.</a:t>
            </a:r>
          </a:p>
        </p:txBody>
      </p:sp>
      <p:sp>
        <p:nvSpPr>
          <p:cNvPr id="20" name="TextBox 20"/>
          <p:cNvSpPr txBox="1"/>
          <p:nvPr/>
        </p:nvSpPr>
        <p:spPr>
          <a:xfrm>
            <a:off x="523286" y="360804"/>
            <a:ext cx="10820400" cy="615553"/>
          </a:xfrm>
          <a:prstGeom prst="rect">
            <a:avLst/>
          </a:prstGeom>
        </p:spPr>
        <p:txBody>
          <a:bodyPr lIns="0" tIns="0" rIns="0" bIns="0" rtlCol="0" anchor="t">
            <a:spAutoFit/>
          </a:bodyPr>
          <a:lstStyle/>
          <a:p>
            <a:pPr algn="ctr" defTabSz="609630">
              <a:lnSpc>
                <a:spcPts val="4835"/>
              </a:lnSpc>
            </a:pPr>
            <a:r>
              <a:rPr lang="en-US" sz="5090" b="1" spc="203">
                <a:solidFill>
                  <a:schemeClr val="accent1">
                    <a:lumMod val="50000"/>
                  </a:schemeClr>
                </a:solidFill>
                <a:latin typeface="Cambria" panose="02040503050406030204" pitchFamily="18" charset="0"/>
                <a:ea typeface="Cambria" panose="02040503050406030204" pitchFamily="18" charset="0"/>
                <a:cs typeface="Roboto Mono Bold"/>
                <a:sym typeface="Roboto Mono Bold"/>
              </a:rPr>
              <a:t>INTRODUCTON TO PROBLEM</a:t>
            </a:r>
          </a:p>
        </p:txBody>
      </p:sp>
      <p:sp>
        <p:nvSpPr>
          <p:cNvPr id="21" name="TextBox 21"/>
          <p:cNvSpPr txBox="1"/>
          <p:nvPr/>
        </p:nvSpPr>
        <p:spPr>
          <a:xfrm>
            <a:off x="7701531" y="4612141"/>
            <a:ext cx="3815685" cy="1971309"/>
          </a:xfrm>
          <a:prstGeom prst="rect">
            <a:avLst/>
          </a:prstGeom>
        </p:spPr>
        <p:txBody>
          <a:bodyPr lIns="0" tIns="0" rIns="0" bIns="0" rtlCol="0" anchor="t">
            <a:spAutoFit/>
          </a:bodyPr>
          <a:lstStyle/>
          <a:p>
            <a:pPr defTabSz="609630">
              <a:lnSpc>
                <a:spcPts val="2559"/>
              </a:lnSpc>
            </a:pPr>
            <a:r>
              <a:rPr lang="en-US" b="1" spc="239">
                <a:solidFill>
                  <a:srgbClr val="000000"/>
                </a:solidFill>
                <a:latin typeface="Times New Roman" panose="02020603050405020304" pitchFamily="18" charset="0"/>
                <a:ea typeface="Arimo Bold"/>
                <a:cs typeface="Times New Roman" panose="02020603050405020304" pitchFamily="18" charset="0"/>
                <a:sym typeface="Arimo Bold"/>
              </a:rPr>
              <a:t>How can a Smart Polypharmacy and Vitamin Recommendation System meet patient needs, use health-tech trends, and stand out in the market?</a:t>
            </a:r>
          </a:p>
        </p:txBody>
      </p:sp>
      <p:sp>
        <p:nvSpPr>
          <p:cNvPr id="22" name="TextBox 22"/>
          <p:cNvSpPr txBox="1"/>
          <p:nvPr/>
        </p:nvSpPr>
        <p:spPr>
          <a:xfrm>
            <a:off x="4731895" y="3835400"/>
            <a:ext cx="1758311" cy="540404"/>
          </a:xfrm>
          <a:prstGeom prst="rect">
            <a:avLst/>
          </a:prstGeom>
        </p:spPr>
        <p:txBody>
          <a:bodyPr lIns="0" tIns="0" rIns="0" bIns="0" rtlCol="0" anchor="t">
            <a:spAutoFit/>
          </a:bodyPr>
          <a:lstStyle/>
          <a:p>
            <a:pPr algn="r" defTabSz="609630">
              <a:lnSpc>
                <a:spcPts val="2240"/>
              </a:lnSpc>
            </a:pPr>
            <a:r>
              <a:rPr lang="en-US" sz="1600" b="1" spc="160">
                <a:solidFill>
                  <a:srgbClr val="4A71F6"/>
                </a:solidFill>
                <a:latin typeface="Times New Roman" panose="02020603050405020304" pitchFamily="18" charset="0"/>
                <a:ea typeface="Montserrat Bold"/>
                <a:cs typeface="Times New Roman" panose="02020603050405020304" pitchFamily="18" charset="0"/>
                <a:sym typeface="Montserrat Bold"/>
              </a:rPr>
              <a:t>RELEVANCE OF THE STUDY</a:t>
            </a:r>
          </a:p>
        </p:txBody>
      </p:sp>
      <p:sp>
        <p:nvSpPr>
          <p:cNvPr id="23" name="TextBox 23"/>
          <p:cNvSpPr txBox="1"/>
          <p:nvPr/>
        </p:nvSpPr>
        <p:spPr>
          <a:xfrm>
            <a:off x="5764127" y="5813361"/>
            <a:ext cx="1758311" cy="540404"/>
          </a:xfrm>
          <a:prstGeom prst="rect">
            <a:avLst/>
          </a:prstGeom>
        </p:spPr>
        <p:txBody>
          <a:bodyPr lIns="0" tIns="0" rIns="0" bIns="0" rtlCol="0" anchor="t">
            <a:spAutoFit/>
          </a:bodyPr>
          <a:lstStyle/>
          <a:p>
            <a:pPr defTabSz="609630">
              <a:lnSpc>
                <a:spcPts val="2240"/>
              </a:lnSpc>
            </a:pPr>
            <a:r>
              <a:rPr lang="en-US" sz="1600" b="1" spc="160">
                <a:solidFill>
                  <a:srgbClr val="4A71F6"/>
                </a:solidFill>
                <a:latin typeface="Times New Roman" panose="02020603050405020304" pitchFamily="18" charset="0"/>
                <a:ea typeface="Montserrat Bold"/>
                <a:cs typeface="Times New Roman" panose="02020603050405020304" pitchFamily="18" charset="0"/>
                <a:sym typeface="Montserrat Bold"/>
              </a:rPr>
              <a:t>RESEARCH QUESTION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14" name="Freeform 14"/>
          <p:cNvSpPr/>
          <p:nvPr/>
        </p:nvSpPr>
        <p:spPr>
          <a:xfrm rot="10800000" flipH="1">
            <a:off x="11317072" y="4201549"/>
            <a:ext cx="1951055" cy="2263187"/>
          </a:xfrm>
          <a:custGeom>
            <a:avLst/>
            <a:gdLst/>
            <a:ahLst/>
            <a:cxnLst/>
            <a:rect l="l" t="t" r="r" b="b"/>
            <a:pathLst>
              <a:path w="2926583" h="3394780">
                <a:moveTo>
                  <a:pt x="2926583" y="0"/>
                </a:moveTo>
                <a:lnTo>
                  <a:pt x="0" y="0"/>
                </a:lnTo>
                <a:lnTo>
                  <a:pt x="0" y="3394780"/>
                </a:lnTo>
                <a:lnTo>
                  <a:pt x="2926583" y="3394780"/>
                </a:lnTo>
                <a:lnTo>
                  <a:pt x="2926583"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 name="AutoShape 2"/>
          <p:cNvSpPr/>
          <p:nvPr/>
        </p:nvSpPr>
        <p:spPr>
          <a:xfrm>
            <a:off x="1499319" y="4638557"/>
            <a:ext cx="9300157" cy="0"/>
          </a:xfrm>
          <a:prstGeom prst="line">
            <a:avLst/>
          </a:prstGeom>
          <a:ln w="38100" cap="flat">
            <a:solidFill>
              <a:srgbClr val="404B57"/>
            </a:solidFill>
            <a:prstDash val="solid"/>
            <a:headEnd type="none" w="sm" len="sm"/>
            <a:tailEnd type="none" w="sm" len="sm"/>
          </a:ln>
        </p:spPr>
        <p:txBody>
          <a:bodyPr/>
          <a:lstStyle/>
          <a:p>
            <a:endParaRPr lang="en-US"/>
          </a:p>
        </p:txBody>
      </p:sp>
      <p:sp>
        <p:nvSpPr>
          <p:cNvPr id="3" name="AutoShape 3"/>
          <p:cNvSpPr/>
          <p:nvPr/>
        </p:nvSpPr>
        <p:spPr>
          <a:xfrm>
            <a:off x="6197600" y="1671532"/>
            <a:ext cx="0" cy="4500668"/>
          </a:xfrm>
          <a:prstGeom prst="line">
            <a:avLst/>
          </a:prstGeom>
          <a:ln w="38100" cap="flat">
            <a:solidFill>
              <a:srgbClr val="404B57"/>
            </a:solidFill>
            <a:prstDash val="solid"/>
            <a:headEnd type="none" w="sm" len="sm"/>
            <a:tailEnd type="none" w="sm" len="sm"/>
          </a:ln>
        </p:spPr>
        <p:txBody>
          <a:bodyPr/>
          <a:lstStyle/>
          <a:p>
            <a:endParaRPr lang="en-US"/>
          </a:p>
        </p:txBody>
      </p:sp>
      <p:sp>
        <p:nvSpPr>
          <p:cNvPr id="4" name="Freeform 4"/>
          <p:cNvSpPr/>
          <p:nvPr/>
        </p:nvSpPr>
        <p:spPr>
          <a:xfrm>
            <a:off x="-156341" y="-81304"/>
            <a:ext cx="1951055" cy="2263187"/>
          </a:xfrm>
          <a:custGeom>
            <a:avLst/>
            <a:gdLst/>
            <a:ahLst/>
            <a:cxnLst/>
            <a:rect l="l" t="t" r="r" b="b"/>
            <a:pathLst>
              <a:path w="2926583" h="3394780">
                <a:moveTo>
                  <a:pt x="0" y="0"/>
                </a:moveTo>
                <a:lnTo>
                  <a:pt x="2926583" y="0"/>
                </a:lnTo>
                <a:lnTo>
                  <a:pt x="2926583" y="3394780"/>
                </a:lnTo>
                <a:lnTo>
                  <a:pt x="0" y="33947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1445922" y="226061"/>
            <a:ext cx="10056267" cy="761042"/>
          </a:xfrm>
          <a:prstGeom prst="rect">
            <a:avLst/>
          </a:prstGeom>
        </p:spPr>
        <p:txBody>
          <a:bodyPr wrap="square" lIns="0" tIns="0" rIns="0" bIns="0" rtlCol="0" anchor="t">
            <a:spAutoFit/>
          </a:bodyPr>
          <a:lstStyle/>
          <a:p>
            <a:pPr algn="ctr" defTabSz="609630">
              <a:lnSpc>
                <a:spcPts val="6720"/>
              </a:lnSpc>
              <a:spcBef>
                <a:spcPct val="0"/>
              </a:spcBef>
            </a:pPr>
            <a:r>
              <a:rPr lang="en-US" sz="4000" b="1">
                <a:solidFill>
                  <a:schemeClr val="accent1">
                    <a:lumMod val="50000"/>
                  </a:schemeClr>
                </a:solidFill>
                <a:latin typeface="Cambria" panose="02040503050406030204" pitchFamily="18" charset="0"/>
                <a:ea typeface="Cambria" panose="02040503050406030204" pitchFamily="18" charset="0"/>
                <a:cs typeface="Oswald"/>
                <a:sym typeface="Oswald"/>
              </a:rPr>
              <a:t>Social or research impact of the solution </a:t>
            </a:r>
          </a:p>
        </p:txBody>
      </p:sp>
      <p:sp>
        <p:nvSpPr>
          <p:cNvPr id="6" name="TextBox 6"/>
          <p:cNvSpPr txBox="1"/>
          <p:nvPr/>
        </p:nvSpPr>
        <p:spPr>
          <a:xfrm>
            <a:off x="1883614" y="1365226"/>
            <a:ext cx="4212386" cy="3240439"/>
          </a:xfrm>
          <a:prstGeom prst="rect">
            <a:avLst/>
          </a:prstGeom>
        </p:spPr>
        <p:txBody>
          <a:bodyPr lIns="0" tIns="0" rIns="0" bIns="0" rtlCol="0" anchor="t">
            <a:spAutoFit/>
          </a:bodyPr>
          <a:lstStyle/>
          <a:p>
            <a:pPr defTabSz="609630">
              <a:lnSpc>
                <a:spcPts val="3173"/>
              </a:lnSpc>
            </a:pPr>
            <a:r>
              <a:rPr lang="en-US" sz="2000" b="1">
                <a:solidFill>
                  <a:srgbClr val="322F2A"/>
                </a:solidFill>
                <a:latin typeface="Times New Roman" panose="02020603050405020304" pitchFamily="18" charset="0"/>
                <a:ea typeface="Nunito Bold"/>
                <a:cs typeface="Times New Roman" panose="02020603050405020304" pitchFamily="18" charset="0"/>
                <a:sym typeface="Nunito Bold"/>
              </a:rPr>
              <a:t>🩺 Better patient health</a:t>
            </a:r>
            <a:r>
              <a:rPr lang="en-US" sz="2000">
                <a:solidFill>
                  <a:srgbClr val="322F2A"/>
                </a:solidFill>
                <a:latin typeface="Times New Roman" panose="02020603050405020304" pitchFamily="18" charset="0"/>
                <a:ea typeface="Nunito"/>
                <a:cs typeface="Times New Roman" panose="02020603050405020304" pitchFamily="18" charset="0"/>
                <a:sym typeface="Nunito"/>
              </a:rPr>
              <a:t> </a:t>
            </a:r>
          </a:p>
          <a:p>
            <a:pPr marL="403031" lvl="1" indent="-201515" defTabSz="609630">
              <a:lnSpc>
                <a:spcPts val="3173"/>
              </a:lnSpc>
              <a:buFont typeface="Arial"/>
              <a:buChar char="•"/>
            </a:pPr>
            <a:r>
              <a:rPr lang="en-US" sz="2000">
                <a:solidFill>
                  <a:srgbClr val="322F2A"/>
                </a:solidFill>
                <a:latin typeface="Times New Roman" panose="02020603050405020304" pitchFamily="18" charset="0"/>
                <a:ea typeface="Nunito"/>
                <a:cs typeface="Times New Roman" panose="02020603050405020304" pitchFamily="18" charset="0"/>
                <a:sym typeface="Nunito"/>
              </a:rPr>
              <a:t>reduces risks from drug interactions   &amp; unnoticed vitamin deficiencies.</a:t>
            </a:r>
          </a:p>
          <a:p>
            <a:pPr marL="403031" lvl="1" indent="-201515" defTabSz="609630">
              <a:lnSpc>
                <a:spcPts val="3173"/>
              </a:lnSpc>
              <a:buFont typeface="Arial"/>
              <a:buChar char="•"/>
            </a:pPr>
            <a:endParaRPr lang="en-US" sz="1000">
              <a:solidFill>
                <a:srgbClr val="322F2A"/>
              </a:solidFill>
              <a:latin typeface="Times New Roman" panose="02020603050405020304" pitchFamily="18" charset="0"/>
              <a:ea typeface="Nunito"/>
              <a:cs typeface="Times New Roman" panose="02020603050405020304" pitchFamily="18" charset="0"/>
              <a:sym typeface="Nunito"/>
            </a:endParaRPr>
          </a:p>
          <a:p>
            <a:pPr defTabSz="609630">
              <a:lnSpc>
                <a:spcPts val="3173"/>
              </a:lnSpc>
            </a:pPr>
            <a:r>
              <a:rPr lang="en-US" sz="2000" b="1">
                <a:solidFill>
                  <a:srgbClr val="322F2A"/>
                </a:solidFill>
                <a:latin typeface="Times New Roman" panose="02020603050405020304" pitchFamily="18" charset="0"/>
                <a:ea typeface="Nunito Bold"/>
                <a:cs typeface="Times New Roman" panose="02020603050405020304" pitchFamily="18" charset="0"/>
                <a:sym typeface="Nunito Bold"/>
              </a:rPr>
              <a:t>👵 Improved elderly care</a:t>
            </a:r>
          </a:p>
          <a:p>
            <a:pPr marL="403031" lvl="1" indent="-201515" defTabSz="609630">
              <a:lnSpc>
                <a:spcPts val="3173"/>
              </a:lnSpc>
              <a:buFont typeface="Arial"/>
              <a:buChar char="•"/>
            </a:pPr>
            <a:r>
              <a:rPr lang="en-US" sz="2000">
                <a:solidFill>
                  <a:srgbClr val="322F2A"/>
                </a:solidFill>
                <a:latin typeface="Times New Roman" panose="02020603050405020304" pitchFamily="18" charset="0"/>
                <a:ea typeface="Nunito"/>
                <a:cs typeface="Times New Roman" panose="02020603050405020304" pitchFamily="18" charset="0"/>
                <a:sym typeface="Nunito"/>
              </a:rPr>
              <a:t>supports healthier aging and quality of life.</a:t>
            </a:r>
          </a:p>
          <a:p>
            <a:pPr defTabSz="609630">
              <a:lnSpc>
                <a:spcPts val="3173"/>
              </a:lnSpc>
            </a:pPr>
            <a:endParaRPr lang="en-US" sz="2000">
              <a:solidFill>
                <a:srgbClr val="322F2A"/>
              </a:solidFill>
              <a:latin typeface="Times New Roman" panose="02020603050405020304" pitchFamily="18" charset="0"/>
              <a:ea typeface="Nunito"/>
              <a:cs typeface="Times New Roman" panose="02020603050405020304" pitchFamily="18" charset="0"/>
              <a:sym typeface="Nunito"/>
            </a:endParaRPr>
          </a:p>
        </p:txBody>
      </p:sp>
      <p:sp>
        <p:nvSpPr>
          <p:cNvPr id="7" name="TextBox 7"/>
          <p:cNvSpPr txBox="1"/>
          <p:nvPr/>
        </p:nvSpPr>
        <p:spPr>
          <a:xfrm>
            <a:off x="2128494" y="4751894"/>
            <a:ext cx="3365497" cy="1550874"/>
          </a:xfrm>
          <a:prstGeom prst="rect">
            <a:avLst/>
          </a:prstGeom>
        </p:spPr>
        <p:txBody>
          <a:bodyPr lIns="0" tIns="0" rIns="0" bIns="0" rtlCol="0" anchor="t">
            <a:spAutoFit/>
          </a:bodyPr>
          <a:lstStyle/>
          <a:p>
            <a:pPr defTabSz="609630">
              <a:lnSpc>
                <a:spcPts val="3059"/>
              </a:lnSpc>
            </a:pPr>
            <a:r>
              <a:rPr lang="en-US" sz="2000">
                <a:solidFill>
                  <a:srgbClr val="322F2A"/>
                </a:solidFill>
                <a:latin typeface="Times New Roman" panose="02020603050405020304" pitchFamily="18" charset="0"/>
                <a:ea typeface="Nunito"/>
                <a:cs typeface="Times New Roman" panose="02020603050405020304" pitchFamily="18" charset="0"/>
                <a:sym typeface="Nunito"/>
              </a:rPr>
              <a:t>🌍</a:t>
            </a:r>
            <a:r>
              <a:rPr lang="en-US" sz="2000" b="1">
                <a:solidFill>
                  <a:srgbClr val="322F2A"/>
                </a:solidFill>
                <a:latin typeface="Times New Roman" panose="02020603050405020304" pitchFamily="18" charset="0"/>
                <a:ea typeface="Nunito Bold"/>
                <a:cs typeface="Times New Roman" panose="02020603050405020304" pitchFamily="18" charset="0"/>
                <a:sym typeface="Nunito Bold"/>
              </a:rPr>
              <a:t> Scalable impact </a:t>
            </a:r>
          </a:p>
          <a:p>
            <a:pPr marL="388638" lvl="1" indent="-194319" defTabSz="609630">
              <a:lnSpc>
                <a:spcPts val="3059"/>
              </a:lnSpc>
              <a:buFont typeface="Arial"/>
              <a:buChar char="•"/>
            </a:pPr>
            <a:r>
              <a:rPr lang="en-US" sz="2000">
                <a:solidFill>
                  <a:srgbClr val="322F2A"/>
                </a:solidFill>
                <a:latin typeface="Times New Roman" panose="02020603050405020304" pitchFamily="18" charset="0"/>
                <a:ea typeface="Nunito"/>
                <a:cs typeface="Times New Roman" panose="02020603050405020304" pitchFamily="18" charset="0"/>
                <a:sym typeface="Nunito"/>
              </a:rPr>
              <a:t> potential to shape policies and practices in geriatric healthcare.</a:t>
            </a:r>
          </a:p>
        </p:txBody>
      </p:sp>
      <p:sp>
        <p:nvSpPr>
          <p:cNvPr id="8" name="TextBox 8"/>
          <p:cNvSpPr txBox="1"/>
          <p:nvPr/>
        </p:nvSpPr>
        <p:spPr>
          <a:xfrm>
            <a:off x="7380582" y="1588982"/>
            <a:ext cx="3365497" cy="1957587"/>
          </a:xfrm>
          <a:prstGeom prst="rect">
            <a:avLst/>
          </a:prstGeom>
        </p:spPr>
        <p:txBody>
          <a:bodyPr lIns="0" tIns="0" rIns="0" bIns="0" rtlCol="0" anchor="t">
            <a:spAutoFit/>
          </a:bodyPr>
          <a:lstStyle/>
          <a:p>
            <a:pPr defTabSz="609630">
              <a:lnSpc>
                <a:spcPts val="3059"/>
              </a:lnSpc>
            </a:pPr>
            <a:r>
              <a:rPr lang="en-US" sz="2000" b="1">
                <a:solidFill>
                  <a:srgbClr val="322F2A"/>
                </a:solidFill>
                <a:latin typeface="Times New Roman" panose="02020603050405020304" pitchFamily="18" charset="0"/>
                <a:ea typeface="Nunito Bold"/>
                <a:cs typeface="Times New Roman" panose="02020603050405020304" pitchFamily="18" charset="0"/>
                <a:sym typeface="Nunito Bold"/>
              </a:rPr>
              <a:t>📊 Data-driven insights </a:t>
            </a:r>
          </a:p>
          <a:p>
            <a:pPr marL="388638" lvl="1" indent="-194319" defTabSz="609630">
              <a:lnSpc>
                <a:spcPts val="3059"/>
              </a:lnSpc>
              <a:buFont typeface="Arial"/>
              <a:buChar char="•"/>
            </a:pPr>
            <a:r>
              <a:rPr lang="en-US" sz="2000">
                <a:solidFill>
                  <a:srgbClr val="322F2A"/>
                </a:solidFill>
                <a:latin typeface="Times New Roman" panose="02020603050405020304" pitchFamily="18" charset="0"/>
                <a:ea typeface="Nunito"/>
                <a:cs typeface="Times New Roman" panose="02020603050405020304" pitchFamily="18" charset="0"/>
                <a:sym typeface="Nunito"/>
              </a:rPr>
              <a:t> enables research on polypharmacy patterns &amp; deficiencies.</a:t>
            </a:r>
          </a:p>
          <a:p>
            <a:pPr defTabSz="609630">
              <a:lnSpc>
                <a:spcPts val="3059"/>
              </a:lnSpc>
            </a:pPr>
            <a:endParaRPr lang="en-US" sz="1799">
              <a:solidFill>
                <a:srgbClr val="322F2A"/>
              </a:solidFill>
              <a:latin typeface="Nunito"/>
              <a:ea typeface="Nunito"/>
              <a:cs typeface="Nunito"/>
              <a:sym typeface="Nunito"/>
            </a:endParaRPr>
          </a:p>
        </p:txBody>
      </p:sp>
      <p:sp>
        <p:nvSpPr>
          <p:cNvPr id="9" name="TextBox 9"/>
          <p:cNvSpPr txBox="1"/>
          <p:nvPr/>
        </p:nvSpPr>
        <p:spPr>
          <a:xfrm>
            <a:off x="7381786" y="4751894"/>
            <a:ext cx="3365497" cy="1162498"/>
          </a:xfrm>
          <a:prstGeom prst="rect">
            <a:avLst/>
          </a:prstGeom>
        </p:spPr>
        <p:txBody>
          <a:bodyPr lIns="0" tIns="0" rIns="0" bIns="0" rtlCol="0" anchor="t">
            <a:spAutoFit/>
          </a:bodyPr>
          <a:lstStyle/>
          <a:p>
            <a:pPr defTabSz="609630">
              <a:lnSpc>
                <a:spcPts val="3059"/>
              </a:lnSpc>
            </a:pPr>
            <a:r>
              <a:rPr lang="en-US" sz="2000" b="1">
                <a:solidFill>
                  <a:srgbClr val="322F2A"/>
                </a:solidFill>
                <a:latin typeface="Times New Roman" panose="02020603050405020304" pitchFamily="18" charset="0"/>
                <a:ea typeface="Nunito Bold"/>
                <a:cs typeface="Times New Roman" panose="02020603050405020304" pitchFamily="18" charset="0"/>
                <a:sym typeface="Nunito Bold"/>
              </a:rPr>
              <a:t>🤖 Advances digital health</a:t>
            </a:r>
          </a:p>
          <a:p>
            <a:pPr marL="388638" lvl="1" indent="-194319" defTabSz="609630">
              <a:lnSpc>
                <a:spcPts val="3059"/>
              </a:lnSpc>
              <a:buFont typeface="Arial"/>
              <a:buChar char="•"/>
            </a:pPr>
            <a:r>
              <a:rPr lang="en-US" sz="2000">
                <a:solidFill>
                  <a:srgbClr val="322F2A"/>
                </a:solidFill>
                <a:latin typeface="Times New Roman" panose="02020603050405020304" pitchFamily="18" charset="0"/>
                <a:ea typeface="Nunito"/>
                <a:cs typeface="Times New Roman" panose="02020603050405020304" pitchFamily="18" charset="0"/>
                <a:sym typeface="Nunito"/>
              </a:rPr>
              <a:t> contributes to AI-powered healthcare innovation.</a:t>
            </a:r>
          </a:p>
        </p:txBody>
      </p:sp>
      <p:sp>
        <p:nvSpPr>
          <p:cNvPr id="10" name="TextBox 10"/>
          <p:cNvSpPr txBox="1"/>
          <p:nvPr/>
        </p:nvSpPr>
        <p:spPr>
          <a:xfrm>
            <a:off x="1203923" y="1438957"/>
            <a:ext cx="590791" cy="788421"/>
          </a:xfrm>
          <a:prstGeom prst="rect">
            <a:avLst/>
          </a:prstGeom>
        </p:spPr>
        <p:txBody>
          <a:bodyPr lIns="0" tIns="0" rIns="0" bIns="0" rtlCol="0" anchor="t">
            <a:spAutoFit/>
          </a:bodyPr>
          <a:lstStyle/>
          <a:p>
            <a:pPr algn="ctr" defTabSz="609630">
              <a:lnSpc>
                <a:spcPts val="6720"/>
              </a:lnSpc>
            </a:pPr>
            <a:r>
              <a:rPr lang="en-US" sz="4800">
                <a:solidFill>
                  <a:srgbClr val="322F2A"/>
                </a:solidFill>
                <a:latin typeface="Oswald"/>
                <a:ea typeface="Oswald"/>
                <a:cs typeface="Oswald"/>
                <a:sym typeface="Oswald"/>
              </a:rPr>
              <a:t>1.</a:t>
            </a:r>
          </a:p>
        </p:txBody>
      </p:sp>
      <p:sp>
        <p:nvSpPr>
          <p:cNvPr id="11" name="TextBox 11"/>
          <p:cNvSpPr txBox="1"/>
          <p:nvPr/>
        </p:nvSpPr>
        <p:spPr>
          <a:xfrm>
            <a:off x="6632244" y="1438957"/>
            <a:ext cx="590791" cy="788421"/>
          </a:xfrm>
          <a:prstGeom prst="rect">
            <a:avLst/>
          </a:prstGeom>
        </p:spPr>
        <p:txBody>
          <a:bodyPr lIns="0" tIns="0" rIns="0" bIns="0" rtlCol="0" anchor="t">
            <a:spAutoFit/>
          </a:bodyPr>
          <a:lstStyle/>
          <a:p>
            <a:pPr algn="ctr" defTabSz="609630">
              <a:lnSpc>
                <a:spcPts val="6720"/>
              </a:lnSpc>
            </a:pPr>
            <a:r>
              <a:rPr lang="en-US" sz="4800">
                <a:solidFill>
                  <a:srgbClr val="322F2A"/>
                </a:solidFill>
                <a:latin typeface="Oswald"/>
                <a:ea typeface="Oswald"/>
                <a:cs typeface="Oswald"/>
                <a:sym typeface="Oswald"/>
              </a:rPr>
              <a:t>2.</a:t>
            </a:r>
          </a:p>
        </p:txBody>
      </p:sp>
      <p:sp>
        <p:nvSpPr>
          <p:cNvPr id="12" name="TextBox 12"/>
          <p:cNvSpPr txBox="1"/>
          <p:nvPr/>
        </p:nvSpPr>
        <p:spPr>
          <a:xfrm>
            <a:off x="1203923" y="4739194"/>
            <a:ext cx="590791" cy="788421"/>
          </a:xfrm>
          <a:prstGeom prst="rect">
            <a:avLst/>
          </a:prstGeom>
        </p:spPr>
        <p:txBody>
          <a:bodyPr lIns="0" tIns="0" rIns="0" bIns="0" rtlCol="0" anchor="t">
            <a:spAutoFit/>
          </a:bodyPr>
          <a:lstStyle/>
          <a:p>
            <a:pPr algn="ctr" defTabSz="609630">
              <a:lnSpc>
                <a:spcPts val="6720"/>
              </a:lnSpc>
            </a:pPr>
            <a:r>
              <a:rPr lang="en-US" sz="4800">
                <a:solidFill>
                  <a:srgbClr val="322F2A"/>
                </a:solidFill>
                <a:latin typeface="Oswald"/>
                <a:ea typeface="Oswald"/>
                <a:cs typeface="Oswald"/>
                <a:sym typeface="Oswald"/>
              </a:rPr>
              <a:t>3.</a:t>
            </a:r>
          </a:p>
        </p:txBody>
      </p:sp>
      <p:sp>
        <p:nvSpPr>
          <p:cNvPr id="13" name="TextBox 13"/>
          <p:cNvSpPr txBox="1"/>
          <p:nvPr/>
        </p:nvSpPr>
        <p:spPr>
          <a:xfrm>
            <a:off x="6500647" y="4556007"/>
            <a:ext cx="590791" cy="788421"/>
          </a:xfrm>
          <a:prstGeom prst="rect">
            <a:avLst/>
          </a:prstGeom>
        </p:spPr>
        <p:txBody>
          <a:bodyPr lIns="0" tIns="0" rIns="0" bIns="0" rtlCol="0" anchor="t">
            <a:spAutoFit/>
          </a:bodyPr>
          <a:lstStyle/>
          <a:p>
            <a:pPr algn="ctr" defTabSz="609630">
              <a:lnSpc>
                <a:spcPts val="6720"/>
              </a:lnSpc>
            </a:pPr>
            <a:r>
              <a:rPr lang="en-US" sz="4800">
                <a:solidFill>
                  <a:srgbClr val="322F2A"/>
                </a:solidFill>
                <a:latin typeface="Oswald"/>
                <a:ea typeface="Oswald"/>
                <a:cs typeface="Oswald"/>
                <a:sym typeface="Oswald"/>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85800" y="848463"/>
            <a:ext cx="2634314" cy="1283629"/>
          </a:xfrm>
          <a:custGeom>
            <a:avLst/>
            <a:gdLst/>
            <a:ahLst/>
            <a:cxnLst/>
            <a:rect l="l" t="t" r="r" b="b"/>
            <a:pathLst>
              <a:path w="3951471" h="1925444">
                <a:moveTo>
                  <a:pt x="0" y="0"/>
                </a:moveTo>
                <a:lnTo>
                  <a:pt x="3951471" y="0"/>
                </a:lnTo>
                <a:lnTo>
                  <a:pt x="3951471" y="1925444"/>
                </a:lnTo>
                <a:lnTo>
                  <a:pt x="0" y="19254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850733" y="641046"/>
            <a:ext cx="344567" cy="559033"/>
          </a:xfrm>
          <a:custGeom>
            <a:avLst/>
            <a:gdLst/>
            <a:ahLst/>
            <a:cxnLst/>
            <a:rect l="l" t="t" r="r" b="b"/>
            <a:pathLst>
              <a:path w="516851" h="838550">
                <a:moveTo>
                  <a:pt x="0" y="0"/>
                </a:moveTo>
                <a:lnTo>
                  <a:pt x="516851" y="0"/>
                </a:lnTo>
                <a:lnTo>
                  <a:pt x="516851" y="838550"/>
                </a:lnTo>
                <a:lnTo>
                  <a:pt x="0" y="8385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800850" y="3558948"/>
            <a:ext cx="2201833" cy="1072893"/>
          </a:xfrm>
          <a:custGeom>
            <a:avLst/>
            <a:gdLst/>
            <a:ahLst/>
            <a:cxnLst/>
            <a:rect l="l" t="t" r="r" b="b"/>
            <a:pathLst>
              <a:path w="3302749" h="1609340">
                <a:moveTo>
                  <a:pt x="0" y="0"/>
                </a:moveTo>
                <a:lnTo>
                  <a:pt x="3302749" y="0"/>
                </a:lnTo>
                <a:lnTo>
                  <a:pt x="3302749" y="1609340"/>
                </a:lnTo>
                <a:lnTo>
                  <a:pt x="0" y="1609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850733" y="3504612"/>
            <a:ext cx="344567" cy="559033"/>
          </a:xfrm>
          <a:custGeom>
            <a:avLst/>
            <a:gdLst/>
            <a:ahLst/>
            <a:cxnLst/>
            <a:rect l="l" t="t" r="r" b="b"/>
            <a:pathLst>
              <a:path w="516851" h="838550">
                <a:moveTo>
                  <a:pt x="0" y="0"/>
                </a:moveTo>
                <a:lnTo>
                  <a:pt x="516851" y="0"/>
                </a:lnTo>
                <a:lnTo>
                  <a:pt x="516851" y="838550"/>
                </a:lnTo>
                <a:lnTo>
                  <a:pt x="0" y="8385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rot="383362">
            <a:off x="3874515" y="-624642"/>
            <a:ext cx="2353695" cy="2391265"/>
          </a:xfrm>
          <a:custGeom>
            <a:avLst/>
            <a:gdLst/>
            <a:ahLst/>
            <a:cxnLst/>
            <a:rect l="l" t="t" r="r" b="b"/>
            <a:pathLst>
              <a:path w="3530543" h="3727061">
                <a:moveTo>
                  <a:pt x="0" y="0"/>
                </a:moveTo>
                <a:lnTo>
                  <a:pt x="3530543" y="0"/>
                </a:lnTo>
                <a:lnTo>
                  <a:pt x="3530543" y="3727061"/>
                </a:lnTo>
                <a:lnTo>
                  <a:pt x="0" y="372706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4946965" y="3862006"/>
            <a:ext cx="1149035" cy="917139"/>
          </a:xfrm>
          <a:custGeom>
            <a:avLst/>
            <a:gdLst/>
            <a:ahLst/>
            <a:cxnLst/>
            <a:rect l="l" t="t" r="r" b="b"/>
            <a:pathLst>
              <a:path w="1723552" h="1375708">
                <a:moveTo>
                  <a:pt x="0" y="0"/>
                </a:moveTo>
                <a:lnTo>
                  <a:pt x="1723552" y="0"/>
                </a:lnTo>
                <a:lnTo>
                  <a:pt x="1723552" y="1375708"/>
                </a:lnTo>
                <a:lnTo>
                  <a:pt x="0" y="137570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3" name="TextBox 13"/>
          <p:cNvSpPr txBox="1"/>
          <p:nvPr/>
        </p:nvSpPr>
        <p:spPr>
          <a:xfrm>
            <a:off x="901224" y="2164909"/>
            <a:ext cx="4432717" cy="1383584"/>
          </a:xfrm>
          <a:prstGeom prst="rect">
            <a:avLst/>
          </a:prstGeom>
        </p:spPr>
        <p:txBody>
          <a:bodyPr lIns="0" tIns="0" rIns="0" bIns="0" rtlCol="0" anchor="t">
            <a:spAutoFit/>
          </a:bodyPr>
          <a:lstStyle/>
          <a:p>
            <a:pPr marL="321581" lvl="1" indent="-160791" algn="just" defTabSz="609630">
              <a:lnSpc>
                <a:spcPts val="2234"/>
              </a:lnSpc>
              <a:buFont typeface="Arial"/>
              <a:buChar char="•"/>
            </a:pPr>
            <a:r>
              <a:rPr lang="en-US">
                <a:solidFill>
                  <a:srgbClr val="000000"/>
                </a:solidFill>
                <a:latin typeface="Times New Roman" panose="02020603050405020304" pitchFamily="18" charset="0"/>
                <a:ea typeface="Quicksand"/>
                <a:cs typeface="Times New Roman" panose="02020603050405020304" pitchFamily="18" charset="0"/>
                <a:sym typeface="Quicksand"/>
              </a:rPr>
              <a:t>General polypharmacy risk detection</a:t>
            </a:r>
          </a:p>
          <a:p>
            <a:pPr marL="321581" lvl="1" indent="-160791" algn="just" defTabSz="609630">
              <a:lnSpc>
                <a:spcPts val="2234"/>
              </a:lnSpc>
              <a:buFont typeface="Arial"/>
              <a:buChar char="•"/>
            </a:pPr>
            <a:r>
              <a:rPr lang="en-US">
                <a:solidFill>
                  <a:srgbClr val="000000"/>
                </a:solidFill>
                <a:latin typeface="Times New Roman" panose="02020603050405020304" pitchFamily="18" charset="0"/>
                <a:ea typeface="Quicksand"/>
                <a:cs typeface="Times New Roman" panose="02020603050405020304" pitchFamily="18" charset="0"/>
                <a:sym typeface="Quicksand"/>
              </a:rPr>
              <a:t>Nutritional guidance without integration to medication profiles</a:t>
            </a:r>
          </a:p>
          <a:p>
            <a:pPr marL="321581" lvl="1" indent="-160791" algn="just" defTabSz="609630">
              <a:lnSpc>
                <a:spcPts val="2234"/>
              </a:lnSpc>
              <a:buFont typeface="Arial"/>
              <a:buChar char="•"/>
            </a:pPr>
            <a:r>
              <a:rPr lang="en-US">
                <a:solidFill>
                  <a:srgbClr val="000000"/>
                </a:solidFill>
                <a:latin typeface="Times New Roman" panose="02020603050405020304" pitchFamily="18" charset="0"/>
                <a:ea typeface="Quicksand"/>
                <a:cs typeface="Times New Roman" panose="02020603050405020304" pitchFamily="18" charset="0"/>
                <a:sym typeface="Quicksand"/>
              </a:rPr>
              <a:t>Isolated AI models lacking personalization</a:t>
            </a:r>
          </a:p>
          <a:p>
            <a:pPr algn="just" defTabSz="609630">
              <a:lnSpc>
                <a:spcPts val="2234"/>
              </a:lnSpc>
            </a:pPr>
            <a:endParaRPr lang="en-US">
              <a:solidFill>
                <a:srgbClr val="000000"/>
              </a:solidFill>
              <a:latin typeface="Times New Roman" panose="02020603050405020304" pitchFamily="18" charset="0"/>
              <a:ea typeface="Quicksand"/>
              <a:cs typeface="Times New Roman" panose="02020603050405020304" pitchFamily="18" charset="0"/>
              <a:sym typeface="Quicksand"/>
            </a:endParaRPr>
          </a:p>
        </p:txBody>
      </p:sp>
      <p:sp>
        <p:nvSpPr>
          <p:cNvPr id="14" name="TextBox 14"/>
          <p:cNvSpPr txBox="1"/>
          <p:nvPr/>
        </p:nvSpPr>
        <p:spPr>
          <a:xfrm>
            <a:off x="884555" y="1200768"/>
            <a:ext cx="2264222" cy="487313"/>
          </a:xfrm>
          <a:prstGeom prst="rect">
            <a:avLst/>
          </a:prstGeom>
        </p:spPr>
        <p:txBody>
          <a:bodyPr lIns="0" tIns="0" rIns="0" bIns="0" rtlCol="0" anchor="t">
            <a:spAutoFit/>
          </a:bodyPr>
          <a:lstStyle/>
          <a:p>
            <a:pPr algn="ctr" defTabSz="609630">
              <a:lnSpc>
                <a:spcPts val="1904"/>
              </a:lnSpc>
            </a:pPr>
            <a:r>
              <a:rPr lang="en-US" sz="1963">
                <a:solidFill>
                  <a:srgbClr val="000000"/>
                </a:solidFill>
                <a:latin typeface="Times New Roman" panose="02020603050405020304" pitchFamily="18" charset="0"/>
                <a:ea typeface="BM Hanna"/>
                <a:cs typeface="Times New Roman" panose="02020603050405020304" pitchFamily="18" charset="0"/>
                <a:sym typeface="BM Hanna"/>
              </a:rPr>
              <a:t>🔎 Previous studies focused mainly on :</a:t>
            </a:r>
          </a:p>
        </p:txBody>
      </p:sp>
      <p:sp>
        <p:nvSpPr>
          <p:cNvPr id="15" name="TextBox 15"/>
          <p:cNvSpPr txBox="1"/>
          <p:nvPr/>
        </p:nvSpPr>
        <p:spPr>
          <a:xfrm>
            <a:off x="884555" y="4642296"/>
            <a:ext cx="4432717" cy="1956946"/>
          </a:xfrm>
          <a:prstGeom prst="rect">
            <a:avLst/>
          </a:prstGeom>
        </p:spPr>
        <p:txBody>
          <a:bodyPr lIns="0" tIns="0" rIns="0" bIns="0" rtlCol="0" anchor="t">
            <a:spAutoFit/>
          </a:bodyPr>
          <a:lstStyle/>
          <a:p>
            <a:pPr marL="321581" lvl="1" indent="-160791" algn="just" defTabSz="609630">
              <a:lnSpc>
                <a:spcPts val="2234"/>
              </a:lnSpc>
              <a:buFont typeface="Arial"/>
              <a:buChar char="•"/>
            </a:pPr>
            <a:r>
              <a:rPr lang="en-US">
                <a:solidFill>
                  <a:srgbClr val="000000"/>
                </a:solidFill>
                <a:latin typeface="Times New Roman" panose="02020603050405020304" pitchFamily="18" charset="0"/>
                <a:ea typeface="Quicksand"/>
                <a:cs typeface="Times New Roman" panose="02020603050405020304" pitchFamily="18" charset="0"/>
                <a:sym typeface="Quicksand"/>
              </a:rPr>
              <a:t>Limited focus on geriatric patients</a:t>
            </a:r>
          </a:p>
          <a:p>
            <a:pPr marL="321581" lvl="1" indent="-160791" algn="just" defTabSz="609630">
              <a:lnSpc>
                <a:spcPts val="2234"/>
              </a:lnSpc>
              <a:buFont typeface="Arial"/>
              <a:buChar char="•"/>
            </a:pPr>
            <a:r>
              <a:rPr lang="en-US">
                <a:solidFill>
                  <a:srgbClr val="000000"/>
                </a:solidFill>
                <a:latin typeface="Times New Roman" panose="02020603050405020304" pitchFamily="18" charset="0"/>
                <a:ea typeface="Quicksand"/>
                <a:cs typeface="Times New Roman" panose="02020603050405020304" pitchFamily="18" charset="0"/>
                <a:sym typeface="Quicksand"/>
              </a:rPr>
              <a:t>No combined system for drug interaction + vitamin deficiency monitoring + meal plan +life style guidance .</a:t>
            </a:r>
          </a:p>
          <a:p>
            <a:pPr marL="321581" lvl="1" indent="-160791" algn="just" defTabSz="609630">
              <a:lnSpc>
                <a:spcPts val="2234"/>
              </a:lnSpc>
              <a:buFont typeface="Arial"/>
              <a:buChar char="•"/>
            </a:pPr>
            <a:r>
              <a:rPr lang="en-US">
                <a:solidFill>
                  <a:srgbClr val="000000"/>
                </a:solidFill>
                <a:latin typeface="Times New Roman" panose="02020603050405020304" pitchFamily="18" charset="0"/>
                <a:ea typeface="Quicksand"/>
                <a:cs typeface="Times New Roman" panose="02020603050405020304" pitchFamily="18" charset="0"/>
                <a:sym typeface="Quicksand"/>
              </a:rPr>
              <a:t>Lack of real-time, personalized recommendations.</a:t>
            </a:r>
          </a:p>
          <a:p>
            <a:pPr algn="just" defTabSz="609630">
              <a:lnSpc>
                <a:spcPts val="2234"/>
              </a:lnSpc>
            </a:pPr>
            <a:endParaRPr lang="en-US">
              <a:solidFill>
                <a:srgbClr val="000000"/>
              </a:solidFill>
              <a:latin typeface="Quicksand"/>
              <a:ea typeface="Quicksand"/>
              <a:cs typeface="Quicksand"/>
              <a:sym typeface="Quicksand"/>
            </a:endParaRPr>
          </a:p>
        </p:txBody>
      </p:sp>
      <p:sp>
        <p:nvSpPr>
          <p:cNvPr id="16" name="TextBox 16"/>
          <p:cNvSpPr txBox="1"/>
          <p:nvPr/>
        </p:nvSpPr>
        <p:spPr>
          <a:xfrm>
            <a:off x="1068149" y="4120069"/>
            <a:ext cx="1934534" cy="245260"/>
          </a:xfrm>
          <a:prstGeom prst="rect">
            <a:avLst/>
          </a:prstGeom>
        </p:spPr>
        <p:txBody>
          <a:bodyPr wrap="square" lIns="0" tIns="0" rIns="0" bIns="0" rtlCol="0" anchor="t">
            <a:spAutoFit/>
          </a:bodyPr>
          <a:lstStyle/>
          <a:p>
            <a:pPr algn="ctr" defTabSz="609630">
              <a:lnSpc>
                <a:spcPts val="1789"/>
              </a:lnSpc>
            </a:pPr>
            <a:r>
              <a:rPr lang="en-US" sz="2400">
                <a:solidFill>
                  <a:srgbClr val="000000"/>
                </a:solidFill>
                <a:latin typeface="Times New Roman" panose="02020603050405020304" pitchFamily="18" charset="0"/>
                <a:ea typeface="BM Hanna"/>
                <a:cs typeface="Times New Roman" panose="02020603050405020304" pitchFamily="18" charset="0"/>
                <a:sym typeface="BM Hanna"/>
              </a:rPr>
              <a:t>Shortcomings</a:t>
            </a:r>
          </a:p>
        </p:txBody>
      </p:sp>
      <p:sp>
        <p:nvSpPr>
          <p:cNvPr id="17" name="TextBox 17"/>
          <p:cNvSpPr txBox="1"/>
          <p:nvPr/>
        </p:nvSpPr>
        <p:spPr>
          <a:xfrm>
            <a:off x="5620628" y="747097"/>
            <a:ext cx="5774780" cy="1328505"/>
          </a:xfrm>
          <a:prstGeom prst="rect">
            <a:avLst/>
          </a:prstGeom>
        </p:spPr>
        <p:txBody>
          <a:bodyPr lIns="0" tIns="0" rIns="0" bIns="0" rtlCol="0" anchor="t">
            <a:spAutoFit/>
          </a:bodyPr>
          <a:lstStyle/>
          <a:p>
            <a:pPr algn="ctr" defTabSz="609630">
              <a:lnSpc>
                <a:spcPts val="5439"/>
              </a:lnSpc>
            </a:pPr>
            <a:r>
              <a:rPr lang="en-US" sz="4000" b="1">
                <a:solidFill>
                  <a:schemeClr val="accent1">
                    <a:lumMod val="50000"/>
                  </a:schemeClr>
                </a:solidFill>
                <a:latin typeface="Cambria" panose="02040503050406030204" pitchFamily="18" charset="0"/>
                <a:ea typeface="Cambria" panose="02040503050406030204" pitchFamily="18" charset="0"/>
                <a:cs typeface="BM Hanna"/>
                <a:sym typeface="BM Hanna"/>
              </a:rPr>
              <a:t>Previous Research &amp; Shortcomings</a:t>
            </a:r>
          </a:p>
        </p:txBody>
      </p:sp>
      <p:sp>
        <p:nvSpPr>
          <p:cNvPr id="18" name="TextBox 18"/>
          <p:cNvSpPr txBox="1"/>
          <p:nvPr/>
        </p:nvSpPr>
        <p:spPr>
          <a:xfrm>
            <a:off x="7120051" y="4066580"/>
            <a:ext cx="4830195" cy="1750094"/>
          </a:xfrm>
          <a:prstGeom prst="rect">
            <a:avLst/>
          </a:prstGeom>
        </p:spPr>
        <p:txBody>
          <a:bodyPr lIns="0" tIns="0" rIns="0" bIns="0" rtlCol="0" anchor="t">
            <a:spAutoFit/>
          </a:bodyPr>
          <a:lstStyle/>
          <a:p>
            <a:pPr marL="332977" lvl="1" indent="-166489" algn="just" defTabSz="609630">
              <a:lnSpc>
                <a:spcPts val="2313"/>
              </a:lnSpc>
              <a:buFont typeface="Arial"/>
              <a:buChar char="•"/>
            </a:pPr>
            <a:r>
              <a:rPr lang="en-US">
                <a:solidFill>
                  <a:srgbClr val="000000"/>
                </a:solidFill>
                <a:latin typeface="Times New Roman" panose="02020603050405020304" pitchFamily="18" charset="0"/>
                <a:ea typeface="Quicksand"/>
                <a:cs typeface="Times New Roman" panose="02020603050405020304" pitchFamily="18" charset="0"/>
                <a:sym typeface="Quicksand"/>
              </a:rPr>
              <a:t>Integrating polypharmacy risk scoring with vitamin deficiency detection</a:t>
            </a:r>
          </a:p>
          <a:p>
            <a:pPr marL="332977" lvl="1" indent="-166489" algn="just" defTabSz="609630">
              <a:lnSpc>
                <a:spcPts val="2313"/>
              </a:lnSpc>
              <a:buFont typeface="Arial"/>
              <a:buChar char="•"/>
            </a:pPr>
            <a:r>
              <a:rPr lang="en-US">
                <a:solidFill>
                  <a:srgbClr val="000000"/>
                </a:solidFill>
                <a:latin typeface="Times New Roman" panose="02020603050405020304" pitchFamily="18" charset="0"/>
                <a:ea typeface="Quicksand"/>
                <a:cs typeface="Times New Roman" panose="02020603050405020304" pitchFamily="18" charset="0"/>
                <a:sym typeface="Quicksand"/>
              </a:rPr>
              <a:t>Providing personalized meal plans &amp; lifestyle guidance</a:t>
            </a:r>
          </a:p>
          <a:p>
            <a:pPr marL="332977" lvl="1" indent="-166489" algn="just" defTabSz="609630">
              <a:lnSpc>
                <a:spcPts val="2313"/>
              </a:lnSpc>
              <a:buFont typeface="Arial"/>
              <a:buChar char="•"/>
            </a:pPr>
            <a:r>
              <a:rPr lang="en-US">
                <a:solidFill>
                  <a:srgbClr val="000000"/>
                </a:solidFill>
                <a:latin typeface="Times New Roman" panose="02020603050405020304" pitchFamily="18" charset="0"/>
                <a:ea typeface="Quicksand"/>
                <a:cs typeface="Times New Roman" panose="02020603050405020304" pitchFamily="18" charset="0"/>
                <a:sym typeface="Quicksand"/>
              </a:rPr>
              <a:t>Using AI-driven, patient-centered design</a:t>
            </a:r>
          </a:p>
          <a:p>
            <a:pPr algn="just" defTabSz="609630">
              <a:lnSpc>
                <a:spcPts val="2313"/>
              </a:lnSpc>
            </a:pPr>
            <a:endParaRPr lang="en-US">
              <a:solidFill>
                <a:srgbClr val="000000"/>
              </a:solidFill>
              <a:latin typeface="Times New Roman" panose="02020603050405020304" pitchFamily="18" charset="0"/>
              <a:ea typeface="Quicksand"/>
              <a:cs typeface="Times New Roman" panose="02020603050405020304" pitchFamily="18" charset="0"/>
              <a:sym typeface="Quicksand"/>
            </a:endParaRPr>
          </a:p>
        </p:txBody>
      </p:sp>
      <p:sp>
        <p:nvSpPr>
          <p:cNvPr id="19" name="Freeform 19"/>
          <p:cNvSpPr/>
          <p:nvPr/>
        </p:nvSpPr>
        <p:spPr>
          <a:xfrm>
            <a:off x="6565900" y="2968166"/>
            <a:ext cx="2201833" cy="1072893"/>
          </a:xfrm>
          <a:custGeom>
            <a:avLst/>
            <a:gdLst/>
            <a:ahLst/>
            <a:cxnLst/>
            <a:rect l="l" t="t" r="r" b="b"/>
            <a:pathLst>
              <a:path w="3302749" h="1609340">
                <a:moveTo>
                  <a:pt x="0" y="0"/>
                </a:moveTo>
                <a:lnTo>
                  <a:pt x="3302749" y="0"/>
                </a:lnTo>
                <a:lnTo>
                  <a:pt x="3302749" y="1609339"/>
                </a:lnTo>
                <a:lnTo>
                  <a:pt x="0" y="16093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TextBox 20"/>
          <p:cNvSpPr txBox="1"/>
          <p:nvPr/>
        </p:nvSpPr>
        <p:spPr>
          <a:xfrm>
            <a:off x="6825616" y="3214984"/>
            <a:ext cx="1682402" cy="461665"/>
          </a:xfrm>
          <a:prstGeom prst="rect">
            <a:avLst/>
          </a:prstGeom>
        </p:spPr>
        <p:txBody>
          <a:bodyPr lIns="0" tIns="0" rIns="0" bIns="0" rtlCol="0" anchor="t">
            <a:spAutoFit/>
          </a:bodyPr>
          <a:lstStyle/>
          <a:p>
            <a:pPr algn="ctr" defTabSz="609630">
              <a:lnSpc>
                <a:spcPts val="1789"/>
              </a:lnSpc>
            </a:pPr>
            <a:r>
              <a:rPr lang="en-US" sz="1966">
                <a:solidFill>
                  <a:srgbClr val="000000"/>
                </a:solidFill>
                <a:latin typeface="Times New Roman" panose="02020603050405020304" pitchFamily="18" charset="0"/>
                <a:ea typeface="BM Hanna"/>
                <a:cs typeface="Times New Roman" panose="02020603050405020304" pitchFamily="18" charset="0"/>
                <a:sym typeface="BM Hanna"/>
              </a:rPr>
              <a:t>💡 Our Approach: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10006187" y="-182015"/>
            <a:ext cx="2616327" cy="2743200"/>
          </a:xfrm>
          <a:custGeom>
            <a:avLst/>
            <a:gdLst/>
            <a:ahLst/>
            <a:cxnLst/>
            <a:rect l="l" t="t" r="r" b="b"/>
            <a:pathLst>
              <a:path w="3924490" h="4114800">
                <a:moveTo>
                  <a:pt x="0" y="0"/>
                </a:moveTo>
                <a:lnTo>
                  <a:pt x="3924490" y="0"/>
                </a:lnTo>
                <a:lnTo>
                  <a:pt x="392449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0863479" y="599732"/>
            <a:ext cx="623671" cy="155918"/>
          </a:xfrm>
          <a:custGeom>
            <a:avLst/>
            <a:gdLst/>
            <a:ahLst/>
            <a:cxnLst/>
            <a:rect l="l" t="t" r="r" b="b"/>
            <a:pathLst>
              <a:path w="935507" h="233877">
                <a:moveTo>
                  <a:pt x="0" y="0"/>
                </a:moveTo>
                <a:lnTo>
                  <a:pt x="935507" y="0"/>
                </a:lnTo>
                <a:lnTo>
                  <a:pt x="935507" y="233877"/>
                </a:lnTo>
                <a:lnTo>
                  <a:pt x="0" y="233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9566788" y="4586472"/>
            <a:ext cx="1989304" cy="1422352"/>
          </a:xfrm>
          <a:custGeom>
            <a:avLst/>
            <a:gdLst/>
            <a:ahLst/>
            <a:cxnLst/>
            <a:rect l="l" t="t" r="r" b="b"/>
            <a:pathLst>
              <a:path w="2983956" h="2133528">
                <a:moveTo>
                  <a:pt x="0" y="0"/>
                </a:moveTo>
                <a:lnTo>
                  <a:pt x="2983956" y="0"/>
                </a:lnTo>
                <a:lnTo>
                  <a:pt x="2983956" y="2133529"/>
                </a:lnTo>
                <a:lnTo>
                  <a:pt x="0" y="213352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TextBox 8"/>
          <p:cNvSpPr txBox="1"/>
          <p:nvPr/>
        </p:nvSpPr>
        <p:spPr>
          <a:xfrm>
            <a:off x="801585" y="737238"/>
            <a:ext cx="9204602" cy="570734"/>
          </a:xfrm>
          <a:prstGeom prst="rect">
            <a:avLst/>
          </a:prstGeom>
        </p:spPr>
        <p:txBody>
          <a:bodyPr lIns="0" tIns="0" rIns="0" bIns="0" rtlCol="0" anchor="t">
            <a:spAutoFit/>
          </a:bodyPr>
          <a:lstStyle/>
          <a:p>
            <a:pPr algn="ctr">
              <a:lnSpc>
                <a:spcPts val="4779"/>
              </a:lnSpc>
            </a:pPr>
            <a:r>
              <a:rPr lang="en-US" sz="3734" b="1">
                <a:solidFill>
                  <a:schemeClr val="accent1">
                    <a:lumMod val="50000"/>
                  </a:schemeClr>
                </a:solidFill>
                <a:latin typeface="Cambria" panose="02040503050406030204" pitchFamily="18" charset="0"/>
                <a:ea typeface="Cambria" panose="02040503050406030204" pitchFamily="18" charset="0"/>
                <a:cs typeface="Montserrat Heavy"/>
                <a:sym typeface="Montserrat Heavy"/>
              </a:rPr>
              <a:t>CONSTRAINTS &amp; LIMITATIONS</a:t>
            </a:r>
          </a:p>
        </p:txBody>
      </p:sp>
      <p:sp>
        <p:nvSpPr>
          <p:cNvPr id="9" name="TextBox 9"/>
          <p:cNvSpPr txBox="1"/>
          <p:nvPr/>
        </p:nvSpPr>
        <p:spPr>
          <a:xfrm>
            <a:off x="423287" y="2045505"/>
            <a:ext cx="10968337" cy="3384709"/>
          </a:xfrm>
          <a:prstGeom prst="rect">
            <a:avLst/>
          </a:prstGeom>
        </p:spPr>
        <p:txBody>
          <a:bodyPr lIns="0" tIns="0" rIns="0" bIns="0" rtlCol="0" anchor="t">
            <a:spAutoFit/>
          </a:bodyPr>
          <a:lstStyle/>
          <a:p>
            <a:pPr algn="just">
              <a:lnSpc>
                <a:spcPts val="4400"/>
              </a:lnSpc>
            </a:pPr>
            <a:r>
              <a:rPr lang="en-US" sz="2199">
                <a:solidFill>
                  <a:srgbClr val="000000"/>
                </a:solidFill>
                <a:latin typeface="Times New Roman" panose="02020603050405020304" pitchFamily="18" charset="0"/>
                <a:ea typeface="Lato"/>
                <a:cs typeface="Times New Roman" panose="02020603050405020304" pitchFamily="18" charset="0"/>
                <a:sym typeface="Lato"/>
              </a:rPr>
              <a:t>📉 </a:t>
            </a:r>
            <a:r>
              <a:rPr lang="en-US" sz="2199" b="1">
                <a:solidFill>
                  <a:srgbClr val="000000"/>
                </a:solidFill>
                <a:latin typeface="Times New Roman" panose="02020603050405020304" pitchFamily="18" charset="0"/>
                <a:ea typeface="Lato Bold"/>
                <a:cs typeface="Times New Roman" panose="02020603050405020304" pitchFamily="18" charset="0"/>
                <a:sym typeface="Lato Bold"/>
              </a:rPr>
              <a:t>Data Constraints</a:t>
            </a:r>
            <a:r>
              <a:rPr lang="en-US" sz="2199">
                <a:solidFill>
                  <a:srgbClr val="000000"/>
                </a:solidFill>
                <a:latin typeface="Times New Roman" panose="02020603050405020304" pitchFamily="18" charset="0"/>
                <a:ea typeface="Lato"/>
                <a:cs typeface="Times New Roman" panose="02020603050405020304" pitchFamily="18" charset="0"/>
                <a:sym typeface="Lato"/>
              </a:rPr>
              <a:t> – limited availability of high-quality, longitudinal datasets</a:t>
            </a:r>
          </a:p>
          <a:p>
            <a:pPr algn="just">
              <a:lnSpc>
                <a:spcPts val="4400"/>
              </a:lnSpc>
            </a:pPr>
            <a:r>
              <a:rPr lang="en-US" sz="2199">
                <a:solidFill>
                  <a:srgbClr val="000000"/>
                </a:solidFill>
                <a:latin typeface="Times New Roman" panose="02020603050405020304" pitchFamily="18" charset="0"/>
                <a:ea typeface="Lato"/>
                <a:cs typeface="Times New Roman" panose="02020603050405020304" pitchFamily="18" charset="0"/>
                <a:sym typeface="Lato"/>
              </a:rPr>
              <a:t>🧪 </a:t>
            </a:r>
            <a:r>
              <a:rPr lang="en-US" sz="2199" b="1">
                <a:solidFill>
                  <a:srgbClr val="000000"/>
                </a:solidFill>
                <a:latin typeface="Times New Roman" panose="02020603050405020304" pitchFamily="18" charset="0"/>
                <a:ea typeface="Lato Bold"/>
                <a:cs typeface="Times New Roman" panose="02020603050405020304" pitchFamily="18" charset="0"/>
                <a:sym typeface="Lato Bold"/>
              </a:rPr>
              <a:t>Validation Challenges </a:t>
            </a:r>
            <a:r>
              <a:rPr lang="en-US" sz="2199">
                <a:solidFill>
                  <a:srgbClr val="000000"/>
                </a:solidFill>
                <a:latin typeface="Times New Roman" panose="02020603050405020304" pitchFamily="18" charset="0"/>
                <a:ea typeface="Lato"/>
                <a:cs typeface="Times New Roman" panose="02020603050405020304" pitchFamily="18" charset="0"/>
                <a:sym typeface="Lato"/>
              </a:rPr>
              <a:t>– need for clinical trials to confirm accuracy and safety</a:t>
            </a:r>
          </a:p>
          <a:p>
            <a:pPr algn="just">
              <a:lnSpc>
                <a:spcPts val="4533"/>
              </a:lnSpc>
            </a:pPr>
            <a:r>
              <a:rPr lang="en-US" sz="2266">
                <a:solidFill>
                  <a:srgbClr val="000000"/>
                </a:solidFill>
                <a:latin typeface="Times New Roman" panose="02020603050405020304" pitchFamily="18" charset="0"/>
                <a:ea typeface="Lato"/>
                <a:cs typeface="Times New Roman" panose="02020603050405020304" pitchFamily="18" charset="0"/>
                <a:sym typeface="Lato"/>
              </a:rPr>
              <a:t>💻 </a:t>
            </a:r>
            <a:r>
              <a:rPr lang="en-US" sz="2266" b="1">
                <a:solidFill>
                  <a:srgbClr val="000000"/>
                </a:solidFill>
                <a:latin typeface="Times New Roman" panose="02020603050405020304" pitchFamily="18" charset="0"/>
                <a:ea typeface="Lato Bold"/>
                <a:cs typeface="Times New Roman" panose="02020603050405020304" pitchFamily="18" charset="0"/>
                <a:sym typeface="Lato Bold"/>
              </a:rPr>
              <a:t>Tech Limitations</a:t>
            </a:r>
            <a:r>
              <a:rPr lang="en-US" sz="2266">
                <a:solidFill>
                  <a:srgbClr val="000000"/>
                </a:solidFill>
                <a:latin typeface="Times New Roman" panose="02020603050405020304" pitchFamily="18" charset="0"/>
                <a:ea typeface="Lato"/>
                <a:cs typeface="Times New Roman" panose="02020603050405020304" pitchFamily="18" charset="0"/>
                <a:sym typeface="Lato"/>
              </a:rPr>
              <a:t> – dependency on AI/ML accuracy and potential bias</a:t>
            </a:r>
          </a:p>
          <a:p>
            <a:pPr algn="just">
              <a:lnSpc>
                <a:spcPts val="4400"/>
              </a:lnSpc>
            </a:pPr>
            <a:r>
              <a:rPr lang="en-US" sz="2199">
                <a:solidFill>
                  <a:srgbClr val="000000"/>
                </a:solidFill>
                <a:latin typeface="Times New Roman" panose="02020603050405020304" pitchFamily="18" charset="0"/>
                <a:ea typeface="Lato"/>
                <a:cs typeface="Times New Roman" panose="02020603050405020304" pitchFamily="18" charset="0"/>
                <a:sym typeface="Lato"/>
              </a:rPr>
              <a:t>👩‍⚕️ </a:t>
            </a:r>
            <a:r>
              <a:rPr lang="en-US" sz="2199" b="1">
                <a:solidFill>
                  <a:srgbClr val="000000"/>
                </a:solidFill>
                <a:latin typeface="Times New Roman" panose="02020603050405020304" pitchFamily="18" charset="0"/>
                <a:ea typeface="Lato Bold"/>
                <a:cs typeface="Times New Roman" panose="02020603050405020304" pitchFamily="18" charset="0"/>
                <a:sym typeface="Lato Bold"/>
              </a:rPr>
              <a:t>Adoption Barriers</a:t>
            </a:r>
            <a:r>
              <a:rPr lang="en-US" sz="2199">
                <a:solidFill>
                  <a:srgbClr val="000000"/>
                </a:solidFill>
                <a:latin typeface="Times New Roman" panose="02020603050405020304" pitchFamily="18" charset="0"/>
                <a:ea typeface="Lato"/>
                <a:cs typeface="Times New Roman" panose="02020603050405020304" pitchFamily="18" charset="0"/>
                <a:sym typeface="Lato"/>
              </a:rPr>
              <a:t> – resistance from patients/healthcare providers to new digital tools</a:t>
            </a:r>
          </a:p>
          <a:p>
            <a:pPr algn="just">
              <a:lnSpc>
                <a:spcPts val="4400"/>
              </a:lnSpc>
            </a:pPr>
            <a:r>
              <a:rPr lang="en-US" sz="2199">
                <a:solidFill>
                  <a:srgbClr val="000000"/>
                </a:solidFill>
                <a:latin typeface="Times New Roman" panose="02020603050405020304" pitchFamily="18" charset="0"/>
                <a:ea typeface="Lato"/>
                <a:cs typeface="Times New Roman" panose="02020603050405020304" pitchFamily="18" charset="0"/>
                <a:sym typeface="Lato"/>
              </a:rPr>
              <a:t>💰</a:t>
            </a:r>
            <a:r>
              <a:rPr lang="en-US" sz="2199" b="1">
                <a:solidFill>
                  <a:srgbClr val="000000"/>
                </a:solidFill>
                <a:latin typeface="Times New Roman" panose="02020603050405020304" pitchFamily="18" charset="0"/>
                <a:ea typeface="Lato Bold"/>
                <a:cs typeface="Times New Roman" panose="02020603050405020304" pitchFamily="18" charset="0"/>
                <a:sym typeface="Lato Bold"/>
              </a:rPr>
              <a:t> Resource Constraints</a:t>
            </a:r>
            <a:r>
              <a:rPr lang="en-US" sz="2199">
                <a:solidFill>
                  <a:srgbClr val="000000"/>
                </a:solidFill>
                <a:latin typeface="Times New Roman" panose="02020603050405020304" pitchFamily="18" charset="0"/>
                <a:ea typeface="Lato"/>
                <a:cs typeface="Times New Roman" panose="02020603050405020304" pitchFamily="18" charset="0"/>
                <a:sym typeface="Lato"/>
              </a:rPr>
              <a:t> – cost and infrastructure for large-scale deployment</a:t>
            </a:r>
          </a:p>
          <a:p>
            <a:pPr algn="just">
              <a:lnSpc>
                <a:spcPts val="5066"/>
              </a:lnSpc>
            </a:pPr>
            <a:endParaRPr lang="en-US" sz="2199">
              <a:solidFill>
                <a:srgbClr val="000000"/>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50E51-44A9-E9D0-4B44-5AEFE37CFFCD}"/>
              </a:ext>
            </a:extLst>
          </p:cNvPr>
          <p:cNvSpPr>
            <a:spLocks noGrp="1"/>
          </p:cNvSpPr>
          <p:nvPr>
            <p:ph type="title"/>
          </p:nvPr>
        </p:nvSpPr>
        <p:spPr>
          <a:xfrm>
            <a:off x="-1432560" y="-538480"/>
            <a:ext cx="11318240" cy="2072640"/>
          </a:xfrm>
        </p:spPr>
        <p:txBody>
          <a:bodyPr>
            <a:normAutofit/>
          </a:bodyPr>
          <a:lstStyle/>
          <a:p>
            <a:r>
              <a:rPr lang="en-US" sz="3600" b="1">
                <a:solidFill>
                  <a:schemeClr val="accent1">
                    <a:lumMod val="50000"/>
                  </a:schemeClr>
                </a:solidFill>
                <a:latin typeface="Cambria"/>
                <a:ea typeface="Cambria"/>
              </a:rPr>
              <a:t>Overall solution as a system diagram</a:t>
            </a:r>
            <a:endParaRPr lang="en-US" sz="3600" b="1">
              <a:solidFill>
                <a:schemeClr val="accent1">
                  <a:lumMod val="50000"/>
                </a:schemeClr>
              </a:solidFill>
            </a:endParaRPr>
          </a:p>
        </p:txBody>
      </p:sp>
      <p:pic>
        <p:nvPicPr>
          <p:cNvPr id="8" name="Content Placeholder 7" descr="A diagram of a system&#10;&#10;Description automatically generated">
            <a:extLst>
              <a:ext uri="{FF2B5EF4-FFF2-40B4-BE49-F238E27FC236}">
                <a16:creationId xmlns:a16="http://schemas.microsoft.com/office/drawing/2014/main" id="{B90C6648-31B5-53D9-76E2-078E69DD67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94991" y="984684"/>
            <a:ext cx="9002017" cy="5126777"/>
          </a:xfrm>
        </p:spPr>
      </p:pic>
    </p:spTree>
    <p:extLst>
      <p:ext uri="{BB962C8B-B14F-4D97-AF65-F5344CB8AC3E}">
        <p14:creationId xmlns:p14="http://schemas.microsoft.com/office/powerpoint/2010/main" val="3794602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a:xfrm>
            <a:off x="963084" y="4657901"/>
            <a:ext cx="10363200" cy="816863"/>
          </a:xfrm>
        </p:spPr>
        <p:txBody>
          <a:bodyPr/>
          <a:lstStyle/>
          <a:p>
            <a:r>
              <a:rPr lang="en-US"/>
              <a:t>It22600448 | Reshmi m g </a:t>
            </a:r>
            <a:r>
              <a:rPr lang="en-US" err="1"/>
              <a:t>g</a:t>
            </a:r>
            <a:r>
              <a:rPr lang="en-US"/>
              <a:t> k</a:t>
            </a:r>
          </a:p>
        </p:txBody>
      </p:sp>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a:xfrm>
            <a:off x="963084" y="5212080"/>
            <a:ext cx="10363200" cy="525368"/>
          </a:xfrm>
        </p:spPr>
        <p:txBody>
          <a:bodyPr/>
          <a:lstStyle/>
          <a:p>
            <a:r>
              <a:rPr lang="en-US" b="1">
                <a:solidFill>
                  <a:schemeClr val="tx1"/>
                </a:solidFill>
              </a:rPr>
              <a:t>Specialization : Information Technology</a:t>
            </a:r>
          </a:p>
        </p:txBody>
      </p:sp>
      <p:sp>
        <p:nvSpPr>
          <p:cNvPr id="4" name="Rectangle 3">
            <a:extLst>
              <a:ext uri="{FF2B5EF4-FFF2-40B4-BE49-F238E27FC236}">
                <a16:creationId xmlns:a16="http://schemas.microsoft.com/office/drawing/2014/main" id="{5FB98E66-DBD5-4B29-AC68-A58A70C64231}"/>
              </a:ext>
            </a:extLst>
          </p:cNvPr>
          <p:cNvSpPr/>
          <p:nvPr/>
        </p:nvSpPr>
        <p:spPr>
          <a:xfrm>
            <a:off x="2687817" y="6496051"/>
            <a:ext cx="6816365" cy="36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tx1"/>
                </a:solidFill>
                <a:effectLst/>
                <a:uLnTx/>
                <a:uFillTx/>
                <a:latin typeface="Cambria"/>
                <a:ea typeface="+mn-ea"/>
                <a:cs typeface="+mn-cs"/>
              </a:rPr>
              <a:t>IT22600448</a:t>
            </a:r>
            <a:r>
              <a:rPr kumimoji="0" lang="en-US" sz="1800" b="0" i="0" u="none" strike="noStrike" kern="1200" cap="none" spc="0" normalizeH="0" baseline="0" noProof="0">
                <a:ln>
                  <a:noFill/>
                </a:ln>
                <a:solidFill>
                  <a:schemeClr val="tx1"/>
                </a:solidFill>
                <a:effectLst/>
                <a:uLnTx/>
                <a:uFillTx/>
                <a:latin typeface="Cambria"/>
                <a:ea typeface="+mn-ea"/>
                <a:cs typeface="+mn-cs"/>
              </a:rPr>
              <a:t>   |   </a:t>
            </a:r>
            <a:r>
              <a:rPr kumimoji="0" lang="en-US" sz="1800" b="1" i="0" u="none" strike="noStrike" kern="1200" cap="none" spc="0" normalizeH="0" baseline="0" noProof="0">
                <a:ln>
                  <a:noFill/>
                </a:ln>
                <a:solidFill>
                  <a:schemeClr val="tx1"/>
                </a:solidFill>
                <a:effectLst/>
                <a:uLnTx/>
                <a:uFillTx/>
                <a:latin typeface="Cambria"/>
                <a:ea typeface="+mn-ea"/>
                <a:cs typeface="+mn-cs"/>
              </a:rPr>
              <a:t>Reshmi M.G.G.K   </a:t>
            </a:r>
            <a:r>
              <a:rPr kumimoji="0" lang="en-US" sz="1800" b="0" i="0" u="none" strike="noStrike" kern="1200" cap="none" spc="0" normalizeH="0" baseline="0" noProof="0">
                <a:ln>
                  <a:noFill/>
                </a:ln>
                <a:solidFill>
                  <a:schemeClr val="tx1"/>
                </a:solidFill>
                <a:effectLst/>
                <a:uLnTx/>
                <a:uFillTx/>
                <a:latin typeface="Cambria"/>
                <a:ea typeface="+mn-ea"/>
                <a:cs typeface="+mn-cs"/>
              </a:rPr>
              <a:t>|   25-26J-368</a:t>
            </a:r>
          </a:p>
        </p:txBody>
      </p:sp>
      <p:pic>
        <p:nvPicPr>
          <p:cNvPr id="3" name="Picture 2" descr="A person with long black hair">
            <a:extLst>
              <a:ext uri="{FF2B5EF4-FFF2-40B4-BE49-F238E27FC236}">
                <a16:creationId xmlns:a16="http://schemas.microsoft.com/office/drawing/2014/main" id="{DF5DD2A7-DB26-F531-754A-471AC2E3A4D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945" t="9" r="3181" b="-42"/>
          <a:stretch/>
        </p:blipFill>
        <p:spPr>
          <a:xfrm>
            <a:off x="10070451" y="140208"/>
            <a:ext cx="2060448" cy="2322576"/>
          </a:xfrm>
          <a:prstGeom prst="rect">
            <a:avLst/>
          </a:prstGeom>
        </p:spPr>
      </p:pic>
      <p:sp>
        <p:nvSpPr>
          <p:cNvPr id="7" name="TextBox 6">
            <a:extLst>
              <a:ext uri="{FF2B5EF4-FFF2-40B4-BE49-F238E27FC236}">
                <a16:creationId xmlns:a16="http://schemas.microsoft.com/office/drawing/2014/main" id="{ACF5844C-A4EE-5BEE-2502-838903FF7DB7}"/>
              </a:ext>
            </a:extLst>
          </p:cNvPr>
          <p:cNvSpPr txBox="1"/>
          <p:nvPr/>
        </p:nvSpPr>
        <p:spPr>
          <a:xfrm>
            <a:off x="963084" y="1256003"/>
            <a:ext cx="9107367" cy="1938992"/>
          </a:xfrm>
          <a:prstGeom prst="rect">
            <a:avLst/>
          </a:prstGeom>
          <a:noFill/>
        </p:spPr>
        <p:txBody>
          <a:bodyPr wrap="square">
            <a:sp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a:ln>
                  <a:noFill/>
                </a:ln>
                <a:effectLst/>
                <a:uLnTx/>
                <a:uFillTx/>
                <a:latin typeface="Adobe Devanagari"/>
                <a:ea typeface="+mj-ea"/>
                <a:cs typeface="Times New Roman"/>
              </a:rPr>
              <a:t>EARLY VITAMIN DEFICIENCY WARNING SYSTEM BASED ON SYMPTOMS AND LONG-TERM MEDICATION</a:t>
            </a:r>
            <a:endParaRPr kumimoji="0" lang="en-US" sz="4000" b="0" i="0" u="none" strike="noStrike" kern="1200" cap="none" spc="0" normalizeH="0" baseline="0" noProof="0">
              <a:ln>
                <a:noFill/>
              </a:ln>
              <a:effectLst/>
              <a:uLnTx/>
              <a:uFillTx/>
              <a:latin typeface="Adobe Devanagari"/>
              <a:ea typeface="+mj-ea"/>
              <a:cs typeface="Adobe Devanagari" pitchFamily="18" charset="0"/>
            </a:endParaRPr>
          </a:p>
        </p:txBody>
      </p:sp>
      <p:grpSp>
        <p:nvGrpSpPr>
          <p:cNvPr id="20" name="Group 19">
            <a:extLst>
              <a:ext uri="{FF2B5EF4-FFF2-40B4-BE49-F238E27FC236}">
                <a16:creationId xmlns:a16="http://schemas.microsoft.com/office/drawing/2014/main" id="{22284048-6AD8-27A3-7CC9-EA0EE6979853}"/>
              </a:ext>
            </a:extLst>
          </p:cNvPr>
          <p:cNvGrpSpPr/>
          <p:nvPr/>
        </p:nvGrpSpPr>
        <p:grpSpPr>
          <a:xfrm>
            <a:off x="0" y="-1"/>
            <a:ext cx="11573481" cy="6131850"/>
            <a:chOff x="0" y="-1"/>
            <a:chExt cx="11573481" cy="6131850"/>
          </a:xfrm>
        </p:grpSpPr>
        <p:sp>
          <p:nvSpPr>
            <p:cNvPr id="19" name="Half Frame 18">
              <a:extLst>
                <a:ext uri="{FF2B5EF4-FFF2-40B4-BE49-F238E27FC236}">
                  <a16:creationId xmlns:a16="http://schemas.microsoft.com/office/drawing/2014/main" id="{0963BD8A-13AF-AA05-48F9-FCB538BC7685}"/>
                </a:ext>
              </a:extLst>
            </p:cNvPr>
            <p:cNvSpPr/>
            <p:nvPr/>
          </p:nvSpPr>
          <p:spPr>
            <a:xfrm>
              <a:off x="0" y="-1"/>
              <a:ext cx="2891908" cy="1727765"/>
            </a:xfrm>
            <a:prstGeom prst="halfFrame">
              <a:avLst>
                <a:gd name="adj1" fmla="val 36142"/>
                <a:gd name="adj2" fmla="val 33333"/>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 name="Group 1">
              <a:extLst>
                <a:ext uri="{FF2B5EF4-FFF2-40B4-BE49-F238E27FC236}">
                  <a16:creationId xmlns:a16="http://schemas.microsoft.com/office/drawing/2014/main" id="{0E97330E-954A-5564-C0DE-3930CB963EC0}"/>
                </a:ext>
              </a:extLst>
            </p:cNvPr>
            <p:cNvGrpSpPr/>
            <p:nvPr/>
          </p:nvGrpSpPr>
          <p:grpSpPr>
            <a:xfrm>
              <a:off x="9368879" y="4211402"/>
              <a:ext cx="2204602" cy="1920447"/>
              <a:chOff x="9368879" y="4211402"/>
              <a:chExt cx="2204602" cy="1920447"/>
            </a:xfrm>
          </p:grpSpPr>
          <p:sp>
            <p:nvSpPr>
              <p:cNvPr id="15" name="Flowchart: Connector 14">
                <a:extLst>
                  <a:ext uri="{FF2B5EF4-FFF2-40B4-BE49-F238E27FC236}">
                    <a16:creationId xmlns:a16="http://schemas.microsoft.com/office/drawing/2014/main" id="{F7883A7D-D772-4DF8-DC4F-CB35E76A6B94}"/>
                  </a:ext>
                </a:extLst>
              </p:cNvPr>
              <p:cNvSpPr/>
              <p:nvPr/>
            </p:nvSpPr>
            <p:spPr>
              <a:xfrm>
                <a:off x="10446436" y="4368578"/>
                <a:ext cx="1127045" cy="1152961"/>
              </a:xfrm>
              <a:prstGeom prst="flowChartConnector">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6" name="Flowchart: Connector 15">
                <a:extLst>
                  <a:ext uri="{FF2B5EF4-FFF2-40B4-BE49-F238E27FC236}">
                    <a16:creationId xmlns:a16="http://schemas.microsoft.com/office/drawing/2014/main" id="{60A2D914-E1A8-3D96-CBFD-4A36BE471260}"/>
                  </a:ext>
                </a:extLst>
              </p:cNvPr>
              <p:cNvSpPr/>
              <p:nvPr/>
            </p:nvSpPr>
            <p:spPr>
              <a:xfrm>
                <a:off x="10066066" y="5454208"/>
                <a:ext cx="658021" cy="677641"/>
              </a:xfrm>
              <a:prstGeom prst="flowChartConnector">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7" name="Flowchart: Connector 16">
                <a:extLst>
                  <a:ext uri="{FF2B5EF4-FFF2-40B4-BE49-F238E27FC236}">
                    <a16:creationId xmlns:a16="http://schemas.microsoft.com/office/drawing/2014/main" id="{DC63FCB4-0C76-CA45-0602-6956DF777C99}"/>
                  </a:ext>
                </a:extLst>
              </p:cNvPr>
              <p:cNvSpPr/>
              <p:nvPr/>
            </p:nvSpPr>
            <p:spPr>
              <a:xfrm>
                <a:off x="9368879" y="4678037"/>
                <a:ext cx="810703" cy="814141"/>
              </a:xfrm>
              <a:prstGeom prst="flowChartConnector">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8" name="Flowchart: Connector 17">
                <a:extLst>
                  <a:ext uri="{FF2B5EF4-FFF2-40B4-BE49-F238E27FC236}">
                    <a16:creationId xmlns:a16="http://schemas.microsoft.com/office/drawing/2014/main" id="{F516CC92-23BF-6C12-7825-D68BCADBE775}"/>
                  </a:ext>
                </a:extLst>
              </p:cNvPr>
              <p:cNvSpPr/>
              <p:nvPr/>
            </p:nvSpPr>
            <p:spPr>
              <a:xfrm>
                <a:off x="10110704" y="4211402"/>
                <a:ext cx="335732" cy="338820"/>
              </a:xfrm>
              <a:prstGeom prst="flowChartConnector">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grpSp>
      </p:grpSp>
    </p:spTree>
    <p:extLst>
      <p:ext uri="{BB962C8B-B14F-4D97-AF65-F5344CB8AC3E}">
        <p14:creationId xmlns:p14="http://schemas.microsoft.com/office/powerpoint/2010/main" val="2475778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3728676706"/>
              </p:ext>
            </p:extLst>
          </p:nvPr>
        </p:nvGraphicFramePr>
        <p:xfrm>
          <a:off x="577515" y="930443"/>
          <a:ext cx="10668001" cy="5357061"/>
        </p:xfrm>
        <a:graphic>
          <a:graphicData uri="http://schemas.openxmlformats.org/drawingml/2006/table">
            <a:tbl>
              <a:tblPr/>
              <a:tblGrid>
                <a:gridCol w="2855496">
                  <a:extLst>
                    <a:ext uri="{9D8B030D-6E8A-4147-A177-3AD203B41FA5}">
                      <a16:colId xmlns:a16="http://schemas.microsoft.com/office/drawing/2014/main" val="20000"/>
                    </a:ext>
                  </a:extLst>
                </a:gridCol>
                <a:gridCol w="1490445">
                  <a:extLst>
                    <a:ext uri="{9D8B030D-6E8A-4147-A177-3AD203B41FA5}">
                      <a16:colId xmlns:a16="http://schemas.microsoft.com/office/drawing/2014/main" val="20001"/>
                    </a:ext>
                  </a:extLst>
                </a:gridCol>
                <a:gridCol w="1662801">
                  <a:extLst>
                    <a:ext uri="{9D8B030D-6E8A-4147-A177-3AD203B41FA5}">
                      <a16:colId xmlns:a16="http://schemas.microsoft.com/office/drawing/2014/main" val="20002"/>
                    </a:ext>
                  </a:extLst>
                </a:gridCol>
                <a:gridCol w="1679258">
                  <a:extLst>
                    <a:ext uri="{9D8B030D-6E8A-4147-A177-3AD203B41FA5}">
                      <a16:colId xmlns:a16="http://schemas.microsoft.com/office/drawing/2014/main" val="20003"/>
                    </a:ext>
                  </a:extLst>
                </a:gridCol>
                <a:gridCol w="1547601">
                  <a:extLst>
                    <a:ext uri="{9D8B030D-6E8A-4147-A177-3AD203B41FA5}">
                      <a16:colId xmlns:a16="http://schemas.microsoft.com/office/drawing/2014/main" val="20004"/>
                    </a:ext>
                  </a:extLst>
                </a:gridCol>
                <a:gridCol w="1432400">
                  <a:extLst>
                    <a:ext uri="{9D8B030D-6E8A-4147-A177-3AD203B41FA5}">
                      <a16:colId xmlns:a16="http://schemas.microsoft.com/office/drawing/2014/main" val="20005"/>
                    </a:ext>
                  </a:extLst>
                </a:gridCol>
              </a:tblGrid>
              <a:tr h="888486">
                <a:tc>
                  <a:txBody>
                    <a:bodyPr/>
                    <a:lstStyle/>
                    <a:p>
                      <a:pPr algn="ctr">
                        <a:lnSpc>
                          <a:spcPts val="2867"/>
                        </a:lnSpc>
                        <a:defRPr/>
                      </a:pPr>
                      <a:r>
                        <a:rPr lang="en-US" sz="1400" b="1">
                          <a:solidFill>
                            <a:srgbClr val="000000"/>
                          </a:solidFill>
                          <a:latin typeface="Times New Roman" panose="02020603050405020304" pitchFamily="18" charset="0"/>
                          <a:ea typeface="Poppins Bold"/>
                          <a:cs typeface="Times New Roman" panose="02020603050405020304" pitchFamily="18" charset="0"/>
                          <a:sym typeface="Poppins Bold"/>
                        </a:rPr>
                        <a:t>Feature / Aspect</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BCA37F"/>
                      </a:solidFill>
                      <a:prstDash val="solid"/>
                      <a:round/>
                      <a:headEnd type="none" w="med" len="med"/>
                      <a:tailEnd type="none" w="med" len="med"/>
                    </a:lnL>
                    <a:lnR w="38100" cap="flat" cmpd="sng" algn="ctr">
                      <a:solidFill>
                        <a:srgbClr val="BCA37F"/>
                      </a:solidFill>
                      <a:prstDash val="solid"/>
                      <a:round/>
                      <a:headEnd type="none" w="med" len="med"/>
                      <a:tailEnd type="none" w="med" len="med"/>
                    </a:lnR>
                    <a:lnT w="38100" cap="flat" cmpd="sng" algn="ctr">
                      <a:solidFill>
                        <a:srgbClr val="BCA37F"/>
                      </a:solidFill>
                      <a:prstDash val="solid"/>
                      <a:round/>
                      <a:headEnd type="none" w="med" len="med"/>
                      <a:tailEnd type="none" w="med" len="med"/>
                    </a:lnT>
                    <a:lnB w="38100" cap="flat" cmpd="sng" algn="ctr">
                      <a:solidFill>
                        <a:srgbClr val="BCA37F"/>
                      </a:solidFill>
                      <a:prstDash val="solid"/>
                      <a:round/>
                      <a:headEnd type="none" w="med" len="med"/>
                      <a:tailEnd type="none" w="med" len="med"/>
                    </a:lnB>
                    <a:solidFill>
                      <a:srgbClr val="6775CA"/>
                    </a:solidFill>
                  </a:tcPr>
                </a:tc>
                <a:tc>
                  <a:txBody>
                    <a:bodyPr/>
                    <a:lstStyle/>
                    <a:p>
                      <a:pPr algn="l">
                        <a:lnSpc>
                          <a:spcPts val="2029"/>
                        </a:lnSpc>
                        <a:defRPr/>
                      </a:pPr>
                      <a:r>
                        <a:rPr lang="en-US" sz="1000" b="1">
                          <a:solidFill>
                            <a:srgbClr val="000000"/>
                          </a:solidFill>
                          <a:latin typeface="Times New Roman" panose="02020603050405020304" pitchFamily="18" charset="0"/>
                          <a:ea typeface="Poppins Bold"/>
                          <a:cs typeface="Times New Roman" panose="02020603050405020304" pitchFamily="18" charset="0"/>
                          <a:sym typeface="Poppins Bold"/>
                        </a:rPr>
                        <a:t>Research (1) [CNN Image Detection]</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BCA37F"/>
                      </a:solidFill>
                      <a:prstDash val="solid"/>
                      <a:round/>
                      <a:headEnd type="none" w="med" len="med"/>
                      <a:tailEnd type="none" w="med" len="med"/>
                    </a:lnL>
                    <a:lnR w="38100" cap="flat" cmpd="sng" algn="ctr">
                      <a:solidFill>
                        <a:srgbClr val="BCA37F"/>
                      </a:solidFill>
                      <a:prstDash val="solid"/>
                      <a:round/>
                      <a:headEnd type="none" w="med" len="med"/>
                      <a:tailEnd type="none" w="med" len="med"/>
                    </a:lnR>
                    <a:lnT w="38100" cap="flat" cmpd="sng" algn="ctr">
                      <a:solidFill>
                        <a:srgbClr val="BCA37F"/>
                      </a:solidFill>
                      <a:prstDash val="solid"/>
                      <a:round/>
                      <a:headEnd type="none" w="med" len="med"/>
                      <a:tailEnd type="none" w="med" len="med"/>
                    </a:lnT>
                    <a:lnB w="38100" cap="flat" cmpd="sng" algn="ctr">
                      <a:solidFill>
                        <a:srgbClr val="BCA37F"/>
                      </a:solidFill>
                      <a:prstDash val="solid"/>
                      <a:round/>
                      <a:headEnd type="none" w="med" len="med"/>
                      <a:tailEnd type="none" w="med" len="med"/>
                    </a:lnB>
                    <a:solidFill>
                      <a:srgbClr val="C6C8EA"/>
                    </a:solidFill>
                  </a:tcPr>
                </a:tc>
                <a:tc>
                  <a:txBody>
                    <a:bodyPr/>
                    <a:lstStyle/>
                    <a:p>
                      <a:pPr algn="l">
                        <a:lnSpc>
                          <a:spcPts val="2029"/>
                        </a:lnSpc>
                        <a:defRPr/>
                      </a:pPr>
                      <a:r>
                        <a:rPr lang="en-US" sz="1000" b="1">
                          <a:solidFill>
                            <a:srgbClr val="000000"/>
                          </a:solidFill>
                          <a:latin typeface="Times New Roman" panose="02020603050405020304" pitchFamily="18" charset="0"/>
                          <a:ea typeface="Poppins Bold"/>
                          <a:cs typeface="Times New Roman" panose="02020603050405020304" pitchFamily="18" charset="0"/>
                          <a:sym typeface="Poppins Bold"/>
                        </a:rPr>
                        <a:t>Research (2) [Neural Network Image Based]</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BCA37F"/>
                      </a:solidFill>
                      <a:prstDash val="solid"/>
                      <a:round/>
                      <a:headEnd type="none" w="med" len="med"/>
                      <a:tailEnd type="none" w="med" len="med"/>
                    </a:lnL>
                    <a:lnR w="38100" cap="flat" cmpd="sng" algn="ctr">
                      <a:solidFill>
                        <a:srgbClr val="BCA37F"/>
                      </a:solidFill>
                      <a:prstDash val="solid"/>
                      <a:round/>
                      <a:headEnd type="none" w="med" len="med"/>
                      <a:tailEnd type="none" w="med" len="med"/>
                    </a:lnR>
                    <a:lnT w="38100" cap="flat" cmpd="sng" algn="ctr">
                      <a:solidFill>
                        <a:srgbClr val="BCA37F"/>
                      </a:solidFill>
                      <a:prstDash val="solid"/>
                      <a:round/>
                      <a:headEnd type="none" w="med" len="med"/>
                      <a:tailEnd type="none" w="med" len="med"/>
                    </a:lnT>
                    <a:lnB w="38100" cap="flat" cmpd="sng" algn="ctr">
                      <a:solidFill>
                        <a:srgbClr val="BCA37F"/>
                      </a:solidFill>
                      <a:prstDash val="solid"/>
                      <a:round/>
                      <a:headEnd type="none" w="med" len="med"/>
                      <a:tailEnd type="none" w="med" len="med"/>
                    </a:lnB>
                    <a:solidFill>
                      <a:srgbClr val="C6C8EA"/>
                    </a:solidFill>
                  </a:tcPr>
                </a:tc>
                <a:tc>
                  <a:txBody>
                    <a:bodyPr/>
                    <a:lstStyle/>
                    <a:p>
                      <a:pPr algn="ctr">
                        <a:lnSpc>
                          <a:spcPts val="2027"/>
                        </a:lnSpc>
                        <a:defRPr/>
                      </a:pPr>
                      <a:r>
                        <a:rPr lang="en-US" sz="1000" b="1">
                          <a:solidFill>
                            <a:srgbClr val="000000"/>
                          </a:solidFill>
                          <a:latin typeface="Times New Roman" panose="02020603050405020304" pitchFamily="18" charset="0"/>
                          <a:ea typeface="Poppins Bold"/>
                          <a:cs typeface="Times New Roman" panose="02020603050405020304" pitchFamily="18" charset="0"/>
                          <a:sym typeface="Poppins Bold"/>
                        </a:rPr>
                        <a:t>Research (3) [Expert System Forward Chaining]</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BCA37F"/>
                      </a:solidFill>
                      <a:prstDash val="solid"/>
                      <a:round/>
                      <a:headEnd type="none" w="med" len="med"/>
                      <a:tailEnd type="none" w="med" len="med"/>
                    </a:lnL>
                    <a:lnR w="38100" cap="flat" cmpd="sng" algn="ctr">
                      <a:solidFill>
                        <a:srgbClr val="BCA37F"/>
                      </a:solidFill>
                      <a:prstDash val="solid"/>
                      <a:round/>
                      <a:headEnd type="none" w="med" len="med"/>
                      <a:tailEnd type="none" w="med" len="med"/>
                    </a:lnR>
                    <a:lnT w="38100" cap="flat" cmpd="sng" algn="ctr">
                      <a:solidFill>
                        <a:srgbClr val="BCA37F"/>
                      </a:solidFill>
                      <a:prstDash val="solid"/>
                      <a:round/>
                      <a:headEnd type="none" w="med" len="med"/>
                      <a:tailEnd type="none" w="med" len="med"/>
                    </a:lnT>
                    <a:lnB w="38100" cap="flat" cmpd="sng" algn="ctr">
                      <a:solidFill>
                        <a:srgbClr val="BCA37F"/>
                      </a:solidFill>
                      <a:prstDash val="solid"/>
                      <a:round/>
                      <a:headEnd type="none" w="med" len="med"/>
                      <a:tailEnd type="none" w="med" len="med"/>
                    </a:lnB>
                    <a:solidFill>
                      <a:srgbClr val="C6C8EA"/>
                    </a:solidFill>
                  </a:tcPr>
                </a:tc>
                <a:tc>
                  <a:txBody>
                    <a:bodyPr/>
                    <a:lstStyle/>
                    <a:p>
                      <a:pPr algn="l">
                        <a:lnSpc>
                          <a:spcPts val="2029"/>
                        </a:lnSpc>
                        <a:defRPr/>
                      </a:pPr>
                      <a:r>
                        <a:rPr lang="en-US" sz="1000" b="1">
                          <a:solidFill>
                            <a:srgbClr val="000000"/>
                          </a:solidFill>
                          <a:latin typeface="Times New Roman" panose="02020603050405020304" pitchFamily="18" charset="0"/>
                          <a:ea typeface="Poppins Bold"/>
                          <a:cs typeface="Times New Roman" panose="02020603050405020304" pitchFamily="18" charset="0"/>
                          <a:sym typeface="Poppins Bold"/>
                        </a:rPr>
                        <a:t>Research (4) [Expert System Mobile-Based]</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BCA37F"/>
                      </a:solidFill>
                      <a:prstDash val="solid"/>
                      <a:round/>
                      <a:headEnd type="none" w="med" len="med"/>
                      <a:tailEnd type="none" w="med" len="med"/>
                    </a:lnL>
                    <a:lnR w="38100" cap="flat" cmpd="sng" algn="ctr">
                      <a:solidFill>
                        <a:srgbClr val="BCA37F"/>
                      </a:solidFill>
                      <a:prstDash val="solid"/>
                      <a:round/>
                      <a:headEnd type="none" w="med" len="med"/>
                      <a:tailEnd type="none" w="med" len="med"/>
                    </a:lnR>
                    <a:lnT w="38100" cap="flat" cmpd="sng" algn="ctr">
                      <a:solidFill>
                        <a:srgbClr val="BCA37F"/>
                      </a:solidFill>
                      <a:prstDash val="solid"/>
                      <a:round/>
                      <a:headEnd type="none" w="med" len="med"/>
                      <a:tailEnd type="none" w="med" len="med"/>
                    </a:lnT>
                    <a:lnB w="38100" cap="flat" cmpd="sng" algn="ctr">
                      <a:solidFill>
                        <a:srgbClr val="BCA37F"/>
                      </a:solidFill>
                      <a:prstDash val="solid"/>
                      <a:round/>
                      <a:headEnd type="none" w="med" len="med"/>
                      <a:tailEnd type="none" w="med" len="med"/>
                    </a:lnB>
                    <a:solidFill>
                      <a:srgbClr val="C6C8EA"/>
                    </a:solidFill>
                  </a:tcPr>
                </a:tc>
                <a:tc>
                  <a:txBody>
                    <a:bodyPr/>
                    <a:lstStyle/>
                    <a:p>
                      <a:pPr algn="l">
                        <a:lnSpc>
                          <a:spcPts val="1679"/>
                        </a:lnSpc>
                        <a:defRPr/>
                      </a:pPr>
                      <a:r>
                        <a:rPr lang="en-US" sz="800" b="1">
                          <a:solidFill>
                            <a:srgbClr val="000000"/>
                          </a:solidFill>
                          <a:latin typeface="Times New Roman" panose="02020603050405020304" pitchFamily="18" charset="0"/>
                          <a:ea typeface="Canva Sans Bold"/>
                          <a:cs typeface="Times New Roman" panose="02020603050405020304" pitchFamily="18" charset="0"/>
                          <a:sym typeface="Canva Sans Bold"/>
                        </a:rPr>
                        <a:t>Proposed Solution (Symptom + Medication-Based Warning)</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BCA37F"/>
                      </a:solidFill>
                      <a:prstDash val="solid"/>
                      <a:round/>
                      <a:headEnd type="none" w="med" len="med"/>
                      <a:tailEnd type="none" w="med" len="med"/>
                    </a:lnL>
                    <a:lnR w="38100" cap="flat" cmpd="sng" algn="ctr">
                      <a:solidFill>
                        <a:srgbClr val="BCA37F"/>
                      </a:solidFill>
                      <a:prstDash val="solid"/>
                      <a:round/>
                      <a:headEnd type="none" w="med" len="med"/>
                      <a:tailEnd type="none" w="med" len="med"/>
                    </a:lnR>
                    <a:lnT w="38100" cap="flat" cmpd="sng" algn="ctr">
                      <a:solidFill>
                        <a:srgbClr val="BCA37F"/>
                      </a:solidFill>
                      <a:prstDash val="solid"/>
                      <a:round/>
                      <a:headEnd type="none" w="med" len="med"/>
                      <a:tailEnd type="none" w="med" len="med"/>
                    </a:lnT>
                    <a:lnB w="38100" cap="flat" cmpd="sng" algn="ctr">
                      <a:solidFill>
                        <a:srgbClr val="BCA37F"/>
                      </a:solidFill>
                      <a:prstDash val="solid"/>
                      <a:round/>
                      <a:headEnd type="none" w="med" len="med"/>
                      <a:tailEnd type="none" w="med" len="med"/>
                    </a:lnB>
                    <a:gradFill rotWithShape="1">
                      <a:gsLst>
                        <a:gs pos="0">
                          <a:srgbClr val="CDFFD8">
                            <a:alpha val="100000"/>
                          </a:srgbClr>
                        </a:gs>
                        <a:gs pos="100000">
                          <a:srgbClr val="94B9FF">
                            <a:alpha val="100000"/>
                          </a:srgbClr>
                        </a:gs>
                      </a:gsLst>
                      <a:lin ang="0"/>
                    </a:gradFill>
                  </a:tcPr>
                </a:tc>
                <a:extLst>
                  <a:ext uri="{0D108BD9-81ED-4DB2-BD59-A6C34878D82A}">
                    <a16:rowId xmlns:a16="http://schemas.microsoft.com/office/drawing/2014/main" val="10000"/>
                  </a:ext>
                </a:extLst>
              </a:tr>
              <a:tr h="662196">
                <a:tc>
                  <a:txBody>
                    <a:bodyPr/>
                    <a:lstStyle/>
                    <a:p>
                      <a:pPr algn="l">
                        <a:lnSpc>
                          <a:spcPts val="2100"/>
                        </a:lnSpc>
                        <a:defRPr/>
                      </a:pPr>
                      <a:r>
                        <a:rPr lang="en-US" sz="1600" b="1">
                          <a:solidFill>
                            <a:srgbClr val="000000"/>
                          </a:solidFill>
                          <a:latin typeface="Times New Roman" panose="02020603050405020304" pitchFamily="18" charset="0"/>
                          <a:ea typeface="Poppins Bold"/>
                          <a:cs typeface="Times New Roman" panose="02020603050405020304" pitchFamily="18" charset="0"/>
                          <a:sym typeface="Poppins Bold"/>
                        </a:rPr>
                        <a:t>Multi-vitamin detection</a:t>
                      </a:r>
                      <a:endParaRPr lang="en-US" sz="16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BCA37F"/>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BCA37F"/>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BCA37F"/>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BCA37F"/>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BCA37F"/>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147"/>
                        </a:lnSpc>
                        <a:defRPr/>
                      </a:pPr>
                      <a:r>
                        <a:rPr lang="en-US" sz="1500">
                          <a:solidFill>
                            <a:srgbClr val="000000"/>
                          </a:solidFill>
                          <a:latin typeface="Times New Roman" panose="02020603050405020304" pitchFamily="18" charset="0"/>
                          <a:ea typeface="Inter"/>
                          <a:cs typeface="Times New Roman" panose="02020603050405020304" pitchFamily="18" charset="0"/>
                          <a:sym typeface="Inter"/>
                        </a:rPr>
                        <a:t>YES</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BCA37F"/>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extLst>
                  <a:ext uri="{0D108BD9-81ED-4DB2-BD59-A6C34878D82A}">
                    <a16:rowId xmlns:a16="http://schemas.microsoft.com/office/drawing/2014/main" val="10001"/>
                  </a:ext>
                </a:extLst>
              </a:tr>
              <a:tr h="678968">
                <a:tc>
                  <a:txBody>
                    <a:bodyPr/>
                    <a:lstStyle/>
                    <a:p>
                      <a:pPr algn="l">
                        <a:lnSpc>
                          <a:spcPts val="2100"/>
                        </a:lnSpc>
                        <a:defRPr/>
                      </a:pPr>
                      <a:r>
                        <a:rPr lang="en-US" sz="1600" b="1">
                          <a:solidFill>
                            <a:srgbClr val="000000"/>
                          </a:solidFill>
                          <a:latin typeface="Times New Roman" panose="02020603050405020304" pitchFamily="18" charset="0"/>
                          <a:ea typeface="Poppins Bold"/>
                          <a:cs typeface="Times New Roman" panose="02020603050405020304" pitchFamily="18" charset="0"/>
                          <a:sym typeface="Poppins Bold"/>
                        </a:rPr>
                        <a:t>Integration with long-term medication</a:t>
                      </a:r>
                      <a:endParaRPr lang="en-US" sz="16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147"/>
                        </a:lnSpc>
                        <a:defRPr/>
                      </a:pPr>
                      <a:r>
                        <a:rPr lang="en-US" sz="1500">
                          <a:solidFill>
                            <a:srgbClr val="000000"/>
                          </a:solidFill>
                          <a:latin typeface="Times New Roman" panose="02020603050405020304" pitchFamily="18" charset="0"/>
                          <a:ea typeface="Inter"/>
                          <a:cs typeface="Times New Roman" panose="02020603050405020304" pitchFamily="18" charset="0"/>
                          <a:sym typeface="Inter"/>
                        </a:rPr>
                        <a:t>YES</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extLst>
                  <a:ext uri="{0D108BD9-81ED-4DB2-BD59-A6C34878D82A}">
                    <a16:rowId xmlns:a16="http://schemas.microsoft.com/office/drawing/2014/main" val="10002"/>
                  </a:ext>
                </a:extLst>
              </a:tr>
              <a:tr h="661408">
                <a:tc>
                  <a:txBody>
                    <a:bodyPr/>
                    <a:lstStyle/>
                    <a:p>
                      <a:pPr algn="l">
                        <a:lnSpc>
                          <a:spcPts val="2100"/>
                        </a:lnSpc>
                        <a:defRPr/>
                      </a:pPr>
                      <a:r>
                        <a:rPr lang="en-US" sz="1600" b="1">
                          <a:solidFill>
                            <a:srgbClr val="000000"/>
                          </a:solidFill>
                          <a:latin typeface="Times New Roman" panose="02020603050405020304" pitchFamily="18" charset="0"/>
                          <a:ea typeface="Poppins Bold"/>
                          <a:cs typeface="Times New Roman" panose="02020603050405020304" pitchFamily="18" charset="0"/>
                          <a:sym typeface="Poppins Bold"/>
                        </a:rPr>
                        <a:t>Symptom-based early warning</a:t>
                      </a:r>
                      <a:endParaRPr lang="en-US" sz="16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YES</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YES</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147"/>
                        </a:lnSpc>
                        <a:defRPr/>
                      </a:pPr>
                      <a:r>
                        <a:rPr lang="en-US" sz="1500">
                          <a:solidFill>
                            <a:srgbClr val="000000"/>
                          </a:solidFill>
                          <a:latin typeface="Times New Roman" panose="02020603050405020304" pitchFamily="18" charset="0"/>
                          <a:ea typeface="Inter"/>
                          <a:cs typeface="Times New Roman" panose="02020603050405020304" pitchFamily="18" charset="0"/>
                          <a:sym typeface="Inter"/>
                        </a:rPr>
                        <a:t>YES</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extLst>
                  <a:ext uri="{0D108BD9-81ED-4DB2-BD59-A6C34878D82A}">
                    <a16:rowId xmlns:a16="http://schemas.microsoft.com/office/drawing/2014/main" val="10003"/>
                  </a:ext>
                </a:extLst>
              </a:tr>
              <a:tr h="661408">
                <a:tc>
                  <a:txBody>
                    <a:bodyPr/>
                    <a:lstStyle/>
                    <a:p>
                      <a:pPr algn="l">
                        <a:lnSpc>
                          <a:spcPts val="2100"/>
                        </a:lnSpc>
                        <a:defRPr/>
                      </a:pPr>
                      <a:r>
                        <a:rPr lang="en-US" sz="1600" b="1">
                          <a:solidFill>
                            <a:srgbClr val="000000"/>
                          </a:solidFill>
                          <a:latin typeface="Times New Roman" panose="02020603050405020304" pitchFamily="18" charset="0"/>
                          <a:ea typeface="Poppins Bold"/>
                          <a:cs typeface="Times New Roman" panose="02020603050405020304" pitchFamily="18" charset="0"/>
                          <a:sym typeface="Poppins Bold"/>
                        </a:rPr>
                        <a:t>AI / ML-driven analysis</a:t>
                      </a:r>
                      <a:endParaRPr lang="en-US" sz="16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YES</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YES</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PARTIALLY</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147"/>
                        </a:lnSpc>
                        <a:defRPr/>
                      </a:pPr>
                      <a:r>
                        <a:rPr lang="en-US" sz="1500">
                          <a:solidFill>
                            <a:srgbClr val="000000"/>
                          </a:solidFill>
                          <a:latin typeface="Times New Roman" panose="02020603050405020304" pitchFamily="18" charset="0"/>
                          <a:ea typeface="Inter"/>
                          <a:cs typeface="Times New Roman" panose="02020603050405020304" pitchFamily="18" charset="0"/>
                          <a:sym typeface="Inter"/>
                        </a:rPr>
                        <a:t>YES</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extLst>
                  <a:ext uri="{0D108BD9-81ED-4DB2-BD59-A6C34878D82A}">
                    <a16:rowId xmlns:a16="http://schemas.microsoft.com/office/drawing/2014/main" val="10004"/>
                  </a:ext>
                </a:extLst>
              </a:tr>
              <a:tr h="678968">
                <a:tc>
                  <a:txBody>
                    <a:bodyPr/>
                    <a:lstStyle/>
                    <a:p>
                      <a:pPr algn="l">
                        <a:lnSpc>
                          <a:spcPts val="2100"/>
                        </a:lnSpc>
                        <a:defRPr/>
                      </a:pPr>
                      <a:r>
                        <a:rPr lang="en-US" sz="1600" b="1">
                          <a:solidFill>
                            <a:srgbClr val="000000"/>
                          </a:solidFill>
                          <a:latin typeface="Times New Roman" panose="02020603050405020304" pitchFamily="18" charset="0"/>
                          <a:ea typeface="Poppins Bold"/>
                          <a:cs typeface="Times New Roman" panose="02020603050405020304" pitchFamily="18" charset="0"/>
                          <a:sym typeface="Poppins Bold"/>
                        </a:rPr>
                        <a:t>Multi-factor health data (diet, lifestyle, medication)</a:t>
                      </a:r>
                      <a:endParaRPr lang="en-US" sz="16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147"/>
                        </a:lnSpc>
                        <a:defRPr/>
                      </a:pPr>
                      <a:r>
                        <a:rPr lang="en-US" sz="1500">
                          <a:solidFill>
                            <a:srgbClr val="000000"/>
                          </a:solidFill>
                          <a:latin typeface="Times New Roman" panose="02020603050405020304" pitchFamily="18" charset="0"/>
                          <a:ea typeface="Inter"/>
                          <a:cs typeface="Times New Roman" panose="02020603050405020304" pitchFamily="18" charset="0"/>
                          <a:sym typeface="Inter"/>
                        </a:rPr>
                        <a:t>YES</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extLst>
                  <a:ext uri="{0D108BD9-81ED-4DB2-BD59-A6C34878D82A}">
                    <a16:rowId xmlns:a16="http://schemas.microsoft.com/office/drawing/2014/main" val="10005"/>
                  </a:ext>
                </a:extLst>
              </a:tr>
              <a:tr h="661408">
                <a:tc>
                  <a:txBody>
                    <a:bodyPr/>
                    <a:lstStyle/>
                    <a:p>
                      <a:pPr algn="l">
                        <a:lnSpc>
                          <a:spcPts val="2029"/>
                        </a:lnSpc>
                        <a:defRPr/>
                      </a:pPr>
                      <a:r>
                        <a:rPr lang="en-US" sz="1600" b="1">
                          <a:solidFill>
                            <a:srgbClr val="000000"/>
                          </a:solidFill>
                          <a:latin typeface="Times New Roman" panose="02020603050405020304" pitchFamily="18" charset="0"/>
                          <a:ea typeface="Poppins Bold"/>
                          <a:cs typeface="Times New Roman" panose="02020603050405020304" pitchFamily="18" charset="0"/>
                          <a:sym typeface="Poppins Bold"/>
                        </a:rPr>
                        <a:t>Non-image input (symptoms &amp; history)</a:t>
                      </a:r>
                      <a:endParaRPr lang="en-US" sz="16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499"/>
                        </a:lnSpc>
                        <a:defRPr/>
                      </a:pPr>
                      <a:r>
                        <a:rPr lang="en-US" sz="1700" b="1">
                          <a:solidFill>
                            <a:srgbClr val="000000"/>
                          </a:solidFill>
                          <a:latin typeface="Times New Roman" panose="02020603050405020304" pitchFamily="18" charset="0"/>
                          <a:ea typeface="Poppins Bold"/>
                          <a:cs typeface="Times New Roman" panose="02020603050405020304" pitchFamily="18" charset="0"/>
                          <a:sym typeface="Poppins Bold"/>
                        </a:rPr>
                        <a:t>NO</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tc>
                  <a:txBody>
                    <a:bodyPr/>
                    <a:lstStyle/>
                    <a:p>
                      <a:pPr algn="ctr">
                        <a:lnSpc>
                          <a:spcPts val="3147"/>
                        </a:lnSpc>
                        <a:defRPr/>
                      </a:pPr>
                      <a:r>
                        <a:rPr lang="en-US" sz="1500">
                          <a:solidFill>
                            <a:srgbClr val="000000"/>
                          </a:solidFill>
                          <a:latin typeface="Times New Roman" panose="02020603050405020304" pitchFamily="18" charset="0"/>
                          <a:ea typeface="Inter"/>
                          <a:cs typeface="Times New Roman" panose="02020603050405020304" pitchFamily="18" charset="0"/>
                          <a:sym typeface="Inter"/>
                        </a:rPr>
                        <a:t>YES</a:t>
                      </a:r>
                      <a:endParaRPr lang="en-US" sz="700">
                        <a:latin typeface="Times New Roman" panose="02020603050405020304" pitchFamily="18" charset="0"/>
                        <a:cs typeface="Times New Roman" panose="02020603050405020304" pitchFamily="18" charset="0"/>
                      </a:endParaRPr>
                    </a:p>
                  </a:txBody>
                  <a:tcPr marL="127000" marR="127000" marT="127000" marB="127000" anchor="ctr">
                    <a:lnL w="38100" cap="flat" cmpd="sng" algn="ctr">
                      <a:solidFill>
                        <a:srgbClr val="EAD6B8"/>
                      </a:solidFill>
                      <a:prstDash val="solid"/>
                      <a:round/>
                      <a:headEnd type="none" w="med" len="med"/>
                      <a:tailEnd type="none" w="med" len="med"/>
                    </a:lnL>
                    <a:lnR w="38100" cap="flat" cmpd="sng" algn="ctr">
                      <a:solidFill>
                        <a:srgbClr val="EAD6B8"/>
                      </a:solidFill>
                      <a:prstDash val="solid"/>
                      <a:round/>
                      <a:headEnd type="none" w="med" len="med"/>
                      <a:tailEnd type="none" w="med" len="med"/>
                    </a:lnR>
                    <a:lnT w="38100" cap="flat" cmpd="sng" algn="ctr">
                      <a:solidFill>
                        <a:srgbClr val="EAD6B8"/>
                      </a:solidFill>
                      <a:prstDash val="solid"/>
                      <a:round/>
                      <a:headEnd type="none" w="med" len="med"/>
                      <a:tailEnd type="none" w="med" len="med"/>
                    </a:lnT>
                    <a:lnB w="38100" cap="flat" cmpd="sng" algn="ctr">
                      <a:solidFill>
                        <a:srgbClr val="EAD6B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 name="Freeform 3"/>
          <p:cNvSpPr/>
          <p:nvPr/>
        </p:nvSpPr>
        <p:spPr>
          <a:xfrm>
            <a:off x="11108208" y="-122921"/>
            <a:ext cx="2167585" cy="1655493"/>
          </a:xfrm>
          <a:custGeom>
            <a:avLst/>
            <a:gdLst/>
            <a:ahLst/>
            <a:cxnLst/>
            <a:rect l="l" t="t" r="r" b="b"/>
            <a:pathLst>
              <a:path w="3251377" h="2483239">
                <a:moveTo>
                  <a:pt x="0" y="0"/>
                </a:moveTo>
                <a:lnTo>
                  <a:pt x="3251376" y="0"/>
                </a:lnTo>
                <a:lnTo>
                  <a:pt x="3251376" y="2483240"/>
                </a:lnTo>
                <a:lnTo>
                  <a:pt x="0" y="24832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084708" y="-122921"/>
            <a:ext cx="2167585" cy="1655493"/>
          </a:xfrm>
          <a:custGeom>
            <a:avLst/>
            <a:gdLst/>
            <a:ahLst/>
            <a:cxnLst/>
            <a:rect l="l" t="t" r="r" b="b"/>
            <a:pathLst>
              <a:path w="3251377" h="2483239">
                <a:moveTo>
                  <a:pt x="0" y="0"/>
                </a:moveTo>
                <a:lnTo>
                  <a:pt x="3251377" y="0"/>
                </a:lnTo>
                <a:lnTo>
                  <a:pt x="3251377" y="2483240"/>
                </a:lnTo>
                <a:lnTo>
                  <a:pt x="0" y="24832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1565019" y="9550"/>
            <a:ext cx="9061046" cy="788421"/>
          </a:xfrm>
          <a:prstGeom prst="rect">
            <a:avLst/>
          </a:prstGeom>
        </p:spPr>
        <p:txBody>
          <a:bodyPr lIns="0" tIns="0" rIns="0" bIns="0" rtlCol="0" anchor="t">
            <a:spAutoFit/>
          </a:bodyPr>
          <a:lstStyle/>
          <a:p>
            <a:pPr algn="ctr">
              <a:lnSpc>
                <a:spcPts val="6720"/>
              </a:lnSpc>
              <a:spcBef>
                <a:spcPct val="0"/>
              </a:spcBef>
            </a:pPr>
            <a:r>
              <a:rPr lang="en-US" sz="4000" b="1">
                <a:solidFill>
                  <a:schemeClr val="accent1">
                    <a:lumMod val="50000"/>
                  </a:schemeClr>
                </a:solidFill>
                <a:ea typeface="Oswald"/>
                <a:cs typeface="Oswald"/>
                <a:sym typeface="Oswald"/>
              </a:rPr>
              <a:t>Proven Gap / Creative Solution</a:t>
            </a:r>
          </a:p>
        </p:txBody>
      </p:sp>
      <p:sp>
        <p:nvSpPr>
          <p:cNvPr id="6" name="Rectangle 5">
            <a:extLst>
              <a:ext uri="{FF2B5EF4-FFF2-40B4-BE49-F238E27FC236}">
                <a16:creationId xmlns:a16="http://schemas.microsoft.com/office/drawing/2014/main" id="{B77CD502-7A8B-8E22-C203-457DF5B0CC63}"/>
              </a:ext>
            </a:extLst>
          </p:cNvPr>
          <p:cNvSpPr/>
          <p:nvPr/>
        </p:nvSpPr>
        <p:spPr>
          <a:xfrm>
            <a:off x="2687817" y="6496051"/>
            <a:ext cx="6816365" cy="36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tx1"/>
                </a:solidFill>
                <a:effectLst/>
                <a:uLnTx/>
                <a:uFillTx/>
                <a:latin typeface="Cambria"/>
                <a:ea typeface="+mn-ea"/>
                <a:cs typeface="+mn-cs"/>
              </a:rPr>
              <a:t>IT22600448</a:t>
            </a:r>
            <a:r>
              <a:rPr kumimoji="0" lang="en-US" sz="1800" b="0" i="0" u="none" strike="noStrike" kern="1200" cap="none" spc="0" normalizeH="0" baseline="0" noProof="0">
                <a:ln>
                  <a:noFill/>
                </a:ln>
                <a:solidFill>
                  <a:schemeClr val="tx1"/>
                </a:solidFill>
                <a:effectLst/>
                <a:uLnTx/>
                <a:uFillTx/>
                <a:latin typeface="Cambria"/>
                <a:ea typeface="+mn-ea"/>
                <a:cs typeface="+mn-cs"/>
              </a:rPr>
              <a:t>   |   </a:t>
            </a:r>
            <a:r>
              <a:rPr kumimoji="0" lang="en-US" sz="1800" b="1" i="0" u="none" strike="noStrike" kern="1200" cap="none" spc="0" normalizeH="0" baseline="0" noProof="0">
                <a:ln>
                  <a:noFill/>
                </a:ln>
                <a:solidFill>
                  <a:schemeClr val="tx1"/>
                </a:solidFill>
                <a:effectLst/>
                <a:uLnTx/>
                <a:uFillTx/>
                <a:latin typeface="Cambria"/>
                <a:ea typeface="+mn-ea"/>
                <a:cs typeface="+mn-cs"/>
              </a:rPr>
              <a:t>Reshmi M.G.G.K   </a:t>
            </a:r>
            <a:r>
              <a:rPr kumimoji="0" lang="en-US" sz="1800" b="0" i="0" u="none" strike="noStrike" kern="1200" cap="none" spc="0" normalizeH="0" baseline="0" noProof="0">
                <a:ln>
                  <a:noFill/>
                </a:ln>
                <a:solidFill>
                  <a:schemeClr val="tx1"/>
                </a:solidFill>
                <a:effectLst/>
                <a:uLnTx/>
                <a:uFillTx/>
                <a:latin typeface="Cambria"/>
                <a:ea typeface="+mn-ea"/>
                <a:cs typeface="+mn-cs"/>
              </a:rPr>
              <a:t>|   25-26J-368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27927"/>
            <a:ext cx="12192000" cy="547662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rot="-2454813">
            <a:off x="-1694673" y="-850076"/>
            <a:ext cx="3136941" cy="2482104"/>
          </a:xfrm>
          <a:custGeom>
            <a:avLst/>
            <a:gdLst/>
            <a:ahLst/>
            <a:cxnLst/>
            <a:rect l="l" t="t" r="r" b="b"/>
            <a:pathLst>
              <a:path w="4705411" h="3723156">
                <a:moveTo>
                  <a:pt x="0" y="0"/>
                </a:moveTo>
                <a:lnTo>
                  <a:pt x="4705410" y="0"/>
                </a:lnTo>
                <a:lnTo>
                  <a:pt x="4705410" y="3723157"/>
                </a:lnTo>
                <a:lnTo>
                  <a:pt x="0" y="3723157"/>
                </a:lnTo>
                <a:lnTo>
                  <a:pt x="0" y="0"/>
                </a:lnTo>
                <a:close/>
              </a:path>
            </a:pathLst>
          </a:custGeom>
          <a:blipFill>
            <a:blip r:embed="rId3">
              <a:alphaModFix amt="30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rot="-2454813">
            <a:off x="10623530" y="5821591"/>
            <a:ext cx="3136941" cy="2482104"/>
          </a:xfrm>
          <a:custGeom>
            <a:avLst/>
            <a:gdLst/>
            <a:ahLst/>
            <a:cxnLst/>
            <a:rect l="l" t="t" r="r" b="b"/>
            <a:pathLst>
              <a:path w="4705411" h="3723156">
                <a:moveTo>
                  <a:pt x="0" y="0"/>
                </a:moveTo>
                <a:lnTo>
                  <a:pt x="4705410" y="0"/>
                </a:lnTo>
                <a:lnTo>
                  <a:pt x="4705410" y="3723156"/>
                </a:lnTo>
                <a:lnTo>
                  <a:pt x="0" y="3723156"/>
                </a:lnTo>
                <a:lnTo>
                  <a:pt x="0" y="0"/>
                </a:lnTo>
                <a:close/>
              </a:path>
            </a:pathLst>
          </a:custGeom>
          <a:blipFill>
            <a:blip r:embed="rId5">
              <a:alphaModFix amt="30000"/>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rot="-151509">
            <a:off x="-586475" y="1123297"/>
            <a:ext cx="13102119" cy="3570327"/>
          </a:xfrm>
          <a:custGeom>
            <a:avLst/>
            <a:gdLst/>
            <a:ahLst/>
            <a:cxnLst/>
            <a:rect l="l" t="t" r="r" b="b"/>
            <a:pathLst>
              <a:path w="19653179" h="5355491">
                <a:moveTo>
                  <a:pt x="0" y="0"/>
                </a:moveTo>
                <a:lnTo>
                  <a:pt x="19653179" y="0"/>
                </a:lnTo>
                <a:lnTo>
                  <a:pt x="19653179" y="5355491"/>
                </a:lnTo>
                <a:lnTo>
                  <a:pt x="0" y="535549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6" name="Group 6"/>
          <p:cNvGrpSpPr/>
          <p:nvPr/>
        </p:nvGrpSpPr>
        <p:grpSpPr>
          <a:xfrm>
            <a:off x="1757650" y="2669415"/>
            <a:ext cx="473810" cy="651988"/>
            <a:chOff x="0" y="0"/>
            <a:chExt cx="812800" cy="1118456"/>
          </a:xfrm>
        </p:grpSpPr>
        <p:sp>
          <p:nvSpPr>
            <p:cNvPr id="7" name="Freeform 7"/>
            <p:cNvSpPr/>
            <p:nvPr/>
          </p:nvSpPr>
          <p:spPr>
            <a:xfrm>
              <a:off x="0" y="0"/>
              <a:ext cx="812800" cy="1118456"/>
            </a:xfrm>
            <a:custGeom>
              <a:avLst/>
              <a:gdLst/>
              <a:ahLst/>
              <a:cxnLst/>
              <a:rect l="l" t="t" r="r" b="b"/>
              <a:pathLst>
                <a:path w="812800" h="1118456">
                  <a:moveTo>
                    <a:pt x="406400" y="0"/>
                  </a:moveTo>
                  <a:lnTo>
                    <a:pt x="0" y="406400"/>
                  </a:lnTo>
                  <a:lnTo>
                    <a:pt x="203200" y="406400"/>
                  </a:lnTo>
                  <a:lnTo>
                    <a:pt x="203200" y="1118456"/>
                  </a:lnTo>
                  <a:lnTo>
                    <a:pt x="609600" y="1118456"/>
                  </a:lnTo>
                  <a:lnTo>
                    <a:pt x="609600" y="406400"/>
                  </a:lnTo>
                  <a:lnTo>
                    <a:pt x="812800" y="406400"/>
                  </a:lnTo>
                  <a:lnTo>
                    <a:pt x="406400" y="0"/>
                  </a:lnTo>
                  <a:close/>
                </a:path>
              </a:pathLst>
            </a:custGeom>
            <a:solidFill>
              <a:srgbClr val="2E236C"/>
            </a:solidFill>
          </p:spPr>
          <p:txBody>
            <a:bodyPr/>
            <a:lstStyle/>
            <a:p>
              <a:endParaRPr lang="en-US"/>
            </a:p>
          </p:txBody>
        </p:sp>
        <p:sp>
          <p:nvSpPr>
            <p:cNvPr id="8" name="TextBox 8"/>
            <p:cNvSpPr txBox="1"/>
            <p:nvPr/>
          </p:nvSpPr>
          <p:spPr>
            <a:xfrm>
              <a:off x="203200" y="63500"/>
              <a:ext cx="406400" cy="1054956"/>
            </a:xfrm>
            <a:prstGeom prst="rect">
              <a:avLst/>
            </a:prstGeom>
          </p:spPr>
          <p:txBody>
            <a:bodyPr lIns="33867" tIns="33867" rIns="33867" bIns="33867" rtlCol="0" anchor="ctr"/>
            <a:lstStyle/>
            <a:p>
              <a:pPr algn="ctr">
                <a:lnSpc>
                  <a:spcPts val="2053"/>
                </a:lnSpc>
              </a:pPr>
              <a:endParaRPr sz="1200"/>
            </a:p>
          </p:txBody>
        </p:sp>
      </p:grpSp>
      <p:grpSp>
        <p:nvGrpSpPr>
          <p:cNvPr id="9" name="Group 9"/>
          <p:cNvGrpSpPr/>
          <p:nvPr/>
        </p:nvGrpSpPr>
        <p:grpSpPr>
          <a:xfrm>
            <a:off x="6501298" y="2669415"/>
            <a:ext cx="324250" cy="1030809"/>
            <a:chOff x="0" y="0"/>
            <a:chExt cx="812800" cy="2583934"/>
          </a:xfrm>
        </p:grpSpPr>
        <p:sp>
          <p:nvSpPr>
            <p:cNvPr id="10" name="Freeform 10"/>
            <p:cNvSpPr/>
            <p:nvPr/>
          </p:nvSpPr>
          <p:spPr>
            <a:xfrm>
              <a:off x="0" y="0"/>
              <a:ext cx="812800" cy="2583934"/>
            </a:xfrm>
            <a:custGeom>
              <a:avLst/>
              <a:gdLst/>
              <a:ahLst/>
              <a:cxnLst/>
              <a:rect l="l" t="t" r="r" b="b"/>
              <a:pathLst>
                <a:path w="812800" h="2583934">
                  <a:moveTo>
                    <a:pt x="406400" y="0"/>
                  </a:moveTo>
                  <a:lnTo>
                    <a:pt x="0" y="406400"/>
                  </a:lnTo>
                  <a:lnTo>
                    <a:pt x="203200" y="406400"/>
                  </a:lnTo>
                  <a:lnTo>
                    <a:pt x="203200" y="2583934"/>
                  </a:lnTo>
                  <a:lnTo>
                    <a:pt x="609600" y="2583934"/>
                  </a:lnTo>
                  <a:lnTo>
                    <a:pt x="609600" y="406400"/>
                  </a:lnTo>
                  <a:lnTo>
                    <a:pt x="812800" y="406400"/>
                  </a:lnTo>
                  <a:lnTo>
                    <a:pt x="406400" y="0"/>
                  </a:lnTo>
                  <a:close/>
                </a:path>
              </a:pathLst>
            </a:custGeom>
            <a:solidFill>
              <a:srgbClr val="2E236C"/>
            </a:solidFill>
          </p:spPr>
          <p:txBody>
            <a:bodyPr/>
            <a:lstStyle/>
            <a:p>
              <a:endParaRPr lang="en-US"/>
            </a:p>
          </p:txBody>
        </p:sp>
        <p:sp>
          <p:nvSpPr>
            <p:cNvPr id="11" name="TextBox 11"/>
            <p:cNvSpPr txBox="1"/>
            <p:nvPr/>
          </p:nvSpPr>
          <p:spPr>
            <a:xfrm>
              <a:off x="203200" y="63500"/>
              <a:ext cx="406400" cy="2520434"/>
            </a:xfrm>
            <a:prstGeom prst="rect">
              <a:avLst/>
            </a:prstGeom>
          </p:spPr>
          <p:txBody>
            <a:bodyPr lIns="33867" tIns="33867" rIns="33867" bIns="33867" rtlCol="0" anchor="ctr"/>
            <a:lstStyle/>
            <a:p>
              <a:pPr algn="ctr">
                <a:lnSpc>
                  <a:spcPts val="2053"/>
                </a:lnSpc>
              </a:pPr>
              <a:endParaRPr sz="1200"/>
            </a:p>
          </p:txBody>
        </p:sp>
      </p:grpSp>
      <p:grpSp>
        <p:nvGrpSpPr>
          <p:cNvPr id="12" name="Group 12"/>
          <p:cNvGrpSpPr/>
          <p:nvPr/>
        </p:nvGrpSpPr>
        <p:grpSpPr>
          <a:xfrm>
            <a:off x="2979061" y="4198706"/>
            <a:ext cx="324250" cy="625989"/>
            <a:chOff x="0" y="0"/>
            <a:chExt cx="812800" cy="1569172"/>
          </a:xfrm>
        </p:grpSpPr>
        <p:sp>
          <p:nvSpPr>
            <p:cNvPr id="13" name="Freeform 13"/>
            <p:cNvSpPr/>
            <p:nvPr/>
          </p:nvSpPr>
          <p:spPr>
            <a:xfrm>
              <a:off x="0" y="0"/>
              <a:ext cx="812800" cy="1569172"/>
            </a:xfrm>
            <a:custGeom>
              <a:avLst/>
              <a:gdLst/>
              <a:ahLst/>
              <a:cxnLst/>
              <a:rect l="l" t="t" r="r" b="b"/>
              <a:pathLst>
                <a:path w="812800" h="1569172">
                  <a:moveTo>
                    <a:pt x="406400" y="1569172"/>
                  </a:moveTo>
                  <a:lnTo>
                    <a:pt x="0" y="1162772"/>
                  </a:lnTo>
                  <a:lnTo>
                    <a:pt x="203200" y="1162772"/>
                  </a:lnTo>
                  <a:lnTo>
                    <a:pt x="203200" y="0"/>
                  </a:lnTo>
                  <a:lnTo>
                    <a:pt x="609600" y="0"/>
                  </a:lnTo>
                  <a:lnTo>
                    <a:pt x="609600" y="1162772"/>
                  </a:lnTo>
                  <a:lnTo>
                    <a:pt x="812800" y="1162772"/>
                  </a:lnTo>
                  <a:lnTo>
                    <a:pt x="406400" y="1569172"/>
                  </a:lnTo>
                  <a:close/>
                </a:path>
              </a:pathLst>
            </a:custGeom>
            <a:solidFill>
              <a:srgbClr val="2E236C"/>
            </a:solidFill>
          </p:spPr>
          <p:txBody>
            <a:bodyPr/>
            <a:lstStyle/>
            <a:p>
              <a:endParaRPr lang="en-US"/>
            </a:p>
          </p:txBody>
        </p:sp>
        <p:sp>
          <p:nvSpPr>
            <p:cNvPr id="14" name="TextBox 14"/>
            <p:cNvSpPr txBox="1"/>
            <p:nvPr/>
          </p:nvSpPr>
          <p:spPr>
            <a:xfrm>
              <a:off x="203200" y="-38100"/>
              <a:ext cx="406400" cy="1505672"/>
            </a:xfrm>
            <a:prstGeom prst="rect">
              <a:avLst/>
            </a:prstGeom>
          </p:spPr>
          <p:txBody>
            <a:bodyPr lIns="33867" tIns="33867" rIns="33867" bIns="33867" rtlCol="0" anchor="ctr"/>
            <a:lstStyle/>
            <a:p>
              <a:pPr algn="ctr">
                <a:lnSpc>
                  <a:spcPts val="2053"/>
                </a:lnSpc>
              </a:pPr>
              <a:endParaRPr sz="1200"/>
            </a:p>
          </p:txBody>
        </p:sp>
      </p:grpSp>
      <p:grpSp>
        <p:nvGrpSpPr>
          <p:cNvPr id="15" name="Group 15"/>
          <p:cNvGrpSpPr/>
          <p:nvPr/>
        </p:nvGrpSpPr>
        <p:grpSpPr>
          <a:xfrm>
            <a:off x="8648260" y="3064797"/>
            <a:ext cx="324250" cy="1022899"/>
            <a:chOff x="0" y="0"/>
            <a:chExt cx="812800" cy="2564106"/>
          </a:xfrm>
        </p:grpSpPr>
        <p:sp>
          <p:nvSpPr>
            <p:cNvPr id="16" name="Freeform 16"/>
            <p:cNvSpPr/>
            <p:nvPr/>
          </p:nvSpPr>
          <p:spPr>
            <a:xfrm>
              <a:off x="0" y="0"/>
              <a:ext cx="812800" cy="2564106"/>
            </a:xfrm>
            <a:custGeom>
              <a:avLst/>
              <a:gdLst/>
              <a:ahLst/>
              <a:cxnLst/>
              <a:rect l="l" t="t" r="r" b="b"/>
              <a:pathLst>
                <a:path w="812800" h="2564106">
                  <a:moveTo>
                    <a:pt x="406400" y="2564106"/>
                  </a:moveTo>
                  <a:lnTo>
                    <a:pt x="0" y="2157706"/>
                  </a:lnTo>
                  <a:lnTo>
                    <a:pt x="203200" y="2157706"/>
                  </a:lnTo>
                  <a:lnTo>
                    <a:pt x="203200" y="0"/>
                  </a:lnTo>
                  <a:lnTo>
                    <a:pt x="609600" y="0"/>
                  </a:lnTo>
                  <a:lnTo>
                    <a:pt x="609600" y="2157706"/>
                  </a:lnTo>
                  <a:lnTo>
                    <a:pt x="812800" y="2157706"/>
                  </a:lnTo>
                  <a:lnTo>
                    <a:pt x="406400" y="2564106"/>
                  </a:lnTo>
                  <a:close/>
                </a:path>
              </a:pathLst>
            </a:custGeom>
            <a:solidFill>
              <a:srgbClr val="2E236C"/>
            </a:solidFill>
          </p:spPr>
          <p:txBody>
            <a:bodyPr/>
            <a:lstStyle/>
            <a:p>
              <a:endParaRPr lang="en-US"/>
            </a:p>
          </p:txBody>
        </p:sp>
        <p:sp>
          <p:nvSpPr>
            <p:cNvPr id="17" name="TextBox 17"/>
            <p:cNvSpPr txBox="1"/>
            <p:nvPr/>
          </p:nvSpPr>
          <p:spPr>
            <a:xfrm>
              <a:off x="203200" y="-38100"/>
              <a:ext cx="406400" cy="2500606"/>
            </a:xfrm>
            <a:prstGeom prst="rect">
              <a:avLst/>
            </a:prstGeom>
          </p:spPr>
          <p:txBody>
            <a:bodyPr lIns="33867" tIns="33867" rIns="33867" bIns="33867" rtlCol="0" anchor="ctr"/>
            <a:lstStyle/>
            <a:p>
              <a:pPr algn="ctr">
                <a:lnSpc>
                  <a:spcPts val="2053"/>
                </a:lnSpc>
              </a:pPr>
              <a:endParaRPr sz="1200"/>
            </a:p>
          </p:txBody>
        </p:sp>
      </p:grpSp>
      <p:sp>
        <p:nvSpPr>
          <p:cNvPr id="19" name="TextBox 19"/>
          <p:cNvSpPr txBox="1"/>
          <p:nvPr/>
        </p:nvSpPr>
        <p:spPr>
          <a:xfrm>
            <a:off x="683175" y="262044"/>
            <a:ext cx="10562819" cy="448841"/>
          </a:xfrm>
          <a:prstGeom prst="rect">
            <a:avLst/>
          </a:prstGeom>
        </p:spPr>
        <p:txBody>
          <a:bodyPr lIns="0" tIns="0" rIns="0" bIns="0" rtlCol="0" anchor="t">
            <a:spAutoFit/>
          </a:bodyPr>
          <a:lstStyle/>
          <a:p>
            <a:pPr marL="0" lvl="1" algn="ctr">
              <a:lnSpc>
                <a:spcPts val="3547"/>
              </a:lnSpc>
              <a:spcBef>
                <a:spcPct val="0"/>
              </a:spcBef>
            </a:pPr>
            <a:r>
              <a:rPr lang="en-US" sz="3000" b="1" spc="76">
                <a:solidFill>
                  <a:schemeClr val="accent1">
                    <a:lumMod val="50000"/>
                  </a:schemeClr>
                </a:solidFill>
                <a:ea typeface="Poppins Heavy"/>
                <a:cs typeface="Poppins Heavy"/>
                <a:sym typeface="Poppins Heavy"/>
              </a:rPr>
              <a:t>HOW OUR SOLUTION ADDRESSES EXISTING GAPS</a:t>
            </a:r>
          </a:p>
        </p:txBody>
      </p:sp>
      <p:sp>
        <p:nvSpPr>
          <p:cNvPr id="20" name="TextBox 20"/>
          <p:cNvSpPr txBox="1"/>
          <p:nvPr/>
        </p:nvSpPr>
        <p:spPr>
          <a:xfrm>
            <a:off x="364938" y="1030269"/>
            <a:ext cx="3091321" cy="514115"/>
          </a:xfrm>
          <a:prstGeom prst="rect">
            <a:avLst/>
          </a:prstGeom>
        </p:spPr>
        <p:txBody>
          <a:bodyPr lIns="0" tIns="0" rIns="0" bIns="0" rtlCol="0" anchor="t">
            <a:spAutoFit/>
          </a:bodyPr>
          <a:lstStyle/>
          <a:p>
            <a:pPr marL="0" lvl="1">
              <a:lnSpc>
                <a:spcPts val="2053"/>
              </a:lnSpc>
              <a:spcBef>
                <a:spcPct val="0"/>
              </a:spcBef>
            </a:pPr>
            <a:r>
              <a:rPr lang="en-US" sz="1466" b="1">
                <a:solidFill>
                  <a:srgbClr val="0D0D0D"/>
                </a:solidFill>
                <a:latin typeface="Times New Roman" panose="02020603050405020304" pitchFamily="18" charset="0"/>
                <a:ea typeface="Montserrat Bold"/>
                <a:cs typeface="Times New Roman" panose="02020603050405020304" pitchFamily="18" charset="0"/>
                <a:sym typeface="Montserrat Bold"/>
              </a:rPr>
              <a:t>Research 1: Symptom-Based Tracking Apps</a:t>
            </a:r>
          </a:p>
        </p:txBody>
      </p:sp>
      <p:sp>
        <p:nvSpPr>
          <p:cNvPr id="21" name="TextBox 21"/>
          <p:cNvSpPr txBox="1"/>
          <p:nvPr/>
        </p:nvSpPr>
        <p:spPr>
          <a:xfrm>
            <a:off x="364937" y="1607272"/>
            <a:ext cx="3367595" cy="1289584"/>
          </a:xfrm>
          <a:prstGeom prst="rect">
            <a:avLst/>
          </a:prstGeom>
        </p:spPr>
        <p:txBody>
          <a:bodyPr lIns="0" tIns="0" rIns="0" bIns="0" rtlCol="0" anchor="t">
            <a:spAutoFit/>
          </a:bodyPr>
          <a:lstStyle/>
          <a:p>
            <a:pPr marL="244698" lvl="1" indent="-122349" algn="just">
              <a:lnSpc>
                <a:spcPts val="1699"/>
              </a:lnSpc>
              <a:spcBef>
                <a:spcPct val="0"/>
              </a:spcBef>
              <a:buFont typeface="Arial"/>
              <a:buChar char="•"/>
            </a:pPr>
            <a:r>
              <a:rPr lang="en-US" sz="1200" b="1">
                <a:solidFill>
                  <a:srgbClr val="3B3B3B"/>
                </a:solidFill>
                <a:latin typeface="Times New Roman" panose="02020603050405020304" pitchFamily="18" charset="0"/>
                <a:ea typeface="Canva Sans Bold"/>
                <a:cs typeface="Times New Roman" panose="02020603050405020304" pitchFamily="18" charset="0"/>
                <a:sym typeface="Canva Sans Bold"/>
              </a:rPr>
              <a:t>Limitation</a:t>
            </a:r>
            <a:r>
              <a:rPr lang="en-US" sz="1200">
                <a:solidFill>
                  <a:srgbClr val="3B3B3B"/>
                </a:solidFill>
                <a:latin typeface="Times New Roman" panose="02020603050405020304" pitchFamily="18" charset="0"/>
                <a:ea typeface="Canva Sans"/>
                <a:cs typeface="Times New Roman" panose="02020603050405020304" pitchFamily="18" charset="0"/>
                <a:sym typeface="Canva Sans"/>
              </a:rPr>
              <a:t>: Only track current symptoms.</a:t>
            </a:r>
          </a:p>
          <a:p>
            <a:pPr marL="244698" lvl="1" indent="-122349" algn="just">
              <a:lnSpc>
                <a:spcPts val="1699"/>
              </a:lnSpc>
              <a:spcBef>
                <a:spcPct val="0"/>
              </a:spcBef>
              <a:buFont typeface="Arial"/>
              <a:buChar char="•"/>
            </a:pPr>
            <a:r>
              <a:rPr lang="en-US" sz="1200" b="1">
                <a:solidFill>
                  <a:srgbClr val="3B3B3B"/>
                </a:solidFill>
                <a:latin typeface="Times New Roman" panose="02020603050405020304" pitchFamily="18" charset="0"/>
                <a:ea typeface="Canva Sans Bold"/>
                <a:cs typeface="Times New Roman" panose="02020603050405020304" pitchFamily="18" charset="0"/>
                <a:sym typeface="Canva Sans Bold"/>
              </a:rPr>
              <a:t>Gap</a:t>
            </a:r>
            <a:r>
              <a:rPr lang="en-US" sz="1200">
                <a:solidFill>
                  <a:srgbClr val="3B3B3B"/>
                </a:solidFill>
                <a:latin typeface="Times New Roman" panose="02020603050405020304" pitchFamily="18" charset="0"/>
                <a:ea typeface="Canva Sans"/>
                <a:cs typeface="Times New Roman" panose="02020603050405020304" pitchFamily="18" charset="0"/>
                <a:sym typeface="Canva Sans"/>
              </a:rPr>
              <a:t>: Doesn’t consider long-term medication effects.</a:t>
            </a:r>
          </a:p>
          <a:p>
            <a:pPr marL="244698" lvl="1" indent="-122349" algn="just">
              <a:lnSpc>
                <a:spcPts val="1699"/>
              </a:lnSpc>
              <a:spcBef>
                <a:spcPct val="0"/>
              </a:spcBef>
              <a:buFont typeface="Arial"/>
              <a:buChar char="•"/>
            </a:pPr>
            <a:r>
              <a:rPr lang="en-US" sz="1200" b="1">
                <a:solidFill>
                  <a:srgbClr val="3B3B3B"/>
                </a:solidFill>
                <a:latin typeface="Times New Roman" panose="02020603050405020304" pitchFamily="18" charset="0"/>
                <a:ea typeface="Canva Sans Bold"/>
                <a:cs typeface="Times New Roman" panose="02020603050405020304" pitchFamily="18" charset="0"/>
                <a:sym typeface="Canva Sans Bold"/>
              </a:rPr>
              <a:t>Our Solution:</a:t>
            </a:r>
            <a:r>
              <a:rPr lang="en-US" sz="1200">
                <a:solidFill>
                  <a:srgbClr val="3B3B3B"/>
                </a:solidFill>
                <a:latin typeface="Times New Roman" panose="02020603050405020304" pitchFamily="18" charset="0"/>
                <a:ea typeface="Canva Sans"/>
                <a:cs typeface="Times New Roman" panose="02020603050405020304" pitchFamily="18" charset="0"/>
                <a:sym typeface="Canva Sans"/>
              </a:rPr>
              <a:t> Integrates symptom tracking with medication history for early deficiency alerts.</a:t>
            </a:r>
          </a:p>
          <a:p>
            <a:pPr algn="just">
              <a:lnSpc>
                <a:spcPts val="1699"/>
              </a:lnSpc>
              <a:spcBef>
                <a:spcPct val="0"/>
              </a:spcBef>
            </a:pPr>
            <a:endParaRPr lang="en-US" sz="1200">
              <a:solidFill>
                <a:srgbClr val="3B3B3B"/>
              </a:solidFill>
              <a:latin typeface="Times New Roman" panose="02020603050405020304" pitchFamily="18" charset="0"/>
              <a:ea typeface="Canva Sans"/>
              <a:cs typeface="Times New Roman" panose="02020603050405020304" pitchFamily="18" charset="0"/>
              <a:sym typeface="Canva Sans"/>
            </a:endParaRPr>
          </a:p>
        </p:txBody>
      </p:sp>
      <p:sp>
        <p:nvSpPr>
          <p:cNvPr id="22" name="TextBox 22"/>
          <p:cNvSpPr txBox="1"/>
          <p:nvPr/>
        </p:nvSpPr>
        <p:spPr>
          <a:xfrm>
            <a:off x="5964585" y="865169"/>
            <a:ext cx="3091321" cy="514115"/>
          </a:xfrm>
          <a:prstGeom prst="rect">
            <a:avLst/>
          </a:prstGeom>
        </p:spPr>
        <p:txBody>
          <a:bodyPr lIns="0" tIns="0" rIns="0" bIns="0" rtlCol="0" anchor="t">
            <a:spAutoFit/>
          </a:bodyPr>
          <a:lstStyle/>
          <a:p>
            <a:pPr marL="0" lvl="1">
              <a:lnSpc>
                <a:spcPts val="2053"/>
              </a:lnSpc>
              <a:spcBef>
                <a:spcPct val="0"/>
              </a:spcBef>
            </a:pPr>
            <a:r>
              <a:rPr lang="en-US" sz="1466" b="1">
                <a:solidFill>
                  <a:srgbClr val="0D0D0D"/>
                </a:solidFill>
                <a:latin typeface="Times New Roman" panose="02020603050405020304" pitchFamily="18" charset="0"/>
                <a:ea typeface="Montserrat Bold"/>
                <a:cs typeface="Times New Roman" panose="02020603050405020304" pitchFamily="18" charset="0"/>
                <a:sym typeface="Montserrat Bold"/>
              </a:rPr>
              <a:t>Research 2: Neural Network Image Based)</a:t>
            </a:r>
          </a:p>
        </p:txBody>
      </p:sp>
      <p:sp>
        <p:nvSpPr>
          <p:cNvPr id="23" name="TextBox 23"/>
          <p:cNvSpPr txBox="1"/>
          <p:nvPr/>
        </p:nvSpPr>
        <p:spPr>
          <a:xfrm>
            <a:off x="5022407" y="1416773"/>
            <a:ext cx="3625852" cy="1504643"/>
          </a:xfrm>
          <a:prstGeom prst="rect">
            <a:avLst/>
          </a:prstGeom>
        </p:spPr>
        <p:txBody>
          <a:bodyPr lIns="0" tIns="0" rIns="0" bIns="0" rtlCol="0" anchor="t">
            <a:spAutoFit/>
          </a:bodyPr>
          <a:lstStyle/>
          <a:p>
            <a:pPr marL="244698" lvl="1" indent="-122349" algn="just">
              <a:lnSpc>
                <a:spcPts val="1699"/>
              </a:lnSpc>
              <a:spcBef>
                <a:spcPct val="0"/>
              </a:spcBef>
              <a:buFont typeface="Arial"/>
              <a:buChar char="•"/>
            </a:pPr>
            <a:r>
              <a:rPr lang="en-US" sz="1200" b="1">
                <a:solidFill>
                  <a:srgbClr val="3B3B3B"/>
                </a:solidFill>
                <a:latin typeface="Times New Roman" panose="02020603050405020304" pitchFamily="18" charset="0"/>
                <a:ea typeface="Canva Sans Bold"/>
                <a:cs typeface="Times New Roman" panose="02020603050405020304" pitchFamily="18" charset="0"/>
                <a:sym typeface="Canva Sans Bold"/>
              </a:rPr>
              <a:t>Limitation: </a:t>
            </a:r>
            <a:r>
              <a:rPr lang="en-US" sz="1200">
                <a:solidFill>
                  <a:srgbClr val="3B3B3B"/>
                </a:solidFill>
                <a:latin typeface="Times New Roman" panose="02020603050405020304" pitchFamily="18" charset="0"/>
                <a:ea typeface="Canva Sans"/>
                <a:cs typeface="Times New Roman" panose="02020603050405020304" pitchFamily="18" charset="0"/>
                <a:sym typeface="Canva Sans"/>
              </a:rPr>
              <a:t>Current methods detect deficiencies only after severe symptoms appear.</a:t>
            </a:r>
          </a:p>
          <a:p>
            <a:pPr marL="244698" lvl="1" indent="-122349" algn="just">
              <a:lnSpc>
                <a:spcPts val="1699"/>
              </a:lnSpc>
              <a:spcBef>
                <a:spcPct val="0"/>
              </a:spcBef>
              <a:buFont typeface="Arial"/>
              <a:buChar char="•"/>
            </a:pPr>
            <a:r>
              <a:rPr lang="en-US" sz="1200" b="1">
                <a:solidFill>
                  <a:srgbClr val="3B3B3B"/>
                </a:solidFill>
                <a:latin typeface="Times New Roman" panose="02020603050405020304" pitchFamily="18" charset="0"/>
                <a:ea typeface="Canva Sans Bold"/>
                <a:cs typeface="Times New Roman" panose="02020603050405020304" pitchFamily="18" charset="0"/>
                <a:sym typeface="Canva Sans Bold"/>
              </a:rPr>
              <a:t>Gap:</a:t>
            </a:r>
            <a:r>
              <a:rPr lang="en-US" sz="1200">
                <a:solidFill>
                  <a:srgbClr val="3B3B3B"/>
                </a:solidFill>
                <a:latin typeface="Times New Roman" panose="02020603050405020304" pitchFamily="18" charset="0"/>
                <a:ea typeface="Canva Sans"/>
                <a:cs typeface="Times New Roman" panose="02020603050405020304" pitchFamily="18" charset="0"/>
                <a:sym typeface="Canva Sans"/>
              </a:rPr>
              <a:t> Lack of proactive, early-warning detection.</a:t>
            </a:r>
          </a:p>
          <a:p>
            <a:pPr marL="244698" lvl="1" indent="-122349" algn="just">
              <a:lnSpc>
                <a:spcPts val="1699"/>
              </a:lnSpc>
              <a:spcBef>
                <a:spcPct val="0"/>
              </a:spcBef>
              <a:buFont typeface="Arial"/>
              <a:buChar char="•"/>
            </a:pPr>
            <a:r>
              <a:rPr lang="en-US" sz="1200" b="1">
                <a:solidFill>
                  <a:srgbClr val="3B3B3B"/>
                </a:solidFill>
                <a:latin typeface="Times New Roman" panose="02020603050405020304" pitchFamily="18" charset="0"/>
                <a:ea typeface="Canva Sans Bold"/>
                <a:cs typeface="Times New Roman" panose="02020603050405020304" pitchFamily="18" charset="0"/>
                <a:sym typeface="Canva Sans Bold"/>
              </a:rPr>
              <a:t>Our Solution:</a:t>
            </a:r>
            <a:r>
              <a:rPr lang="en-US" sz="1200">
                <a:solidFill>
                  <a:srgbClr val="3B3B3B"/>
                </a:solidFill>
                <a:latin typeface="Times New Roman" panose="02020603050405020304" pitchFamily="18" charset="0"/>
                <a:ea typeface="Canva Sans"/>
                <a:cs typeface="Times New Roman" panose="02020603050405020304" pitchFamily="18" charset="0"/>
                <a:sym typeface="Canva Sans"/>
              </a:rPr>
              <a:t> AI-powered system provides early alerts based on subtle symptom analysis.</a:t>
            </a:r>
          </a:p>
          <a:p>
            <a:pPr marL="244698" lvl="1" indent="-122349" algn="just">
              <a:lnSpc>
                <a:spcPts val="1699"/>
              </a:lnSpc>
              <a:spcBef>
                <a:spcPct val="0"/>
              </a:spcBef>
              <a:buFont typeface="Arial"/>
              <a:buChar char="•"/>
            </a:pPr>
            <a:endParaRPr lang="en-US" sz="1200">
              <a:solidFill>
                <a:srgbClr val="3B3B3B"/>
              </a:solidFill>
              <a:latin typeface="Times New Roman" panose="02020603050405020304" pitchFamily="18" charset="0"/>
              <a:ea typeface="Canva Sans"/>
              <a:cs typeface="Times New Roman" panose="02020603050405020304" pitchFamily="18" charset="0"/>
              <a:sym typeface="Canva Sans"/>
            </a:endParaRPr>
          </a:p>
          <a:p>
            <a:pPr algn="just">
              <a:lnSpc>
                <a:spcPts val="1699"/>
              </a:lnSpc>
              <a:spcBef>
                <a:spcPct val="0"/>
              </a:spcBef>
            </a:pPr>
            <a:endParaRPr lang="en-US" sz="1200">
              <a:solidFill>
                <a:srgbClr val="3B3B3B"/>
              </a:solidFill>
              <a:latin typeface="Times New Roman" panose="02020603050405020304" pitchFamily="18" charset="0"/>
              <a:ea typeface="Canva Sans"/>
              <a:cs typeface="Times New Roman" panose="02020603050405020304" pitchFamily="18" charset="0"/>
              <a:sym typeface="Canva Sans"/>
            </a:endParaRPr>
          </a:p>
        </p:txBody>
      </p:sp>
      <p:sp>
        <p:nvSpPr>
          <p:cNvPr id="24" name="TextBox 24"/>
          <p:cNvSpPr txBox="1"/>
          <p:nvPr/>
        </p:nvSpPr>
        <p:spPr>
          <a:xfrm>
            <a:off x="7102600" y="4074125"/>
            <a:ext cx="3091321" cy="514115"/>
          </a:xfrm>
          <a:prstGeom prst="rect">
            <a:avLst/>
          </a:prstGeom>
        </p:spPr>
        <p:txBody>
          <a:bodyPr lIns="0" tIns="0" rIns="0" bIns="0" rtlCol="0" anchor="t">
            <a:spAutoFit/>
          </a:bodyPr>
          <a:lstStyle/>
          <a:p>
            <a:pPr marL="0" lvl="1">
              <a:lnSpc>
                <a:spcPts val="2053"/>
              </a:lnSpc>
              <a:spcBef>
                <a:spcPct val="0"/>
              </a:spcBef>
            </a:pPr>
            <a:r>
              <a:rPr lang="en-US" sz="1466" b="1">
                <a:solidFill>
                  <a:srgbClr val="0D0D0D"/>
                </a:solidFill>
                <a:latin typeface="Times New Roman" panose="02020603050405020304" pitchFamily="18" charset="0"/>
                <a:ea typeface="Montserrat Bold"/>
                <a:cs typeface="Times New Roman" panose="02020603050405020304" pitchFamily="18" charset="0"/>
                <a:sym typeface="Montserrat Bold"/>
              </a:rPr>
              <a:t>Research 4: Wearable-Based Health Monitoring</a:t>
            </a:r>
          </a:p>
        </p:txBody>
      </p:sp>
      <p:sp>
        <p:nvSpPr>
          <p:cNvPr id="25" name="TextBox 25"/>
          <p:cNvSpPr txBox="1"/>
          <p:nvPr/>
        </p:nvSpPr>
        <p:spPr>
          <a:xfrm>
            <a:off x="7510245" y="4621072"/>
            <a:ext cx="4084851" cy="1438022"/>
          </a:xfrm>
          <a:prstGeom prst="rect">
            <a:avLst/>
          </a:prstGeom>
        </p:spPr>
        <p:txBody>
          <a:bodyPr lIns="0" tIns="0" rIns="0" bIns="0" rtlCol="0" anchor="t">
            <a:spAutoFit/>
          </a:bodyPr>
          <a:lstStyle/>
          <a:p>
            <a:pPr algn="just">
              <a:lnSpc>
                <a:spcPts val="1899"/>
              </a:lnSpc>
              <a:spcBef>
                <a:spcPct val="0"/>
              </a:spcBef>
            </a:pPr>
            <a:endParaRPr sz="1200">
              <a:latin typeface="Times New Roman" panose="02020603050405020304" pitchFamily="18" charset="0"/>
              <a:cs typeface="Times New Roman" panose="02020603050405020304" pitchFamily="18" charset="0"/>
            </a:endParaRPr>
          </a:p>
          <a:p>
            <a:pPr marL="273486" lvl="1" indent="-136743" algn="just">
              <a:lnSpc>
                <a:spcPts val="1899"/>
              </a:lnSpc>
              <a:spcBef>
                <a:spcPct val="0"/>
              </a:spcBef>
              <a:buFont typeface="Arial"/>
              <a:buChar char="•"/>
            </a:pPr>
            <a:r>
              <a:rPr lang="en-US" sz="1266" b="1">
                <a:solidFill>
                  <a:srgbClr val="3B3B3B"/>
                </a:solidFill>
                <a:latin typeface="Times New Roman" panose="02020603050405020304" pitchFamily="18" charset="0"/>
                <a:ea typeface="Canva Sans Bold"/>
                <a:cs typeface="Times New Roman" panose="02020603050405020304" pitchFamily="18" charset="0"/>
                <a:sym typeface="Canva Sans Bold"/>
              </a:rPr>
              <a:t>Limitation:</a:t>
            </a:r>
            <a:r>
              <a:rPr lang="en-US" sz="1266">
                <a:solidFill>
                  <a:srgbClr val="3B3B3B"/>
                </a:solidFill>
                <a:latin typeface="Times New Roman" panose="02020603050405020304" pitchFamily="18" charset="0"/>
                <a:ea typeface="Canva Sans"/>
                <a:cs typeface="Times New Roman" panose="02020603050405020304" pitchFamily="18" charset="0"/>
                <a:sym typeface="Canva Sans"/>
              </a:rPr>
              <a:t> Single metrics, snapshot-based data.</a:t>
            </a:r>
          </a:p>
          <a:p>
            <a:pPr marL="273486" lvl="1" indent="-136743" algn="just">
              <a:lnSpc>
                <a:spcPts val="1899"/>
              </a:lnSpc>
              <a:spcBef>
                <a:spcPct val="0"/>
              </a:spcBef>
              <a:buFont typeface="Arial"/>
              <a:buChar char="•"/>
            </a:pPr>
            <a:r>
              <a:rPr lang="en-US" sz="1266" b="1">
                <a:solidFill>
                  <a:srgbClr val="3B3B3B"/>
                </a:solidFill>
                <a:latin typeface="Times New Roman" panose="02020603050405020304" pitchFamily="18" charset="0"/>
                <a:ea typeface="Canva Sans Bold"/>
                <a:cs typeface="Times New Roman" panose="02020603050405020304" pitchFamily="18" charset="0"/>
                <a:sym typeface="Canva Sans Bold"/>
              </a:rPr>
              <a:t>Gap:</a:t>
            </a:r>
            <a:r>
              <a:rPr lang="en-US" sz="1266">
                <a:solidFill>
                  <a:srgbClr val="3B3B3B"/>
                </a:solidFill>
                <a:latin typeface="Times New Roman" panose="02020603050405020304" pitchFamily="18" charset="0"/>
                <a:ea typeface="Canva Sans"/>
                <a:cs typeface="Times New Roman" panose="02020603050405020304" pitchFamily="18" charset="0"/>
                <a:sym typeface="Canva Sans"/>
              </a:rPr>
              <a:t> No longitudinal tracking or predictive warnings.</a:t>
            </a:r>
          </a:p>
          <a:p>
            <a:pPr marL="273486" lvl="1" indent="-136743" algn="just">
              <a:lnSpc>
                <a:spcPts val="1899"/>
              </a:lnSpc>
              <a:spcBef>
                <a:spcPct val="0"/>
              </a:spcBef>
              <a:buFont typeface="Arial"/>
              <a:buChar char="•"/>
            </a:pPr>
            <a:r>
              <a:rPr lang="en-US" sz="1266" b="1">
                <a:solidFill>
                  <a:srgbClr val="3B3B3B"/>
                </a:solidFill>
                <a:latin typeface="Times New Roman" panose="02020603050405020304" pitchFamily="18" charset="0"/>
                <a:ea typeface="Canva Sans Bold"/>
                <a:cs typeface="Times New Roman" panose="02020603050405020304" pitchFamily="18" charset="0"/>
                <a:sym typeface="Canva Sans Bold"/>
              </a:rPr>
              <a:t>Our Solution:</a:t>
            </a:r>
            <a:r>
              <a:rPr lang="en-US" sz="1266">
                <a:solidFill>
                  <a:srgbClr val="3B3B3B"/>
                </a:solidFill>
                <a:latin typeface="Times New Roman" panose="02020603050405020304" pitchFamily="18" charset="0"/>
                <a:ea typeface="Canva Sans"/>
                <a:cs typeface="Times New Roman" panose="02020603050405020304" pitchFamily="18" charset="0"/>
                <a:sym typeface="Canva Sans"/>
              </a:rPr>
              <a:t> Uses long-term symptom tracking and predictive models for proactive alerts.</a:t>
            </a:r>
          </a:p>
          <a:p>
            <a:pPr algn="just">
              <a:lnSpc>
                <a:spcPts val="1899"/>
              </a:lnSpc>
              <a:spcBef>
                <a:spcPct val="0"/>
              </a:spcBef>
            </a:pPr>
            <a:endParaRPr lang="en-US" sz="1266">
              <a:solidFill>
                <a:srgbClr val="3B3B3B"/>
              </a:solidFill>
              <a:latin typeface="Times New Roman" panose="02020603050405020304" pitchFamily="18" charset="0"/>
              <a:ea typeface="Canva Sans"/>
              <a:cs typeface="Times New Roman" panose="02020603050405020304" pitchFamily="18" charset="0"/>
              <a:sym typeface="Canva Sans"/>
            </a:endParaRPr>
          </a:p>
        </p:txBody>
      </p:sp>
      <p:sp>
        <p:nvSpPr>
          <p:cNvPr id="26" name="TextBox 26"/>
          <p:cNvSpPr txBox="1"/>
          <p:nvPr/>
        </p:nvSpPr>
        <p:spPr>
          <a:xfrm>
            <a:off x="211990" y="4215357"/>
            <a:ext cx="2767071" cy="514115"/>
          </a:xfrm>
          <a:prstGeom prst="rect">
            <a:avLst/>
          </a:prstGeom>
        </p:spPr>
        <p:txBody>
          <a:bodyPr wrap="square" lIns="0" tIns="0" rIns="0" bIns="0" rtlCol="0" anchor="t">
            <a:spAutoFit/>
          </a:bodyPr>
          <a:lstStyle/>
          <a:p>
            <a:pPr marL="0" lvl="1">
              <a:lnSpc>
                <a:spcPts val="2053"/>
              </a:lnSpc>
              <a:spcBef>
                <a:spcPct val="0"/>
              </a:spcBef>
            </a:pPr>
            <a:r>
              <a:rPr lang="en-US" sz="1466" b="1">
                <a:solidFill>
                  <a:srgbClr val="0D0D0D"/>
                </a:solidFill>
                <a:latin typeface="Times New Roman" panose="02020603050405020304" pitchFamily="18" charset="0"/>
                <a:ea typeface="Montserrat Bold"/>
                <a:cs typeface="Times New Roman" panose="02020603050405020304" pitchFamily="18" charset="0"/>
                <a:sym typeface="Montserrat Bold"/>
              </a:rPr>
              <a:t>Research 3: Expert System Forward Chaining</a:t>
            </a:r>
          </a:p>
        </p:txBody>
      </p:sp>
      <p:sp>
        <p:nvSpPr>
          <p:cNvPr id="27" name="TextBox 27"/>
          <p:cNvSpPr txBox="1"/>
          <p:nvPr/>
        </p:nvSpPr>
        <p:spPr>
          <a:xfrm>
            <a:off x="462827" y="4820901"/>
            <a:ext cx="4875471" cy="1725601"/>
          </a:xfrm>
          <a:prstGeom prst="rect">
            <a:avLst/>
          </a:prstGeom>
        </p:spPr>
        <p:txBody>
          <a:bodyPr lIns="0" tIns="0" rIns="0" bIns="0" rtlCol="0" anchor="t">
            <a:spAutoFit/>
          </a:bodyPr>
          <a:lstStyle/>
          <a:p>
            <a:pPr marL="244698" lvl="1" indent="-122349" algn="just">
              <a:lnSpc>
                <a:spcPts val="1699"/>
              </a:lnSpc>
              <a:spcBef>
                <a:spcPct val="0"/>
              </a:spcBef>
              <a:buFont typeface="Arial"/>
              <a:buChar char="•"/>
            </a:pPr>
            <a:r>
              <a:rPr lang="en-US" sz="1200" b="1">
                <a:solidFill>
                  <a:srgbClr val="3B3B3B"/>
                </a:solidFill>
                <a:latin typeface="Times New Roman" panose="02020603050405020304" pitchFamily="18" charset="0"/>
                <a:ea typeface="Canva Sans Bold"/>
                <a:cs typeface="Times New Roman" panose="02020603050405020304" pitchFamily="18" charset="0"/>
                <a:sym typeface="Canva Sans Bold"/>
              </a:rPr>
              <a:t>Limitation:</a:t>
            </a:r>
            <a:r>
              <a:rPr lang="en-US" sz="1200">
                <a:solidFill>
                  <a:srgbClr val="3B3B3B"/>
                </a:solidFill>
                <a:latin typeface="Times New Roman" panose="02020603050405020304" pitchFamily="18" charset="0"/>
                <a:ea typeface="Canva Sans"/>
                <a:cs typeface="Times New Roman" panose="02020603050405020304" pitchFamily="18" charset="0"/>
                <a:sym typeface="Canva Sans"/>
              </a:rPr>
              <a:t> Provide generic dietary advice, not customized for age, health conditions, or medications.</a:t>
            </a:r>
          </a:p>
          <a:p>
            <a:pPr marL="244698" lvl="1" indent="-122349" algn="just">
              <a:lnSpc>
                <a:spcPts val="1699"/>
              </a:lnSpc>
              <a:spcBef>
                <a:spcPct val="0"/>
              </a:spcBef>
              <a:buFont typeface="Arial"/>
              <a:buChar char="•"/>
            </a:pPr>
            <a:r>
              <a:rPr lang="en-US" sz="1200" b="1">
                <a:solidFill>
                  <a:srgbClr val="3B3B3B"/>
                </a:solidFill>
                <a:latin typeface="Times New Roman" panose="02020603050405020304" pitchFamily="18" charset="0"/>
                <a:ea typeface="Canva Sans Bold"/>
                <a:cs typeface="Times New Roman" panose="02020603050405020304" pitchFamily="18" charset="0"/>
                <a:sym typeface="Canva Sans Bold"/>
              </a:rPr>
              <a:t>Gap:</a:t>
            </a:r>
            <a:r>
              <a:rPr lang="en-US" sz="1200">
                <a:solidFill>
                  <a:srgbClr val="3B3B3B"/>
                </a:solidFill>
                <a:latin typeface="Times New Roman" panose="02020603050405020304" pitchFamily="18" charset="0"/>
                <a:ea typeface="Canva Sans"/>
                <a:cs typeface="Times New Roman" panose="02020603050405020304" pitchFamily="18" charset="0"/>
                <a:sym typeface="Canva Sans"/>
              </a:rPr>
              <a:t> Lack of personalized  guidance for high-risk populations, especially older adults or those on long-term medication.</a:t>
            </a:r>
          </a:p>
          <a:p>
            <a:pPr marL="244698" lvl="1" indent="-122349" algn="just">
              <a:lnSpc>
                <a:spcPts val="1699"/>
              </a:lnSpc>
              <a:spcBef>
                <a:spcPct val="0"/>
              </a:spcBef>
              <a:buFont typeface="Arial"/>
              <a:buChar char="•"/>
            </a:pPr>
            <a:r>
              <a:rPr lang="en-US" sz="1200" b="1">
                <a:solidFill>
                  <a:srgbClr val="3B3B3B"/>
                </a:solidFill>
                <a:latin typeface="Times New Roman" panose="02020603050405020304" pitchFamily="18" charset="0"/>
                <a:ea typeface="Canva Sans Bold"/>
                <a:cs typeface="Times New Roman" panose="02020603050405020304" pitchFamily="18" charset="0"/>
                <a:sym typeface="Canva Sans Bold"/>
              </a:rPr>
              <a:t>Our Solution</a:t>
            </a:r>
            <a:r>
              <a:rPr lang="en-US" sz="1200">
                <a:solidFill>
                  <a:srgbClr val="3B3B3B"/>
                </a:solidFill>
                <a:latin typeface="Times New Roman" panose="02020603050405020304" pitchFamily="18" charset="0"/>
                <a:ea typeface="Canva Sans"/>
                <a:cs typeface="Times New Roman" panose="02020603050405020304" pitchFamily="18" charset="0"/>
                <a:sym typeface="Canva Sans"/>
              </a:rPr>
              <a:t>: System delivers personalized  vitamin recommendations based on individual age, health conditions, lifestyle, and medication history.</a:t>
            </a:r>
          </a:p>
          <a:p>
            <a:pPr algn="just">
              <a:lnSpc>
                <a:spcPts val="1699"/>
              </a:lnSpc>
              <a:spcBef>
                <a:spcPct val="0"/>
              </a:spcBef>
            </a:pPr>
            <a:endParaRPr lang="en-US" sz="1200">
              <a:solidFill>
                <a:srgbClr val="3B3B3B"/>
              </a:solidFill>
              <a:latin typeface="Times New Roman" panose="02020603050405020304" pitchFamily="18" charset="0"/>
              <a:ea typeface="Canva Sans"/>
              <a:cs typeface="Times New Roman" panose="02020603050405020304" pitchFamily="18" charset="0"/>
              <a:sym typeface="Canva Sans"/>
            </a:endParaRPr>
          </a:p>
        </p:txBody>
      </p:sp>
      <p:sp>
        <p:nvSpPr>
          <p:cNvPr id="28" name="Rectangle 27">
            <a:extLst>
              <a:ext uri="{FF2B5EF4-FFF2-40B4-BE49-F238E27FC236}">
                <a16:creationId xmlns:a16="http://schemas.microsoft.com/office/drawing/2014/main" id="{090D78CD-58D8-45E2-C033-20E2BD60AF2F}"/>
              </a:ext>
            </a:extLst>
          </p:cNvPr>
          <p:cNvSpPr/>
          <p:nvPr/>
        </p:nvSpPr>
        <p:spPr>
          <a:xfrm>
            <a:off x="2687817" y="6496051"/>
            <a:ext cx="6816365" cy="36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tx1"/>
                </a:solidFill>
                <a:effectLst/>
                <a:uLnTx/>
                <a:uFillTx/>
                <a:latin typeface="Cambria"/>
                <a:ea typeface="+mn-ea"/>
                <a:cs typeface="+mn-cs"/>
              </a:rPr>
              <a:t>IT22600448</a:t>
            </a:r>
            <a:r>
              <a:rPr kumimoji="0" lang="en-US" sz="1800" b="0" i="0" u="none" strike="noStrike" kern="1200" cap="none" spc="0" normalizeH="0" baseline="0" noProof="0">
                <a:ln>
                  <a:noFill/>
                </a:ln>
                <a:solidFill>
                  <a:schemeClr val="tx1"/>
                </a:solidFill>
                <a:effectLst/>
                <a:uLnTx/>
                <a:uFillTx/>
                <a:latin typeface="Cambria"/>
                <a:ea typeface="+mn-ea"/>
                <a:cs typeface="+mn-cs"/>
              </a:rPr>
              <a:t>   |   </a:t>
            </a:r>
            <a:r>
              <a:rPr kumimoji="0" lang="en-US" sz="1800" b="1" i="0" u="none" strike="noStrike" kern="1200" cap="none" spc="0" normalizeH="0" baseline="0" noProof="0">
                <a:ln>
                  <a:noFill/>
                </a:ln>
                <a:solidFill>
                  <a:schemeClr val="tx1"/>
                </a:solidFill>
                <a:effectLst/>
                <a:uLnTx/>
                <a:uFillTx/>
                <a:latin typeface="Cambria"/>
                <a:ea typeface="+mn-ea"/>
                <a:cs typeface="+mn-cs"/>
              </a:rPr>
              <a:t>Reshmi M.G.G.K   </a:t>
            </a:r>
            <a:r>
              <a:rPr kumimoji="0" lang="en-US" sz="1800" b="0" i="0" u="none" strike="noStrike" kern="1200" cap="none" spc="0" normalizeH="0" baseline="0" noProof="0">
                <a:ln>
                  <a:noFill/>
                </a:ln>
                <a:solidFill>
                  <a:schemeClr val="tx1"/>
                </a:solidFill>
                <a:effectLst/>
                <a:uLnTx/>
                <a:uFillTx/>
                <a:latin typeface="Cambria"/>
                <a:ea typeface="+mn-ea"/>
                <a:cs typeface="+mn-cs"/>
              </a:rPr>
              <a:t>|   25-26J-368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2454813">
            <a:off x="-1655952" y="-1175529"/>
            <a:ext cx="3136941" cy="2482104"/>
          </a:xfrm>
          <a:custGeom>
            <a:avLst/>
            <a:gdLst/>
            <a:ahLst/>
            <a:cxnLst/>
            <a:rect l="l" t="t" r="r" b="b"/>
            <a:pathLst>
              <a:path w="4705411" h="3723156">
                <a:moveTo>
                  <a:pt x="0" y="0"/>
                </a:moveTo>
                <a:lnTo>
                  <a:pt x="4705410" y="0"/>
                </a:lnTo>
                <a:lnTo>
                  <a:pt x="4705410" y="3723157"/>
                </a:lnTo>
                <a:lnTo>
                  <a:pt x="0" y="3723157"/>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454813">
            <a:off x="10623530" y="5821591"/>
            <a:ext cx="3136941" cy="2482104"/>
          </a:xfrm>
          <a:custGeom>
            <a:avLst/>
            <a:gdLst/>
            <a:ahLst/>
            <a:cxnLst/>
            <a:rect l="l" t="t" r="r" b="b"/>
            <a:pathLst>
              <a:path w="4705411" h="3723156">
                <a:moveTo>
                  <a:pt x="0" y="0"/>
                </a:moveTo>
                <a:lnTo>
                  <a:pt x="4705410" y="0"/>
                </a:lnTo>
                <a:lnTo>
                  <a:pt x="4705410" y="3723156"/>
                </a:lnTo>
                <a:lnTo>
                  <a:pt x="0" y="3723156"/>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AutoShape 5"/>
          <p:cNvSpPr/>
          <p:nvPr/>
        </p:nvSpPr>
        <p:spPr>
          <a:xfrm rot="2535986">
            <a:off x="10847593" y="1773149"/>
            <a:ext cx="844311" cy="0"/>
          </a:xfrm>
          <a:prstGeom prst="line">
            <a:avLst/>
          </a:prstGeom>
          <a:ln w="28575" cap="flat">
            <a:solidFill>
              <a:srgbClr val="3C5679"/>
            </a:solidFill>
            <a:prstDash val="sysDash"/>
            <a:headEnd type="none" w="sm" len="sm"/>
            <a:tailEnd type="none" w="sm" len="sm"/>
          </a:ln>
        </p:spPr>
        <p:txBody>
          <a:bodyPr/>
          <a:lstStyle/>
          <a:p>
            <a:endParaRPr lang="en-US"/>
          </a:p>
        </p:txBody>
      </p:sp>
      <p:sp>
        <p:nvSpPr>
          <p:cNvPr id="6" name="AutoShape 6"/>
          <p:cNvSpPr/>
          <p:nvPr/>
        </p:nvSpPr>
        <p:spPr>
          <a:xfrm rot="-3206679">
            <a:off x="10970743" y="5017552"/>
            <a:ext cx="612139" cy="0"/>
          </a:xfrm>
          <a:prstGeom prst="line">
            <a:avLst/>
          </a:prstGeom>
          <a:ln w="28575" cap="flat">
            <a:solidFill>
              <a:srgbClr val="3C5679"/>
            </a:solidFill>
            <a:prstDash val="sysDash"/>
            <a:headEnd type="none" w="sm" len="sm"/>
            <a:tailEnd type="none" w="sm" len="sm"/>
          </a:ln>
        </p:spPr>
        <p:txBody>
          <a:bodyPr/>
          <a:lstStyle/>
          <a:p>
            <a:endParaRPr lang="en-US"/>
          </a:p>
        </p:txBody>
      </p:sp>
      <p:grpSp>
        <p:nvGrpSpPr>
          <p:cNvPr id="7" name="Group 7"/>
          <p:cNvGrpSpPr>
            <a:grpSpLocks noChangeAspect="1"/>
          </p:cNvGrpSpPr>
          <p:nvPr/>
        </p:nvGrpSpPr>
        <p:grpSpPr>
          <a:xfrm>
            <a:off x="10433627" y="1766565"/>
            <a:ext cx="3327867" cy="3327867"/>
            <a:chOff x="0" y="0"/>
            <a:chExt cx="1708150" cy="1708150"/>
          </a:xfrm>
        </p:grpSpPr>
        <p:sp>
          <p:nvSpPr>
            <p:cNvPr id="8" name="Freeform 8"/>
            <p:cNvSpPr/>
            <p:nvPr/>
          </p:nvSpPr>
          <p:spPr>
            <a:xfrm>
              <a:off x="0" y="0"/>
              <a:ext cx="1708150" cy="1708150"/>
            </a:xfrm>
            <a:custGeom>
              <a:avLst/>
              <a:gdLst/>
              <a:ahLst/>
              <a:cxnLst/>
              <a:rect l="l" t="t" r="r" b="b"/>
              <a:pathLst>
                <a:path w="1708150"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6775CA"/>
            </a:solidFill>
          </p:spPr>
          <p:txBody>
            <a:bodyPr/>
            <a:lstStyle/>
            <a:p>
              <a:endParaRPr lang="en-US"/>
            </a:p>
          </p:txBody>
        </p:sp>
      </p:grpSp>
      <p:grpSp>
        <p:nvGrpSpPr>
          <p:cNvPr id="9" name="Group 9"/>
          <p:cNvGrpSpPr>
            <a:grpSpLocks noChangeAspect="1"/>
          </p:cNvGrpSpPr>
          <p:nvPr/>
        </p:nvGrpSpPr>
        <p:grpSpPr>
          <a:xfrm>
            <a:off x="10079371" y="598540"/>
            <a:ext cx="1121053" cy="1121053"/>
            <a:chOff x="0" y="0"/>
            <a:chExt cx="14400530" cy="14400530"/>
          </a:xfrm>
        </p:grpSpPr>
        <p:sp>
          <p:nvSpPr>
            <p:cNvPr id="10" name="Freeform 10"/>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C6C8EA"/>
            </a:solidFill>
          </p:spPr>
          <p:txBody>
            <a:bodyPr/>
            <a:lstStyle/>
            <a:p>
              <a:endParaRPr lang="en-US"/>
            </a:p>
          </p:txBody>
        </p:sp>
      </p:grpSp>
      <p:grpSp>
        <p:nvGrpSpPr>
          <p:cNvPr id="11" name="Group 11"/>
          <p:cNvGrpSpPr>
            <a:grpSpLocks noChangeAspect="1"/>
          </p:cNvGrpSpPr>
          <p:nvPr/>
        </p:nvGrpSpPr>
        <p:grpSpPr>
          <a:xfrm rot="-5400000">
            <a:off x="10079371" y="5138408"/>
            <a:ext cx="1121053" cy="1121053"/>
            <a:chOff x="0" y="0"/>
            <a:chExt cx="14400530" cy="14400530"/>
          </a:xfrm>
        </p:grpSpPr>
        <p:sp>
          <p:nvSpPr>
            <p:cNvPr id="12" name="Freeform 12"/>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9094CA"/>
            </a:solidFill>
          </p:spPr>
          <p:txBody>
            <a:bodyPr/>
            <a:lstStyle/>
            <a:p>
              <a:endParaRPr lang="en-US"/>
            </a:p>
          </p:txBody>
        </p:sp>
      </p:grpSp>
      <p:sp>
        <p:nvSpPr>
          <p:cNvPr id="13" name="AutoShape 13"/>
          <p:cNvSpPr/>
          <p:nvPr/>
        </p:nvSpPr>
        <p:spPr>
          <a:xfrm>
            <a:off x="10209837" y="3420002"/>
            <a:ext cx="223791" cy="20992"/>
          </a:xfrm>
          <a:prstGeom prst="line">
            <a:avLst/>
          </a:prstGeom>
          <a:ln w="28575" cap="flat">
            <a:solidFill>
              <a:srgbClr val="3C5679"/>
            </a:solidFill>
            <a:prstDash val="sysDash"/>
            <a:headEnd type="none" w="sm" len="sm"/>
            <a:tailEnd type="none" w="sm" len="sm"/>
          </a:ln>
        </p:spPr>
        <p:txBody>
          <a:bodyPr/>
          <a:lstStyle/>
          <a:p>
            <a:endParaRPr lang="en-US"/>
          </a:p>
        </p:txBody>
      </p:sp>
      <p:grpSp>
        <p:nvGrpSpPr>
          <p:cNvPr id="14" name="Group 14"/>
          <p:cNvGrpSpPr>
            <a:grpSpLocks noChangeAspect="1"/>
          </p:cNvGrpSpPr>
          <p:nvPr/>
        </p:nvGrpSpPr>
        <p:grpSpPr>
          <a:xfrm rot="-2700000">
            <a:off x="8887552" y="2869972"/>
            <a:ext cx="1121053" cy="1121053"/>
            <a:chOff x="0" y="0"/>
            <a:chExt cx="14400530" cy="14400530"/>
          </a:xfrm>
        </p:grpSpPr>
        <p:sp>
          <p:nvSpPr>
            <p:cNvPr id="15" name="Freeform 15"/>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9094CA"/>
            </a:solidFill>
          </p:spPr>
          <p:txBody>
            <a:bodyPr/>
            <a:lstStyle/>
            <a:p>
              <a:endParaRPr lang="en-US"/>
            </a:p>
          </p:txBody>
        </p:sp>
      </p:grpSp>
      <p:sp>
        <p:nvSpPr>
          <p:cNvPr id="16" name="Freeform 16"/>
          <p:cNvSpPr/>
          <p:nvPr/>
        </p:nvSpPr>
        <p:spPr>
          <a:xfrm rot="3931759">
            <a:off x="8418782" y="1235512"/>
            <a:ext cx="1132697" cy="1679665"/>
          </a:xfrm>
          <a:custGeom>
            <a:avLst/>
            <a:gdLst/>
            <a:ahLst/>
            <a:cxnLst/>
            <a:rect l="l" t="t" r="r" b="b"/>
            <a:pathLst>
              <a:path w="1699046" h="2519498">
                <a:moveTo>
                  <a:pt x="0" y="0"/>
                </a:moveTo>
                <a:lnTo>
                  <a:pt x="1699045" y="0"/>
                </a:lnTo>
                <a:lnTo>
                  <a:pt x="1699045" y="2519498"/>
                </a:lnTo>
                <a:lnTo>
                  <a:pt x="0" y="2519498"/>
                </a:lnTo>
                <a:lnTo>
                  <a:pt x="0" y="0"/>
                </a:lnTo>
                <a:close/>
              </a:path>
            </a:pathLst>
          </a:custGeom>
          <a:blipFill>
            <a:blip r:embed="rId6">
              <a:alphaModFix amt="19999"/>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17" name="Freeform 17"/>
          <p:cNvSpPr/>
          <p:nvPr/>
        </p:nvSpPr>
        <p:spPr>
          <a:xfrm rot="3931759">
            <a:off x="8418782" y="4556272"/>
            <a:ext cx="1132697" cy="1679665"/>
          </a:xfrm>
          <a:custGeom>
            <a:avLst/>
            <a:gdLst/>
            <a:ahLst/>
            <a:cxnLst/>
            <a:rect l="l" t="t" r="r" b="b"/>
            <a:pathLst>
              <a:path w="1699046" h="2519498">
                <a:moveTo>
                  <a:pt x="0" y="0"/>
                </a:moveTo>
                <a:lnTo>
                  <a:pt x="1699045" y="0"/>
                </a:lnTo>
                <a:lnTo>
                  <a:pt x="1699045" y="2519498"/>
                </a:lnTo>
                <a:lnTo>
                  <a:pt x="0" y="2519498"/>
                </a:lnTo>
                <a:lnTo>
                  <a:pt x="0" y="0"/>
                </a:lnTo>
                <a:close/>
              </a:path>
            </a:pathLst>
          </a:custGeom>
          <a:blipFill>
            <a:blip r:embed="rId6">
              <a:alphaModFix amt="19999"/>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grpSp>
        <p:nvGrpSpPr>
          <p:cNvPr id="18" name="Group 18"/>
          <p:cNvGrpSpPr/>
          <p:nvPr/>
        </p:nvGrpSpPr>
        <p:grpSpPr>
          <a:xfrm>
            <a:off x="8239601" y="1206602"/>
            <a:ext cx="1119927" cy="1119927"/>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094CA"/>
            </a:solidFill>
          </p:spPr>
          <p:txBody>
            <a:bodyPr/>
            <a:lstStyle/>
            <a:p>
              <a:endParaRPr lang="en-US"/>
            </a:p>
          </p:txBody>
        </p:sp>
        <p:sp>
          <p:nvSpPr>
            <p:cNvPr id="20" name="TextBox 20"/>
            <p:cNvSpPr txBox="1"/>
            <p:nvPr/>
          </p:nvSpPr>
          <p:spPr>
            <a:xfrm>
              <a:off x="76200" y="38100"/>
              <a:ext cx="660400" cy="698500"/>
            </a:xfrm>
            <a:prstGeom prst="rect">
              <a:avLst/>
            </a:prstGeom>
          </p:spPr>
          <p:txBody>
            <a:bodyPr lIns="33867" tIns="33867" rIns="33867" bIns="33867" rtlCol="0" anchor="ctr"/>
            <a:lstStyle/>
            <a:p>
              <a:pPr algn="ctr">
                <a:lnSpc>
                  <a:spcPts val="2053"/>
                </a:lnSpc>
              </a:pPr>
              <a:endParaRPr sz="1200"/>
            </a:p>
          </p:txBody>
        </p:sp>
      </p:grpSp>
      <p:grpSp>
        <p:nvGrpSpPr>
          <p:cNvPr id="21" name="Group 21"/>
          <p:cNvGrpSpPr/>
          <p:nvPr/>
        </p:nvGrpSpPr>
        <p:grpSpPr>
          <a:xfrm>
            <a:off x="8239601" y="4475767"/>
            <a:ext cx="1119927" cy="1119927"/>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094CA"/>
            </a:solidFill>
          </p:spPr>
          <p:txBody>
            <a:bodyPr/>
            <a:lstStyle/>
            <a:p>
              <a:endParaRPr lang="en-US"/>
            </a:p>
          </p:txBody>
        </p:sp>
        <p:sp>
          <p:nvSpPr>
            <p:cNvPr id="23" name="TextBox 23"/>
            <p:cNvSpPr txBox="1"/>
            <p:nvPr/>
          </p:nvSpPr>
          <p:spPr>
            <a:xfrm>
              <a:off x="76200" y="38100"/>
              <a:ext cx="660400" cy="698500"/>
            </a:xfrm>
            <a:prstGeom prst="rect">
              <a:avLst/>
            </a:prstGeom>
          </p:spPr>
          <p:txBody>
            <a:bodyPr lIns="33867" tIns="33867" rIns="33867" bIns="33867" rtlCol="0" anchor="ctr"/>
            <a:lstStyle/>
            <a:p>
              <a:pPr algn="ctr">
                <a:lnSpc>
                  <a:spcPts val="2053"/>
                </a:lnSpc>
              </a:pPr>
              <a:endParaRPr sz="1200"/>
            </a:p>
          </p:txBody>
        </p:sp>
      </p:grpSp>
      <p:sp>
        <p:nvSpPr>
          <p:cNvPr id="24" name="AutoShape 24"/>
          <p:cNvSpPr/>
          <p:nvPr/>
        </p:nvSpPr>
        <p:spPr>
          <a:xfrm>
            <a:off x="9299610" y="2018853"/>
            <a:ext cx="1312590" cy="662239"/>
          </a:xfrm>
          <a:prstGeom prst="line">
            <a:avLst/>
          </a:prstGeom>
          <a:ln w="28575" cap="flat">
            <a:solidFill>
              <a:srgbClr val="3C5679"/>
            </a:solidFill>
            <a:prstDash val="sysDash"/>
            <a:headEnd type="none" w="sm" len="sm"/>
            <a:tailEnd type="none" w="sm" len="sm"/>
          </a:ln>
        </p:spPr>
        <p:txBody>
          <a:bodyPr/>
          <a:lstStyle/>
          <a:p>
            <a:endParaRPr lang="en-US"/>
          </a:p>
        </p:txBody>
      </p:sp>
      <p:sp>
        <p:nvSpPr>
          <p:cNvPr id="25" name="AutoShape 25"/>
          <p:cNvSpPr/>
          <p:nvPr/>
        </p:nvSpPr>
        <p:spPr>
          <a:xfrm flipV="1">
            <a:off x="9303169" y="4158452"/>
            <a:ext cx="1298789" cy="632159"/>
          </a:xfrm>
          <a:prstGeom prst="line">
            <a:avLst/>
          </a:prstGeom>
          <a:ln w="28575" cap="flat">
            <a:solidFill>
              <a:srgbClr val="3C5679"/>
            </a:solidFill>
            <a:prstDash val="sysDash"/>
            <a:headEnd type="none" w="sm" len="sm"/>
            <a:tailEnd type="none" w="sm" len="sm"/>
          </a:ln>
        </p:spPr>
        <p:txBody>
          <a:bodyPr/>
          <a:lstStyle/>
          <a:p>
            <a:endParaRPr lang="en-US"/>
          </a:p>
        </p:txBody>
      </p:sp>
      <p:sp>
        <p:nvSpPr>
          <p:cNvPr id="26" name="Freeform 26"/>
          <p:cNvSpPr/>
          <p:nvPr/>
        </p:nvSpPr>
        <p:spPr>
          <a:xfrm>
            <a:off x="10426863" y="888117"/>
            <a:ext cx="426069" cy="541899"/>
          </a:xfrm>
          <a:custGeom>
            <a:avLst/>
            <a:gdLst/>
            <a:ahLst/>
            <a:cxnLst/>
            <a:rect l="l" t="t" r="r" b="b"/>
            <a:pathLst>
              <a:path w="639103" h="812849">
                <a:moveTo>
                  <a:pt x="0" y="0"/>
                </a:moveTo>
                <a:lnTo>
                  <a:pt x="639103" y="0"/>
                </a:lnTo>
                <a:lnTo>
                  <a:pt x="639103" y="812849"/>
                </a:lnTo>
                <a:lnTo>
                  <a:pt x="0" y="81284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7" name="Freeform 27"/>
          <p:cNvSpPr/>
          <p:nvPr/>
        </p:nvSpPr>
        <p:spPr>
          <a:xfrm>
            <a:off x="8527678" y="1494679"/>
            <a:ext cx="543773" cy="543773"/>
          </a:xfrm>
          <a:custGeom>
            <a:avLst/>
            <a:gdLst/>
            <a:ahLst/>
            <a:cxnLst/>
            <a:rect l="l" t="t" r="r" b="b"/>
            <a:pathLst>
              <a:path w="815659" h="815659">
                <a:moveTo>
                  <a:pt x="0" y="0"/>
                </a:moveTo>
                <a:lnTo>
                  <a:pt x="815659" y="0"/>
                </a:lnTo>
                <a:lnTo>
                  <a:pt x="815659" y="815659"/>
                </a:lnTo>
                <a:lnTo>
                  <a:pt x="0" y="81565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8" name="Freeform 28"/>
          <p:cNvSpPr/>
          <p:nvPr/>
        </p:nvSpPr>
        <p:spPr>
          <a:xfrm>
            <a:off x="9124574" y="3106994"/>
            <a:ext cx="647009" cy="647009"/>
          </a:xfrm>
          <a:custGeom>
            <a:avLst/>
            <a:gdLst/>
            <a:ahLst/>
            <a:cxnLst/>
            <a:rect l="l" t="t" r="r" b="b"/>
            <a:pathLst>
              <a:path w="970514" h="970514">
                <a:moveTo>
                  <a:pt x="0" y="0"/>
                </a:moveTo>
                <a:lnTo>
                  <a:pt x="970514" y="0"/>
                </a:lnTo>
                <a:lnTo>
                  <a:pt x="970514" y="970515"/>
                </a:lnTo>
                <a:lnTo>
                  <a:pt x="0" y="97051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29" name="Freeform 29"/>
          <p:cNvSpPr/>
          <p:nvPr/>
        </p:nvSpPr>
        <p:spPr>
          <a:xfrm>
            <a:off x="8506793" y="4742959"/>
            <a:ext cx="585540" cy="585540"/>
          </a:xfrm>
          <a:custGeom>
            <a:avLst/>
            <a:gdLst/>
            <a:ahLst/>
            <a:cxnLst/>
            <a:rect l="l" t="t" r="r" b="b"/>
            <a:pathLst>
              <a:path w="878310" h="878310">
                <a:moveTo>
                  <a:pt x="0" y="0"/>
                </a:moveTo>
                <a:lnTo>
                  <a:pt x="878311" y="0"/>
                </a:lnTo>
                <a:lnTo>
                  <a:pt x="878311" y="878310"/>
                </a:lnTo>
                <a:lnTo>
                  <a:pt x="0" y="87831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0" name="Freeform 30"/>
          <p:cNvSpPr/>
          <p:nvPr/>
        </p:nvSpPr>
        <p:spPr>
          <a:xfrm>
            <a:off x="10372687" y="5431725"/>
            <a:ext cx="534420" cy="534420"/>
          </a:xfrm>
          <a:custGeom>
            <a:avLst/>
            <a:gdLst/>
            <a:ahLst/>
            <a:cxnLst/>
            <a:rect l="l" t="t" r="r" b="b"/>
            <a:pathLst>
              <a:path w="801630" h="801630">
                <a:moveTo>
                  <a:pt x="0" y="0"/>
                </a:moveTo>
                <a:lnTo>
                  <a:pt x="801629" y="0"/>
                </a:lnTo>
                <a:lnTo>
                  <a:pt x="801629" y="801630"/>
                </a:lnTo>
                <a:lnTo>
                  <a:pt x="0" y="80163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31" name="Freeform 31"/>
          <p:cNvSpPr/>
          <p:nvPr/>
        </p:nvSpPr>
        <p:spPr>
          <a:xfrm rot="3017615">
            <a:off x="10845069" y="5527349"/>
            <a:ext cx="1849901" cy="2743200"/>
          </a:xfrm>
          <a:custGeom>
            <a:avLst/>
            <a:gdLst/>
            <a:ahLst/>
            <a:cxnLst/>
            <a:rect l="l" t="t" r="r" b="b"/>
            <a:pathLst>
              <a:path w="2774852" h="4114800">
                <a:moveTo>
                  <a:pt x="0" y="0"/>
                </a:moveTo>
                <a:lnTo>
                  <a:pt x="2774852" y="0"/>
                </a:lnTo>
                <a:lnTo>
                  <a:pt x="2774852" y="4114800"/>
                </a:lnTo>
                <a:lnTo>
                  <a:pt x="0" y="4114800"/>
                </a:lnTo>
                <a:lnTo>
                  <a:pt x="0" y="0"/>
                </a:lnTo>
                <a:close/>
              </a:path>
            </a:pathLst>
          </a:custGeom>
          <a:blipFill>
            <a:blip r:embed="rId18">
              <a:alphaModFix amt="30000"/>
              <a:extLst>
                <a:ext uri="{96DAC541-7B7A-43D3-8B79-37D633B846F1}">
                  <asvg:svgBlip xmlns:asvg="http://schemas.microsoft.com/office/drawing/2016/SVG/main" r:embed="rId19"/>
                </a:ext>
              </a:extLst>
            </a:blip>
            <a:stretch>
              <a:fillRect/>
            </a:stretch>
          </a:blipFill>
          <a:ln cap="sq">
            <a:noFill/>
            <a:prstDash val="solid"/>
            <a:miter/>
          </a:ln>
        </p:spPr>
        <p:txBody>
          <a:bodyPr/>
          <a:lstStyle/>
          <a:p>
            <a:endParaRPr lang="en-US"/>
          </a:p>
        </p:txBody>
      </p:sp>
      <p:sp>
        <p:nvSpPr>
          <p:cNvPr id="32" name="TextBox 32"/>
          <p:cNvSpPr txBox="1"/>
          <p:nvPr/>
        </p:nvSpPr>
        <p:spPr>
          <a:xfrm>
            <a:off x="685801" y="333396"/>
            <a:ext cx="11084219" cy="448841"/>
          </a:xfrm>
          <a:prstGeom prst="rect">
            <a:avLst/>
          </a:prstGeom>
        </p:spPr>
        <p:txBody>
          <a:bodyPr lIns="0" tIns="0" rIns="0" bIns="0" rtlCol="0" anchor="t">
            <a:spAutoFit/>
          </a:bodyPr>
          <a:lstStyle/>
          <a:p>
            <a:pPr marL="0" lvl="1">
              <a:lnSpc>
                <a:spcPts val="3547"/>
              </a:lnSpc>
              <a:spcBef>
                <a:spcPct val="0"/>
              </a:spcBef>
            </a:pPr>
            <a:r>
              <a:rPr lang="en-US" sz="3000" b="1" spc="76">
                <a:solidFill>
                  <a:schemeClr val="accent1">
                    <a:lumMod val="50000"/>
                  </a:schemeClr>
                </a:solidFill>
                <a:ea typeface="Poppins Bold"/>
                <a:cs typeface="Poppins Bold"/>
                <a:sym typeface="Poppins Bold"/>
              </a:rPr>
              <a:t>COMPONENT-SPECIFIC DETAILS / SYSTEM VALIDATION</a:t>
            </a:r>
          </a:p>
        </p:txBody>
      </p:sp>
      <p:sp>
        <p:nvSpPr>
          <p:cNvPr id="33" name="TextBox 33"/>
          <p:cNvSpPr txBox="1"/>
          <p:nvPr/>
        </p:nvSpPr>
        <p:spPr>
          <a:xfrm>
            <a:off x="364938" y="1115162"/>
            <a:ext cx="3091321" cy="233269"/>
          </a:xfrm>
          <a:prstGeom prst="rect">
            <a:avLst/>
          </a:prstGeom>
        </p:spPr>
        <p:txBody>
          <a:bodyPr lIns="0" tIns="0" rIns="0" bIns="0" rtlCol="0" anchor="t">
            <a:spAutoFit/>
          </a:bodyPr>
          <a:lstStyle/>
          <a:p>
            <a:pPr marL="0" lvl="1">
              <a:lnSpc>
                <a:spcPts val="1960"/>
              </a:lnSpc>
              <a:spcBef>
                <a:spcPct val="0"/>
              </a:spcBef>
            </a:pPr>
            <a:r>
              <a:rPr lang="en-US" sz="1400" b="1">
                <a:solidFill>
                  <a:srgbClr val="0D0D0D"/>
                </a:solidFill>
                <a:latin typeface="Times New Roman" panose="02020603050405020304" pitchFamily="18" charset="0"/>
                <a:ea typeface="Montserrat Bold"/>
                <a:cs typeface="Times New Roman" panose="02020603050405020304" pitchFamily="18" charset="0"/>
                <a:sym typeface="Montserrat Bold"/>
              </a:rPr>
              <a:t>Predictive Modeling Component:</a:t>
            </a:r>
          </a:p>
        </p:txBody>
      </p:sp>
      <p:sp>
        <p:nvSpPr>
          <p:cNvPr id="34" name="TextBox 34"/>
          <p:cNvSpPr txBox="1"/>
          <p:nvPr/>
        </p:nvSpPr>
        <p:spPr>
          <a:xfrm>
            <a:off x="397519" y="1321600"/>
            <a:ext cx="4178799" cy="1508618"/>
          </a:xfrm>
          <a:prstGeom prst="rect">
            <a:avLst/>
          </a:prstGeom>
        </p:spPr>
        <p:txBody>
          <a:bodyPr lIns="0" tIns="0" rIns="0" bIns="0" rtlCol="0" anchor="t">
            <a:spAutoFit/>
          </a:bodyPr>
          <a:lstStyle/>
          <a:p>
            <a:pPr marL="345455" lvl="1" indent="-172727" algn="just">
              <a:lnSpc>
                <a:spcPts val="2399"/>
              </a:lnSpc>
              <a:spcBef>
                <a:spcPct val="0"/>
              </a:spcBef>
              <a:buFont typeface="Arial"/>
              <a:buChar char="•"/>
            </a:pPr>
            <a:r>
              <a:rPr lang="en-US" sz="1599">
                <a:solidFill>
                  <a:srgbClr val="3B3B3B"/>
                </a:solidFill>
                <a:latin typeface="Times New Roman" panose="02020603050405020304" pitchFamily="18" charset="0"/>
                <a:ea typeface="Canva Sans"/>
                <a:cs typeface="Times New Roman" panose="02020603050405020304" pitchFamily="18" charset="0"/>
                <a:sym typeface="Canva Sans"/>
              </a:rPr>
              <a:t>Uses symptom + medication history to predict deficiencies</a:t>
            </a:r>
          </a:p>
          <a:p>
            <a:pPr marL="345455" lvl="1" indent="-172727" algn="just">
              <a:lnSpc>
                <a:spcPts val="2399"/>
              </a:lnSpc>
              <a:spcBef>
                <a:spcPct val="0"/>
              </a:spcBef>
              <a:buFont typeface="Arial"/>
              <a:buChar char="•"/>
            </a:pPr>
            <a:r>
              <a:rPr lang="en-US" sz="1599">
                <a:solidFill>
                  <a:srgbClr val="3B3B3B"/>
                </a:solidFill>
                <a:latin typeface="Times New Roman" panose="02020603050405020304" pitchFamily="18" charset="0"/>
                <a:ea typeface="Canva Sans"/>
                <a:cs typeface="Times New Roman" panose="02020603050405020304" pitchFamily="18" charset="0"/>
                <a:sym typeface="Canva Sans"/>
              </a:rPr>
              <a:t>Technology: LSTM/Transformer neural networks for temporal data</a:t>
            </a:r>
          </a:p>
          <a:p>
            <a:pPr algn="just">
              <a:lnSpc>
                <a:spcPts val="2399"/>
              </a:lnSpc>
              <a:spcBef>
                <a:spcPct val="0"/>
              </a:spcBef>
            </a:pPr>
            <a:endParaRPr lang="en-US" sz="1599">
              <a:solidFill>
                <a:srgbClr val="3B3B3B"/>
              </a:solidFill>
              <a:latin typeface="Times New Roman" panose="02020603050405020304" pitchFamily="18" charset="0"/>
              <a:ea typeface="Canva Sans"/>
              <a:cs typeface="Times New Roman" panose="02020603050405020304" pitchFamily="18" charset="0"/>
              <a:sym typeface="Canva Sans"/>
            </a:endParaRPr>
          </a:p>
        </p:txBody>
      </p:sp>
      <p:sp>
        <p:nvSpPr>
          <p:cNvPr id="35" name="TextBox 35"/>
          <p:cNvSpPr txBox="1"/>
          <p:nvPr/>
        </p:nvSpPr>
        <p:spPr>
          <a:xfrm>
            <a:off x="397520" y="2765590"/>
            <a:ext cx="3091321" cy="489749"/>
          </a:xfrm>
          <a:prstGeom prst="rect">
            <a:avLst/>
          </a:prstGeom>
        </p:spPr>
        <p:txBody>
          <a:bodyPr lIns="0" tIns="0" rIns="0" bIns="0" rtlCol="0" anchor="t">
            <a:spAutoFit/>
          </a:bodyPr>
          <a:lstStyle/>
          <a:p>
            <a:pPr marL="0" lvl="1">
              <a:lnSpc>
                <a:spcPts val="1960"/>
              </a:lnSpc>
              <a:spcBef>
                <a:spcPct val="0"/>
              </a:spcBef>
            </a:pPr>
            <a:r>
              <a:rPr lang="en-US" sz="1400" b="1">
                <a:solidFill>
                  <a:srgbClr val="0D0D0D"/>
                </a:solidFill>
                <a:latin typeface="Times New Roman" panose="02020603050405020304" pitchFamily="18" charset="0"/>
                <a:ea typeface="Montserrat Bold"/>
                <a:cs typeface="Times New Roman" panose="02020603050405020304" pitchFamily="18" charset="0"/>
                <a:sym typeface="Montserrat Bold"/>
              </a:rPr>
              <a:t>Personalized Recommendation Component:</a:t>
            </a:r>
          </a:p>
        </p:txBody>
      </p:sp>
      <p:sp>
        <p:nvSpPr>
          <p:cNvPr id="36" name="TextBox 36"/>
          <p:cNvSpPr txBox="1"/>
          <p:nvPr/>
        </p:nvSpPr>
        <p:spPr>
          <a:xfrm>
            <a:off x="598579" y="3367139"/>
            <a:ext cx="3776679" cy="1571456"/>
          </a:xfrm>
          <a:prstGeom prst="rect">
            <a:avLst/>
          </a:prstGeom>
        </p:spPr>
        <p:txBody>
          <a:bodyPr lIns="0" tIns="0" rIns="0" bIns="0" rtlCol="0" anchor="t">
            <a:spAutoFit/>
          </a:bodyPr>
          <a:lstStyle/>
          <a:p>
            <a:pPr marL="359849" lvl="1" indent="-179924" algn="just">
              <a:lnSpc>
                <a:spcPts val="2499"/>
              </a:lnSpc>
              <a:spcBef>
                <a:spcPct val="0"/>
              </a:spcBef>
              <a:buFont typeface="Arial"/>
              <a:buChar char="•"/>
            </a:pPr>
            <a:r>
              <a:rPr lang="en-US" sz="1666">
                <a:solidFill>
                  <a:srgbClr val="3B3B3B"/>
                </a:solidFill>
                <a:latin typeface="Times New Roman" panose="02020603050405020304" pitchFamily="18" charset="0"/>
                <a:ea typeface="Canva Sans"/>
                <a:cs typeface="Times New Roman" panose="02020603050405020304" pitchFamily="18" charset="0"/>
                <a:sym typeface="Canva Sans"/>
              </a:rPr>
              <a:t>Suggests deficiency level tailored to patient profile</a:t>
            </a:r>
          </a:p>
          <a:p>
            <a:pPr marL="359849" lvl="1" indent="-179924" algn="just">
              <a:lnSpc>
                <a:spcPts val="2499"/>
              </a:lnSpc>
              <a:spcBef>
                <a:spcPct val="0"/>
              </a:spcBef>
              <a:buFont typeface="Arial"/>
              <a:buChar char="•"/>
            </a:pPr>
            <a:r>
              <a:rPr lang="en-US" sz="1666">
                <a:solidFill>
                  <a:srgbClr val="3B3B3B"/>
                </a:solidFill>
                <a:latin typeface="Times New Roman" panose="02020603050405020304" pitchFamily="18" charset="0"/>
                <a:ea typeface="Canva Sans"/>
                <a:cs typeface="Times New Roman" panose="02020603050405020304" pitchFamily="18" charset="0"/>
                <a:sym typeface="Canva Sans"/>
              </a:rPr>
              <a:t>Technology: Expert system + ML-based recommendation engine</a:t>
            </a:r>
          </a:p>
          <a:p>
            <a:pPr algn="just">
              <a:lnSpc>
                <a:spcPts val="2499"/>
              </a:lnSpc>
              <a:spcBef>
                <a:spcPct val="0"/>
              </a:spcBef>
            </a:pPr>
            <a:endParaRPr lang="en-US" sz="1666">
              <a:solidFill>
                <a:srgbClr val="3B3B3B"/>
              </a:solidFill>
              <a:latin typeface="Times New Roman" panose="02020603050405020304" pitchFamily="18" charset="0"/>
              <a:ea typeface="Canva Sans"/>
              <a:cs typeface="Times New Roman" panose="02020603050405020304" pitchFamily="18" charset="0"/>
              <a:sym typeface="Canva Sans"/>
            </a:endParaRPr>
          </a:p>
        </p:txBody>
      </p:sp>
      <p:sp>
        <p:nvSpPr>
          <p:cNvPr id="37" name="TextBox 37"/>
          <p:cNvSpPr txBox="1"/>
          <p:nvPr/>
        </p:nvSpPr>
        <p:spPr>
          <a:xfrm>
            <a:off x="364938" y="4765210"/>
            <a:ext cx="3091321" cy="233269"/>
          </a:xfrm>
          <a:prstGeom prst="rect">
            <a:avLst/>
          </a:prstGeom>
        </p:spPr>
        <p:txBody>
          <a:bodyPr lIns="0" tIns="0" rIns="0" bIns="0" rtlCol="0" anchor="t">
            <a:spAutoFit/>
          </a:bodyPr>
          <a:lstStyle/>
          <a:p>
            <a:pPr marL="0" lvl="1">
              <a:lnSpc>
                <a:spcPts val="1960"/>
              </a:lnSpc>
              <a:spcBef>
                <a:spcPct val="0"/>
              </a:spcBef>
            </a:pPr>
            <a:r>
              <a:rPr lang="en-US" sz="1400" b="1">
                <a:solidFill>
                  <a:srgbClr val="0D0D0D"/>
                </a:solidFill>
                <a:latin typeface="Times New Roman" panose="02020603050405020304" pitchFamily="18" charset="0"/>
                <a:ea typeface="Montserrat Bold"/>
                <a:cs typeface="Times New Roman" panose="02020603050405020304" pitchFamily="18" charset="0"/>
                <a:sym typeface="Montserrat Bold"/>
              </a:rPr>
              <a:t>Success Evaluation:</a:t>
            </a:r>
          </a:p>
        </p:txBody>
      </p:sp>
      <p:sp>
        <p:nvSpPr>
          <p:cNvPr id="38" name="TextBox 38"/>
          <p:cNvSpPr txBox="1"/>
          <p:nvPr/>
        </p:nvSpPr>
        <p:spPr>
          <a:xfrm>
            <a:off x="668849" y="5122725"/>
            <a:ext cx="6212391" cy="1200842"/>
          </a:xfrm>
          <a:prstGeom prst="rect">
            <a:avLst/>
          </a:prstGeom>
        </p:spPr>
        <p:txBody>
          <a:bodyPr lIns="0" tIns="0" rIns="0" bIns="0" rtlCol="0" anchor="t">
            <a:spAutoFit/>
          </a:bodyPr>
          <a:lstStyle/>
          <a:p>
            <a:pPr marL="345455" lvl="1" indent="-172727" algn="just">
              <a:lnSpc>
                <a:spcPts val="2399"/>
              </a:lnSpc>
              <a:spcBef>
                <a:spcPct val="0"/>
              </a:spcBef>
              <a:buFont typeface="Arial"/>
              <a:buChar char="•"/>
            </a:pPr>
            <a:r>
              <a:rPr lang="en-US" sz="1599">
                <a:solidFill>
                  <a:srgbClr val="3B3B3B"/>
                </a:solidFill>
                <a:latin typeface="Times New Roman" panose="02020603050405020304" pitchFamily="18" charset="0"/>
                <a:ea typeface="Canva Sans"/>
                <a:cs typeface="Times New Roman" panose="02020603050405020304" pitchFamily="18" charset="0"/>
                <a:sym typeface="Canva Sans"/>
              </a:rPr>
              <a:t>Validation against clinical vitamin test results</a:t>
            </a:r>
          </a:p>
          <a:p>
            <a:pPr marL="345455" lvl="1" indent="-172727" algn="just">
              <a:lnSpc>
                <a:spcPts val="2399"/>
              </a:lnSpc>
              <a:spcBef>
                <a:spcPct val="0"/>
              </a:spcBef>
              <a:buFont typeface="Arial"/>
              <a:buChar char="•"/>
            </a:pPr>
            <a:r>
              <a:rPr lang="en-US" sz="1599">
                <a:solidFill>
                  <a:srgbClr val="3B3B3B"/>
                </a:solidFill>
                <a:latin typeface="Times New Roman" panose="02020603050405020304" pitchFamily="18" charset="0"/>
                <a:ea typeface="Canva Sans"/>
                <a:cs typeface="Times New Roman" panose="02020603050405020304" pitchFamily="18" charset="0"/>
                <a:sym typeface="Canva Sans"/>
              </a:rPr>
              <a:t>Metrics: Accuracy, Precision, Recall, F1 Score</a:t>
            </a:r>
          </a:p>
          <a:p>
            <a:pPr marL="345455" lvl="1" indent="-172727" algn="just">
              <a:lnSpc>
                <a:spcPts val="2399"/>
              </a:lnSpc>
              <a:spcBef>
                <a:spcPct val="0"/>
              </a:spcBef>
              <a:buFont typeface="Arial"/>
              <a:buChar char="•"/>
            </a:pPr>
            <a:r>
              <a:rPr lang="en-US" sz="1599">
                <a:solidFill>
                  <a:srgbClr val="3B3B3B"/>
                </a:solidFill>
                <a:latin typeface="Times New Roman" panose="02020603050405020304" pitchFamily="18" charset="0"/>
                <a:ea typeface="Canva Sans"/>
                <a:cs typeface="Times New Roman" panose="02020603050405020304" pitchFamily="18" charset="0"/>
                <a:sym typeface="Canva Sans"/>
              </a:rPr>
              <a:t>Longitudinal tracking to measure early detection over months</a:t>
            </a:r>
          </a:p>
          <a:p>
            <a:pPr algn="just">
              <a:lnSpc>
                <a:spcPts val="2399"/>
              </a:lnSpc>
              <a:spcBef>
                <a:spcPct val="0"/>
              </a:spcBef>
            </a:pPr>
            <a:endParaRPr lang="en-US" sz="1599">
              <a:solidFill>
                <a:srgbClr val="3B3B3B"/>
              </a:solidFill>
              <a:latin typeface="Times New Roman" panose="02020603050405020304" pitchFamily="18" charset="0"/>
              <a:ea typeface="Canva Sans"/>
              <a:cs typeface="Times New Roman" panose="02020603050405020304" pitchFamily="18" charset="0"/>
              <a:sym typeface="Canva Sans"/>
            </a:endParaRPr>
          </a:p>
        </p:txBody>
      </p:sp>
      <p:sp>
        <p:nvSpPr>
          <p:cNvPr id="39" name="TextBox 39"/>
          <p:cNvSpPr txBox="1"/>
          <p:nvPr/>
        </p:nvSpPr>
        <p:spPr>
          <a:xfrm>
            <a:off x="5214107" y="1993453"/>
            <a:ext cx="3091321" cy="233269"/>
          </a:xfrm>
          <a:prstGeom prst="rect">
            <a:avLst/>
          </a:prstGeom>
        </p:spPr>
        <p:txBody>
          <a:bodyPr lIns="0" tIns="0" rIns="0" bIns="0" rtlCol="0" anchor="t">
            <a:spAutoFit/>
          </a:bodyPr>
          <a:lstStyle/>
          <a:p>
            <a:pPr marL="0" lvl="1">
              <a:lnSpc>
                <a:spcPts val="1960"/>
              </a:lnSpc>
              <a:spcBef>
                <a:spcPct val="0"/>
              </a:spcBef>
            </a:pPr>
            <a:r>
              <a:rPr lang="en-US" sz="1400" b="1">
                <a:solidFill>
                  <a:srgbClr val="0D0D0D"/>
                </a:solidFill>
                <a:latin typeface="Times New Roman" panose="02020603050405020304" pitchFamily="18" charset="0"/>
                <a:ea typeface="Montserrat Bold"/>
                <a:cs typeface="Times New Roman" panose="02020603050405020304" pitchFamily="18" charset="0"/>
                <a:sym typeface="Montserrat Bold"/>
              </a:rPr>
              <a:t>Data &amp; Ethics:</a:t>
            </a:r>
          </a:p>
        </p:txBody>
      </p:sp>
      <p:sp>
        <p:nvSpPr>
          <p:cNvPr id="40" name="TextBox 40"/>
          <p:cNvSpPr txBox="1"/>
          <p:nvPr/>
        </p:nvSpPr>
        <p:spPr>
          <a:xfrm>
            <a:off x="5044819" y="2304149"/>
            <a:ext cx="3754745" cy="2090316"/>
          </a:xfrm>
          <a:prstGeom prst="rect">
            <a:avLst/>
          </a:prstGeom>
        </p:spPr>
        <p:txBody>
          <a:bodyPr lIns="0" tIns="0" rIns="0" bIns="0" rtlCol="0" anchor="t">
            <a:spAutoFit/>
          </a:bodyPr>
          <a:lstStyle/>
          <a:p>
            <a:pPr marL="345455" lvl="1" indent="-172727" algn="just">
              <a:lnSpc>
                <a:spcPts val="2399"/>
              </a:lnSpc>
              <a:spcBef>
                <a:spcPct val="0"/>
              </a:spcBef>
              <a:buFont typeface="Arial"/>
              <a:buChar char="•"/>
            </a:pPr>
            <a:r>
              <a:rPr lang="en-US" sz="1599">
                <a:solidFill>
                  <a:srgbClr val="3B3B3B"/>
                </a:solidFill>
                <a:latin typeface="Times New Roman" panose="02020603050405020304" pitchFamily="18" charset="0"/>
                <a:ea typeface="Canva Sans"/>
                <a:cs typeface="Times New Roman" panose="02020603050405020304" pitchFamily="18" charset="0"/>
                <a:sym typeface="Canva Sans"/>
              </a:rPr>
              <a:t>Input: Patient symptom logs, prescription data, lab results</a:t>
            </a:r>
          </a:p>
          <a:p>
            <a:pPr marL="345455" lvl="1" indent="-172727" algn="just">
              <a:lnSpc>
                <a:spcPts val="2399"/>
              </a:lnSpc>
              <a:spcBef>
                <a:spcPct val="0"/>
              </a:spcBef>
              <a:buFont typeface="Arial"/>
              <a:buChar char="•"/>
            </a:pPr>
            <a:r>
              <a:rPr lang="en-US" sz="1599">
                <a:solidFill>
                  <a:srgbClr val="3B3B3B"/>
                </a:solidFill>
                <a:latin typeface="Times New Roman" panose="02020603050405020304" pitchFamily="18" charset="0"/>
                <a:ea typeface="Canva Sans"/>
                <a:cs typeface="Times New Roman" panose="02020603050405020304" pitchFamily="18" charset="0"/>
                <a:sym typeface="Canva Sans"/>
              </a:rPr>
              <a:t>Output: Personalized deficiency warnings, dietary recommendations</a:t>
            </a:r>
          </a:p>
          <a:p>
            <a:pPr marL="345455" lvl="1" indent="-172727" algn="just">
              <a:lnSpc>
                <a:spcPts val="2399"/>
              </a:lnSpc>
              <a:spcBef>
                <a:spcPct val="0"/>
              </a:spcBef>
              <a:buFont typeface="Arial"/>
              <a:buChar char="•"/>
            </a:pPr>
            <a:r>
              <a:rPr lang="en-US" sz="1599">
                <a:solidFill>
                  <a:srgbClr val="3B3B3B"/>
                </a:solidFill>
                <a:latin typeface="Times New Roman" panose="02020603050405020304" pitchFamily="18" charset="0"/>
                <a:ea typeface="Canva Sans"/>
                <a:cs typeface="Times New Roman" panose="02020603050405020304" pitchFamily="18" charset="0"/>
                <a:sym typeface="Canva Sans"/>
              </a:rPr>
              <a:t>Ethical considerations: Informed consent, anonymization, secure storage</a:t>
            </a:r>
          </a:p>
          <a:p>
            <a:pPr algn="just">
              <a:lnSpc>
                <a:spcPts val="1899"/>
              </a:lnSpc>
              <a:spcBef>
                <a:spcPct val="0"/>
              </a:spcBef>
            </a:pPr>
            <a:endParaRPr lang="en-US" sz="1599">
              <a:solidFill>
                <a:srgbClr val="3B3B3B"/>
              </a:solidFill>
              <a:latin typeface="Times New Roman" panose="02020603050405020304" pitchFamily="18" charset="0"/>
              <a:ea typeface="Canva Sans"/>
              <a:cs typeface="Times New Roman" panose="02020603050405020304" pitchFamily="18" charset="0"/>
              <a:sym typeface="Canva Sans"/>
            </a:endParaRPr>
          </a:p>
        </p:txBody>
      </p:sp>
      <p:sp>
        <p:nvSpPr>
          <p:cNvPr id="41" name="Rectangle 40">
            <a:extLst>
              <a:ext uri="{FF2B5EF4-FFF2-40B4-BE49-F238E27FC236}">
                <a16:creationId xmlns:a16="http://schemas.microsoft.com/office/drawing/2014/main" id="{C422F710-440B-F941-1367-5E5FA20AE11E}"/>
              </a:ext>
            </a:extLst>
          </p:cNvPr>
          <p:cNvSpPr/>
          <p:nvPr/>
        </p:nvSpPr>
        <p:spPr>
          <a:xfrm>
            <a:off x="2687817" y="6496051"/>
            <a:ext cx="6816365" cy="36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tx1"/>
                </a:solidFill>
                <a:effectLst/>
                <a:uLnTx/>
                <a:uFillTx/>
                <a:latin typeface="Cambria"/>
                <a:ea typeface="+mn-ea"/>
                <a:cs typeface="+mn-cs"/>
              </a:rPr>
              <a:t>IT22600448</a:t>
            </a:r>
            <a:r>
              <a:rPr kumimoji="0" lang="en-US" sz="1800" b="0" i="0" u="none" strike="noStrike" kern="1200" cap="none" spc="0" normalizeH="0" baseline="0" noProof="0">
                <a:ln>
                  <a:noFill/>
                </a:ln>
                <a:solidFill>
                  <a:schemeClr val="tx1"/>
                </a:solidFill>
                <a:effectLst/>
                <a:uLnTx/>
                <a:uFillTx/>
                <a:latin typeface="Cambria"/>
                <a:ea typeface="+mn-ea"/>
                <a:cs typeface="+mn-cs"/>
              </a:rPr>
              <a:t>   |   </a:t>
            </a:r>
            <a:r>
              <a:rPr kumimoji="0" lang="en-US" sz="1800" b="1" i="0" u="none" strike="noStrike" kern="1200" cap="none" spc="0" normalizeH="0" baseline="0" noProof="0">
                <a:ln>
                  <a:noFill/>
                </a:ln>
                <a:solidFill>
                  <a:schemeClr val="tx1"/>
                </a:solidFill>
                <a:effectLst/>
                <a:uLnTx/>
                <a:uFillTx/>
                <a:latin typeface="Cambria"/>
                <a:ea typeface="+mn-ea"/>
                <a:cs typeface="+mn-cs"/>
              </a:rPr>
              <a:t>Reshmi M.G.G.K   </a:t>
            </a:r>
            <a:r>
              <a:rPr kumimoji="0" lang="en-US" sz="1800" b="0" i="0" u="none" strike="noStrike" kern="1200" cap="none" spc="0" normalizeH="0" baseline="0" noProof="0">
                <a:ln>
                  <a:noFill/>
                </a:ln>
                <a:solidFill>
                  <a:schemeClr val="tx1"/>
                </a:solidFill>
                <a:effectLst/>
                <a:uLnTx/>
                <a:uFillTx/>
                <a:latin typeface="Cambria"/>
                <a:ea typeface="+mn-ea"/>
                <a:cs typeface="+mn-cs"/>
              </a:rPr>
              <a:t>|   25-26J-368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193139" y="-1365490"/>
            <a:ext cx="8393510" cy="5581684"/>
          </a:xfrm>
          <a:custGeom>
            <a:avLst/>
            <a:gdLst/>
            <a:ahLst/>
            <a:cxnLst/>
            <a:rect l="l" t="t" r="r" b="b"/>
            <a:pathLst>
              <a:path w="12590265" h="8372526">
                <a:moveTo>
                  <a:pt x="0" y="0"/>
                </a:moveTo>
                <a:lnTo>
                  <a:pt x="12590266" y="0"/>
                </a:lnTo>
                <a:lnTo>
                  <a:pt x="12590266" y="8372526"/>
                </a:lnTo>
                <a:lnTo>
                  <a:pt x="0" y="83725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8788509" y="485570"/>
            <a:ext cx="2340278" cy="2360937"/>
          </a:xfrm>
          <a:custGeom>
            <a:avLst/>
            <a:gdLst/>
            <a:ahLst/>
            <a:cxnLst/>
            <a:rect l="l" t="t" r="r" b="b"/>
            <a:pathLst>
              <a:path w="3510417" h="3541405">
                <a:moveTo>
                  <a:pt x="3510417" y="0"/>
                </a:moveTo>
                <a:lnTo>
                  <a:pt x="0" y="0"/>
                </a:lnTo>
                <a:lnTo>
                  <a:pt x="0" y="3541405"/>
                </a:lnTo>
                <a:lnTo>
                  <a:pt x="3510417" y="3541405"/>
                </a:lnTo>
                <a:lnTo>
                  <a:pt x="351041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1439754">
            <a:off x="3561376" y="5104552"/>
            <a:ext cx="5069245" cy="4004704"/>
          </a:xfrm>
          <a:custGeom>
            <a:avLst/>
            <a:gdLst/>
            <a:ahLst/>
            <a:cxnLst/>
            <a:rect l="l" t="t" r="r" b="b"/>
            <a:pathLst>
              <a:path w="7603868" h="6007056">
                <a:moveTo>
                  <a:pt x="0" y="0"/>
                </a:moveTo>
                <a:lnTo>
                  <a:pt x="7603868" y="0"/>
                </a:lnTo>
                <a:lnTo>
                  <a:pt x="7603868" y="6007056"/>
                </a:lnTo>
                <a:lnTo>
                  <a:pt x="0" y="600705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a:off x="459559" y="800357"/>
            <a:ext cx="10595454" cy="5672095"/>
          </a:xfrm>
          <a:custGeom>
            <a:avLst/>
            <a:gdLst/>
            <a:ahLst/>
            <a:cxnLst/>
            <a:rect l="l" t="t" r="r" b="b"/>
            <a:pathLst>
              <a:path w="15893181" h="8508143">
                <a:moveTo>
                  <a:pt x="0" y="0"/>
                </a:moveTo>
                <a:lnTo>
                  <a:pt x="15893182" y="0"/>
                </a:lnTo>
                <a:lnTo>
                  <a:pt x="15893182" y="8508143"/>
                </a:lnTo>
                <a:lnTo>
                  <a:pt x="0" y="8508143"/>
                </a:lnTo>
                <a:lnTo>
                  <a:pt x="0" y="0"/>
                </a:lnTo>
                <a:close/>
              </a:path>
            </a:pathLst>
          </a:custGeom>
          <a:blipFill>
            <a:blip r:embed="rId8"/>
            <a:stretch>
              <a:fillRect b="-12742"/>
            </a:stretch>
          </a:blipFill>
        </p:spPr>
        <p:txBody>
          <a:bodyPr/>
          <a:lstStyle/>
          <a:p>
            <a:endParaRPr lang="en-US"/>
          </a:p>
        </p:txBody>
      </p:sp>
      <p:sp>
        <p:nvSpPr>
          <p:cNvPr id="6" name="TextBox 6"/>
          <p:cNvSpPr txBox="1"/>
          <p:nvPr/>
        </p:nvSpPr>
        <p:spPr>
          <a:xfrm>
            <a:off x="459559" y="214599"/>
            <a:ext cx="7388139" cy="541943"/>
          </a:xfrm>
          <a:prstGeom prst="rect">
            <a:avLst/>
          </a:prstGeom>
        </p:spPr>
        <p:txBody>
          <a:bodyPr lIns="0" tIns="0" rIns="0" bIns="0" rtlCol="0" anchor="t">
            <a:spAutoFit/>
          </a:bodyPr>
          <a:lstStyle/>
          <a:p>
            <a:pPr>
              <a:lnSpc>
                <a:spcPts val="4482"/>
              </a:lnSpc>
              <a:spcBef>
                <a:spcPct val="0"/>
              </a:spcBef>
            </a:pPr>
            <a:r>
              <a:rPr lang="en-US" sz="3735" b="1">
                <a:solidFill>
                  <a:schemeClr val="accent1">
                    <a:lumMod val="50000"/>
                  </a:schemeClr>
                </a:solidFill>
                <a:ea typeface="Poppins Bold"/>
                <a:cs typeface="Poppins Bold"/>
                <a:sym typeface="Poppins Bold"/>
              </a:rPr>
              <a:t>COMPONENT  DIAGRAM</a:t>
            </a:r>
          </a:p>
        </p:txBody>
      </p:sp>
      <p:sp>
        <p:nvSpPr>
          <p:cNvPr id="7" name="Rectangle 6">
            <a:extLst>
              <a:ext uri="{FF2B5EF4-FFF2-40B4-BE49-F238E27FC236}">
                <a16:creationId xmlns:a16="http://schemas.microsoft.com/office/drawing/2014/main" id="{D5403902-CEEA-837F-FF9C-E3FCC0F64A63}"/>
              </a:ext>
            </a:extLst>
          </p:cNvPr>
          <p:cNvSpPr/>
          <p:nvPr/>
        </p:nvSpPr>
        <p:spPr>
          <a:xfrm>
            <a:off x="2687817" y="6496051"/>
            <a:ext cx="6816365" cy="36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tx1"/>
                </a:solidFill>
                <a:effectLst/>
                <a:uLnTx/>
                <a:uFillTx/>
                <a:latin typeface="Cambria"/>
                <a:ea typeface="+mn-ea"/>
                <a:cs typeface="+mn-cs"/>
              </a:rPr>
              <a:t>IT22600448</a:t>
            </a:r>
            <a:r>
              <a:rPr kumimoji="0" lang="en-US" sz="1800" b="0" i="0" u="none" strike="noStrike" kern="1200" cap="none" spc="0" normalizeH="0" baseline="0" noProof="0">
                <a:ln>
                  <a:noFill/>
                </a:ln>
                <a:solidFill>
                  <a:schemeClr val="tx1"/>
                </a:solidFill>
                <a:effectLst/>
                <a:uLnTx/>
                <a:uFillTx/>
                <a:latin typeface="Cambria"/>
                <a:ea typeface="+mn-ea"/>
                <a:cs typeface="+mn-cs"/>
              </a:rPr>
              <a:t>   |   </a:t>
            </a:r>
            <a:r>
              <a:rPr kumimoji="0" lang="en-US" sz="1800" b="1" i="0" u="none" strike="noStrike" kern="1200" cap="none" spc="0" normalizeH="0" baseline="0" noProof="0">
                <a:ln>
                  <a:noFill/>
                </a:ln>
                <a:solidFill>
                  <a:schemeClr val="tx1"/>
                </a:solidFill>
                <a:effectLst/>
                <a:uLnTx/>
                <a:uFillTx/>
                <a:latin typeface="Cambria"/>
                <a:ea typeface="+mn-ea"/>
                <a:cs typeface="+mn-cs"/>
              </a:rPr>
              <a:t>Reshmi M.G.G.K   </a:t>
            </a:r>
            <a:r>
              <a:rPr kumimoji="0" lang="en-US" sz="1800" b="0" i="0" u="none" strike="noStrike" kern="1200" cap="none" spc="0" normalizeH="0" baseline="0" noProof="0">
                <a:ln>
                  <a:noFill/>
                </a:ln>
                <a:solidFill>
                  <a:schemeClr val="tx1"/>
                </a:solidFill>
                <a:effectLst/>
                <a:uLnTx/>
                <a:uFillTx/>
                <a:latin typeface="Cambria"/>
                <a:ea typeface="+mn-ea"/>
                <a:cs typeface="+mn-cs"/>
              </a:rPr>
              <a:t>|   25-26J-368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CB6980EB-C48F-953B-5E28-4A72C541F6DD}"/>
              </a:ext>
            </a:extLst>
          </p:cNvPr>
          <p:cNvGrpSpPr/>
          <p:nvPr/>
        </p:nvGrpSpPr>
        <p:grpSpPr>
          <a:xfrm>
            <a:off x="879718" y="267716"/>
            <a:ext cx="10230733" cy="5913226"/>
            <a:chOff x="279951" y="104116"/>
            <a:chExt cx="11192487" cy="6391936"/>
          </a:xfrm>
        </p:grpSpPr>
        <p:sp>
          <p:nvSpPr>
            <p:cNvPr id="2" name="Freeform 2"/>
            <p:cNvSpPr/>
            <p:nvPr/>
          </p:nvSpPr>
          <p:spPr>
            <a:xfrm>
              <a:off x="279951" y="104116"/>
              <a:ext cx="11192487" cy="6391936"/>
            </a:xfrm>
            <a:custGeom>
              <a:avLst/>
              <a:gdLst/>
              <a:ahLst/>
              <a:cxnLst/>
              <a:rect l="l" t="t" r="r" b="b"/>
              <a:pathLst>
                <a:path w="16788730" h="9974656">
                  <a:moveTo>
                    <a:pt x="0" y="0"/>
                  </a:moveTo>
                  <a:lnTo>
                    <a:pt x="16788730" y="0"/>
                  </a:lnTo>
                  <a:lnTo>
                    <a:pt x="16788730" y="9974656"/>
                  </a:lnTo>
                  <a:lnTo>
                    <a:pt x="0" y="9974656"/>
                  </a:lnTo>
                  <a:lnTo>
                    <a:pt x="0" y="0"/>
                  </a:lnTo>
                  <a:close/>
                </a:path>
              </a:pathLst>
            </a:custGeom>
            <a:blipFill>
              <a:blip r:embed="rId2"/>
              <a:stretch>
                <a:fillRect l="-1016" t="-71" b="-71"/>
              </a:stretch>
            </a:blipFill>
          </p:spPr>
          <p:txBody>
            <a:bodyPr/>
            <a:lstStyle/>
            <a:p>
              <a:endParaRPr lang="en-US"/>
            </a:p>
          </p:txBody>
        </p:sp>
        <p:grpSp>
          <p:nvGrpSpPr>
            <p:cNvPr id="3" name="Group 3"/>
            <p:cNvGrpSpPr/>
            <p:nvPr/>
          </p:nvGrpSpPr>
          <p:grpSpPr>
            <a:xfrm>
              <a:off x="8110831" y="3285903"/>
              <a:ext cx="1444653" cy="811314"/>
              <a:chOff x="0" y="0"/>
              <a:chExt cx="570727" cy="320519"/>
            </a:xfrm>
          </p:grpSpPr>
          <p:sp>
            <p:nvSpPr>
              <p:cNvPr id="4" name="Freeform 4"/>
              <p:cNvSpPr/>
              <p:nvPr/>
            </p:nvSpPr>
            <p:spPr>
              <a:xfrm>
                <a:off x="0" y="0"/>
                <a:ext cx="570727" cy="320519"/>
              </a:xfrm>
              <a:custGeom>
                <a:avLst/>
                <a:gdLst/>
                <a:ahLst/>
                <a:cxnLst/>
                <a:rect l="l" t="t" r="r" b="b"/>
                <a:pathLst>
                  <a:path w="570727" h="320519">
                    <a:moveTo>
                      <a:pt x="0" y="0"/>
                    </a:moveTo>
                    <a:lnTo>
                      <a:pt x="570727" y="0"/>
                    </a:lnTo>
                    <a:lnTo>
                      <a:pt x="570727" y="320519"/>
                    </a:lnTo>
                    <a:lnTo>
                      <a:pt x="0" y="320519"/>
                    </a:lnTo>
                    <a:close/>
                  </a:path>
                </a:pathLst>
              </a:custGeom>
              <a:solidFill>
                <a:srgbClr val="BBDDDA"/>
              </a:solidFill>
            </p:spPr>
            <p:txBody>
              <a:bodyPr/>
              <a:lstStyle/>
              <a:p>
                <a:endParaRPr lang="en-US"/>
              </a:p>
            </p:txBody>
          </p:sp>
          <p:sp>
            <p:nvSpPr>
              <p:cNvPr id="5" name="TextBox 5"/>
              <p:cNvSpPr txBox="1"/>
              <p:nvPr/>
            </p:nvSpPr>
            <p:spPr>
              <a:xfrm>
                <a:off x="0" y="-38100"/>
                <a:ext cx="570727" cy="358619"/>
              </a:xfrm>
              <a:prstGeom prst="rect">
                <a:avLst/>
              </a:prstGeom>
            </p:spPr>
            <p:txBody>
              <a:bodyPr lIns="33867" tIns="33867" rIns="33867" bIns="33867" rtlCol="0" anchor="ctr"/>
              <a:lstStyle/>
              <a:p>
                <a:pPr algn="ctr">
                  <a:lnSpc>
                    <a:spcPts val="2053"/>
                  </a:lnSpc>
                </a:pPr>
                <a:endParaRPr sz="1200"/>
              </a:p>
            </p:txBody>
          </p:sp>
        </p:grpSp>
        <p:grpSp>
          <p:nvGrpSpPr>
            <p:cNvPr id="6" name="Group 6"/>
            <p:cNvGrpSpPr/>
            <p:nvPr/>
          </p:nvGrpSpPr>
          <p:grpSpPr>
            <a:xfrm>
              <a:off x="7604289" y="4399737"/>
              <a:ext cx="2078457" cy="1747773"/>
              <a:chOff x="0" y="0"/>
              <a:chExt cx="821119" cy="690478"/>
            </a:xfrm>
            <a:solidFill>
              <a:srgbClr val="FFFFFF"/>
            </a:solidFill>
          </p:grpSpPr>
          <p:sp>
            <p:nvSpPr>
              <p:cNvPr id="7" name="Freeform 7"/>
              <p:cNvSpPr/>
              <p:nvPr/>
            </p:nvSpPr>
            <p:spPr>
              <a:xfrm>
                <a:off x="0" y="0"/>
                <a:ext cx="821119" cy="690478"/>
              </a:xfrm>
              <a:custGeom>
                <a:avLst/>
                <a:gdLst/>
                <a:ahLst/>
                <a:cxnLst/>
                <a:rect l="l" t="t" r="r" b="b"/>
                <a:pathLst>
                  <a:path w="821119" h="690478">
                    <a:moveTo>
                      <a:pt x="0" y="0"/>
                    </a:moveTo>
                    <a:lnTo>
                      <a:pt x="821119" y="0"/>
                    </a:lnTo>
                    <a:lnTo>
                      <a:pt x="821119" y="690478"/>
                    </a:lnTo>
                    <a:lnTo>
                      <a:pt x="0" y="690478"/>
                    </a:lnTo>
                    <a:close/>
                  </a:path>
                </a:pathLst>
              </a:custGeom>
              <a:grpFill/>
            </p:spPr>
            <p:txBody>
              <a:bodyPr/>
              <a:lstStyle/>
              <a:p>
                <a:endParaRPr lang="en-US"/>
              </a:p>
            </p:txBody>
          </p:sp>
          <p:sp>
            <p:nvSpPr>
              <p:cNvPr id="8" name="TextBox 8"/>
              <p:cNvSpPr txBox="1"/>
              <p:nvPr/>
            </p:nvSpPr>
            <p:spPr>
              <a:xfrm>
                <a:off x="0" y="-38100"/>
                <a:ext cx="821119" cy="728578"/>
              </a:xfrm>
              <a:prstGeom prst="rect">
                <a:avLst/>
              </a:prstGeom>
              <a:grpFill/>
            </p:spPr>
            <p:txBody>
              <a:bodyPr lIns="33867" tIns="33867" rIns="33867" bIns="33867" rtlCol="0" anchor="ctr"/>
              <a:lstStyle/>
              <a:p>
                <a:pPr algn="ctr">
                  <a:lnSpc>
                    <a:spcPts val="2053"/>
                  </a:lnSpc>
                </a:pPr>
                <a:endParaRPr sz="1200"/>
              </a:p>
            </p:txBody>
          </p:sp>
        </p:grpSp>
        <p:grpSp>
          <p:nvGrpSpPr>
            <p:cNvPr id="9" name="Group 9"/>
            <p:cNvGrpSpPr/>
            <p:nvPr/>
          </p:nvGrpSpPr>
          <p:grpSpPr>
            <a:xfrm>
              <a:off x="7787849" y="3795251"/>
              <a:ext cx="157830" cy="1478372"/>
              <a:chOff x="0" y="0"/>
              <a:chExt cx="145696" cy="584048"/>
            </a:xfrm>
            <a:solidFill>
              <a:srgbClr val="FFFFFF"/>
            </a:solidFill>
          </p:grpSpPr>
          <p:sp>
            <p:nvSpPr>
              <p:cNvPr id="10" name="Freeform 10"/>
              <p:cNvSpPr/>
              <p:nvPr/>
            </p:nvSpPr>
            <p:spPr>
              <a:xfrm>
                <a:off x="0" y="0"/>
                <a:ext cx="145696" cy="584048"/>
              </a:xfrm>
              <a:custGeom>
                <a:avLst/>
                <a:gdLst/>
                <a:ahLst/>
                <a:cxnLst/>
                <a:rect l="l" t="t" r="r" b="b"/>
                <a:pathLst>
                  <a:path w="145696" h="584048">
                    <a:moveTo>
                      <a:pt x="0" y="0"/>
                    </a:moveTo>
                    <a:lnTo>
                      <a:pt x="145696" y="0"/>
                    </a:lnTo>
                    <a:lnTo>
                      <a:pt x="145696" y="584048"/>
                    </a:lnTo>
                    <a:lnTo>
                      <a:pt x="0" y="584048"/>
                    </a:lnTo>
                    <a:close/>
                  </a:path>
                </a:pathLst>
              </a:custGeom>
              <a:grpFill/>
            </p:spPr>
            <p:txBody>
              <a:bodyPr/>
              <a:lstStyle/>
              <a:p>
                <a:endParaRPr lang="en-US"/>
              </a:p>
            </p:txBody>
          </p:sp>
          <p:sp>
            <p:nvSpPr>
              <p:cNvPr id="11" name="TextBox 11"/>
              <p:cNvSpPr txBox="1"/>
              <p:nvPr/>
            </p:nvSpPr>
            <p:spPr>
              <a:xfrm>
                <a:off x="0" y="-38100"/>
                <a:ext cx="145696" cy="622148"/>
              </a:xfrm>
              <a:prstGeom prst="rect">
                <a:avLst/>
              </a:prstGeom>
              <a:grpFill/>
            </p:spPr>
            <p:txBody>
              <a:bodyPr lIns="33867" tIns="33867" rIns="33867" bIns="33867" rtlCol="0" anchor="ctr"/>
              <a:lstStyle/>
              <a:p>
                <a:pPr algn="ctr">
                  <a:lnSpc>
                    <a:spcPts val="2053"/>
                  </a:lnSpc>
                </a:pPr>
                <a:endParaRPr sz="1200"/>
              </a:p>
            </p:txBody>
          </p:sp>
        </p:grpSp>
        <p:sp>
          <p:nvSpPr>
            <p:cNvPr id="15" name="TextBox 15"/>
            <p:cNvSpPr txBox="1"/>
            <p:nvPr/>
          </p:nvSpPr>
          <p:spPr>
            <a:xfrm>
              <a:off x="8028254" y="3444026"/>
              <a:ext cx="1609805" cy="522964"/>
            </a:xfrm>
            <a:prstGeom prst="rect">
              <a:avLst/>
            </a:prstGeom>
          </p:spPr>
          <p:txBody>
            <a:bodyPr lIns="0" tIns="0" rIns="0" bIns="0" rtlCol="0" anchor="t">
              <a:spAutoFit/>
            </a:bodyPr>
            <a:lstStyle/>
            <a:p>
              <a:pPr algn="ctr">
                <a:lnSpc>
                  <a:spcPts val="1400"/>
                </a:lnSpc>
              </a:pPr>
              <a:r>
                <a:rPr lang="en-US" sz="1000" b="1">
                  <a:solidFill>
                    <a:srgbClr val="000000"/>
                  </a:solidFill>
                  <a:latin typeface="Montserrat Bold"/>
                  <a:ea typeface="Montserrat Bold"/>
                  <a:cs typeface="Montserrat Bold"/>
                  <a:sym typeface="Montserrat Bold"/>
                </a:rPr>
                <a:t>Design and </a:t>
              </a:r>
            </a:p>
            <a:p>
              <a:pPr algn="ctr">
                <a:lnSpc>
                  <a:spcPts val="1400"/>
                </a:lnSpc>
              </a:pPr>
              <a:r>
                <a:rPr lang="en-US" sz="1000" b="1">
                  <a:solidFill>
                    <a:srgbClr val="000000"/>
                  </a:solidFill>
                  <a:latin typeface="Montserrat Bold"/>
                  <a:ea typeface="Montserrat Bold"/>
                  <a:cs typeface="Montserrat Bold"/>
                  <a:sym typeface="Montserrat Bold"/>
                </a:rPr>
                <a:t>implement the </a:t>
              </a:r>
            </a:p>
            <a:p>
              <a:pPr algn="ctr">
                <a:lnSpc>
                  <a:spcPts val="1400"/>
                </a:lnSpc>
                <a:spcBef>
                  <a:spcPct val="0"/>
                </a:spcBef>
              </a:pPr>
              <a:r>
                <a:rPr lang="en-US" sz="1000" b="1">
                  <a:solidFill>
                    <a:srgbClr val="000000"/>
                  </a:solidFill>
                  <a:latin typeface="Montserrat Bold"/>
                  <a:ea typeface="Montserrat Bold"/>
                  <a:cs typeface="Montserrat Bold"/>
                  <a:sym typeface="Montserrat Bold"/>
                </a:rPr>
                <a:t>system</a:t>
              </a:r>
            </a:p>
          </p:txBody>
        </p:sp>
      </p:grpSp>
      <p:sp>
        <p:nvSpPr>
          <p:cNvPr id="17" name="Rectangle 16">
            <a:extLst>
              <a:ext uri="{FF2B5EF4-FFF2-40B4-BE49-F238E27FC236}">
                <a16:creationId xmlns:a16="http://schemas.microsoft.com/office/drawing/2014/main" id="{9CEC10BB-8860-C44E-F00C-6495890EEAB6}"/>
              </a:ext>
            </a:extLst>
          </p:cNvPr>
          <p:cNvSpPr/>
          <p:nvPr/>
        </p:nvSpPr>
        <p:spPr>
          <a:xfrm>
            <a:off x="2687817" y="6496051"/>
            <a:ext cx="6816365" cy="36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tx1"/>
                </a:solidFill>
                <a:effectLst/>
                <a:uLnTx/>
                <a:uFillTx/>
                <a:latin typeface="Cambria"/>
                <a:ea typeface="+mn-ea"/>
                <a:cs typeface="+mn-cs"/>
              </a:rPr>
              <a:t>IT22600448</a:t>
            </a:r>
            <a:r>
              <a:rPr kumimoji="0" lang="en-US" sz="1800" b="0" i="0" u="none" strike="noStrike" kern="1200" cap="none" spc="0" normalizeH="0" baseline="0" noProof="0">
                <a:ln>
                  <a:noFill/>
                </a:ln>
                <a:solidFill>
                  <a:schemeClr val="tx1"/>
                </a:solidFill>
                <a:effectLst/>
                <a:uLnTx/>
                <a:uFillTx/>
                <a:latin typeface="Cambria"/>
                <a:ea typeface="+mn-ea"/>
                <a:cs typeface="+mn-cs"/>
              </a:rPr>
              <a:t>   |   </a:t>
            </a:r>
            <a:r>
              <a:rPr kumimoji="0" lang="en-US" sz="1800" b="1" i="0" u="none" strike="noStrike" kern="1200" cap="none" spc="0" normalizeH="0" baseline="0" noProof="0">
                <a:ln>
                  <a:noFill/>
                </a:ln>
                <a:solidFill>
                  <a:schemeClr val="tx1"/>
                </a:solidFill>
                <a:effectLst/>
                <a:uLnTx/>
                <a:uFillTx/>
                <a:latin typeface="Cambria"/>
                <a:ea typeface="+mn-ea"/>
                <a:cs typeface="+mn-cs"/>
              </a:rPr>
              <a:t>Reshmi M.G.G.K   </a:t>
            </a:r>
            <a:r>
              <a:rPr kumimoji="0" lang="en-US" sz="1800" b="0" i="0" u="none" strike="noStrike" kern="1200" cap="none" spc="0" normalizeH="0" baseline="0" noProof="0">
                <a:ln>
                  <a:noFill/>
                </a:ln>
                <a:solidFill>
                  <a:schemeClr val="tx1"/>
                </a:solidFill>
                <a:effectLst/>
                <a:uLnTx/>
                <a:uFillTx/>
                <a:latin typeface="Cambria"/>
                <a:ea typeface="+mn-ea"/>
                <a:cs typeface="+mn-cs"/>
              </a:rPr>
              <a:t>|   25-26J-368</a:t>
            </a:r>
          </a:p>
        </p:txBody>
      </p:sp>
      <p:grpSp>
        <p:nvGrpSpPr>
          <p:cNvPr id="19" name="Group 18">
            <a:extLst>
              <a:ext uri="{FF2B5EF4-FFF2-40B4-BE49-F238E27FC236}">
                <a16:creationId xmlns:a16="http://schemas.microsoft.com/office/drawing/2014/main" id="{CC160BE2-203A-EE8D-850F-787996CD4E1A}"/>
              </a:ext>
            </a:extLst>
          </p:cNvPr>
          <p:cNvGrpSpPr/>
          <p:nvPr/>
        </p:nvGrpSpPr>
        <p:grpSpPr>
          <a:xfrm>
            <a:off x="4818578" y="17888"/>
            <a:ext cx="2075904" cy="813713"/>
            <a:chOff x="4838242" y="1276417"/>
            <a:chExt cx="2075904" cy="813713"/>
          </a:xfrm>
        </p:grpSpPr>
        <p:grpSp>
          <p:nvGrpSpPr>
            <p:cNvPr id="12" name="Group 12"/>
            <p:cNvGrpSpPr/>
            <p:nvPr/>
          </p:nvGrpSpPr>
          <p:grpSpPr>
            <a:xfrm>
              <a:off x="4838242" y="1276417"/>
              <a:ext cx="2075904" cy="813713"/>
              <a:chOff x="0" y="-38100"/>
              <a:chExt cx="697235" cy="267902"/>
            </a:xfrm>
          </p:grpSpPr>
          <p:sp>
            <p:nvSpPr>
              <p:cNvPr id="13" name="Freeform 13"/>
              <p:cNvSpPr/>
              <p:nvPr/>
            </p:nvSpPr>
            <p:spPr>
              <a:xfrm>
                <a:off x="0" y="0"/>
                <a:ext cx="697235" cy="229802"/>
              </a:xfrm>
              <a:custGeom>
                <a:avLst/>
                <a:gdLst/>
                <a:ahLst/>
                <a:cxnLst/>
                <a:rect l="l" t="t" r="r" b="b"/>
                <a:pathLst>
                  <a:path w="697235" h="229802">
                    <a:moveTo>
                      <a:pt x="0" y="0"/>
                    </a:moveTo>
                    <a:lnTo>
                      <a:pt x="697235" y="0"/>
                    </a:lnTo>
                    <a:lnTo>
                      <a:pt x="697235" y="229802"/>
                    </a:lnTo>
                    <a:lnTo>
                      <a:pt x="0" y="229802"/>
                    </a:lnTo>
                    <a:close/>
                  </a:path>
                </a:pathLst>
              </a:custGeom>
              <a:solidFill>
                <a:srgbClr val="18B5D9"/>
              </a:solidFill>
            </p:spPr>
            <p:txBody>
              <a:bodyPr/>
              <a:lstStyle/>
              <a:p>
                <a:endParaRPr lang="en-US"/>
              </a:p>
            </p:txBody>
          </p:sp>
          <p:sp>
            <p:nvSpPr>
              <p:cNvPr id="14" name="TextBox 14"/>
              <p:cNvSpPr txBox="1"/>
              <p:nvPr/>
            </p:nvSpPr>
            <p:spPr>
              <a:xfrm>
                <a:off x="0" y="-38100"/>
                <a:ext cx="697235" cy="267902"/>
              </a:xfrm>
              <a:prstGeom prst="rect">
                <a:avLst/>
              </a:prstGeom>
            </p:spPr>
            <p:txBody>
              <a:bodyPr lIns="33867" tIns="33867" rIns="33867" bIns="33867" rtlCol="0" anchor="ctr"/>
              <a:lstStyle/>
              <a:p>
                <a:pPr algn="ctr">
                  <a:lnSpc>
                    <a:spcPts val="2053"/>
                  </a:lnSpc>
                </a:pPr>
                <a:endParaRPr sz="1200"/>
              </a:p>
            </p:txBody>
          </p:sp>
        </p:grpSp>
        <p:sp>
          <p:nvSpPr>
            <p:cNvPr id="16" name="TextBox 16"/>
            <p:cNvSpPr txBox="1"/>
            <p:nvPr/>
          </p:nvSpPr>
          <p:spPr>
            <a:xfrm>
              <a:off x="4847039" y="1433358"/>
              <a:ext cx="2067107" cy="615553"/>
            </a:xfrm>
            <a:prstGeom prst="rect">
              <a:avLst/>
            </a:prstGeom>
          </p:spPr>
          <p:txBody>
            <a:bodyPr wrap="square" lIns="0" tIns="0" rIns="0" bIns="0" rtlCol="0" anchor="t">
              <a:spAutoFit/>
            </a:bodyPr>
            <a:lstStyle/>
            <a:p>
              <a:pPr algn="ctr">
                <a:spcBef>
                  <a:spcPct val="0"/>
                </a:spcBef>
              </a:pPr>
              <a:r>
                <a:rPr lang="en-US" sz="2000" b="1">
                  <a:solidFill>
                    <a:srgbClr val="000000"/>
                  </a:solidFill>
                  <a:ea typeface="Montserrat Bold"/>
                  <a:cs typeface="Montserrat Bold"/>
                  <a:sym typeface="Montserrat Bold"/>
                </a:rPr>
                <a:t>Web app implementation </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Half Frame 18">
            <a:extLst>
              <a:ext uri="{FF2B5EF4-FFF2-40B4-BE49-F238E27FC236}">
                <a16:creationId xmlns:a16="http://schemas.microsoft.com/office/drawing/2014/main" id="{0963BD8A-13AF-AA05-48F9-FCB538BC7685}"/>
              </a:ext>
            </a:extLst>
          </p:cNvPr>
          <p:cNvSpPr/>
          <p:nvPr/>
        </p:nvSpPr>
        <p:spPr>
          <a:xfrm>
            <a:off x="0" y="-1"/>
            <a:ext cx="2891908" cy="1727765"/>
          </a:xfrm>
          <a:prstGeom prst="halfFrame">
            <a:avLst>
              <a:gd name="adj1" fmla="val 36142"/>
              <a:gd name="adj2" fmla="val 33333"/>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a:xfrm>
            <a:off x="963084" y="4657901"/>
            <a:ext cx="10363200" cy="816863"/>
          </a:xfrm>
        </p:spPr>
        <p:txBody>
          <a:bodyPr/>
          <a:lstStyle/>
          <a:p>
            <a:r>
              <a:rPr lang="pt-BR"/>
              <a:t>It22561084 | JEESARA k g n</a:t>
            </a:r>
            <a:endParaRPr lang="en-US"/>
          </a:p>
        </p:txBody>
      </p:sp>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a:xfrm>
            <a:off x="963084" y="5212080"/>
            <a:ext cx="10363200" cy="525368"/>
          </a:xfrm>
        </p:spPr>
        <p:txBody>
          <a:bodyPr/>
          <a:lstStyle/>
          <a:p>
            <a:r>
              <a:rPr lang="en-US" b="1">
                <a:solidFill>
                  <a:schemeClr val="tx1"/>
                </a:solidFill>
              </a:rPr>
              <a:t>Specialization : Information Technology</a:t>
            </a:r>
          </a:p>
        </p:txBody>
      </p:sp>
      <p:sp>
        <p:nvSpPr>
          <p:cNvPr id="4" name="Rectangle 3">
            <a:extLst>
              <a:ext uri="{FF2B5EF4-FFF2-40B4-BE49-F238E27FC236}">
                <a16:creationId xmlns:a16="http://schemas.microsoft.com/office/drawing/2014/main" id="{5FB98E66-DBD5-4B29-AC68-A58A70C64231}"/>
              </a:ext>
            </a:extLst>
          </p:cNvPr>
          <p:cNvSpPr/>
          <p:nvPr/>
        </p:nvSpPr>
        <p:spPr>
          <a:xfrm>
            <a:off x="2632435" y="6496050"/>
            <a:ext cx="6816365" cy="36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tx1"/>
                </a:solidFill>
                <a:effectLst/>
                <a:uLnTx/>
                <a:uFillTx/>
                <a:latin typeface="Cambria"/>
                <a:ea typeface="+mn-ea"/>
                <a:cs typeface="+mn-cs"/>
              </a:rPr>
              <a:t>IT22561084</a:t>
            </a:r>
            <a:r>
              <a:rPr kumimoji="0" lang="en-US" sz="1800" b="0" i="0" u="none" strike="noStrike" kern="1200" cap="none" spc="0" normalizeH="0" baseline="0" noProof="0">
                <a:ln>
                  <a:noFill/>
                </a:ln>
                <a:solidFill>
                  <a:schemeClr val="tx1"/>
                </a:solidFill>
                <a:effectLst/>
                <a:uLnTx/>
                <a:uFillTx/>
                <a:latin typeface="Cambria"/>
                <a:ea typeface="+mn-ea"/>
                <a:cs typeface="+mn-cs"/>
              </a:rPr>
              <a:t>  |   </a:t>
            </a:r>
            <a:r>
              <a:rPr lang="en-US" b="1">
                <a:solidFill>
                  <a:schemeClr val="tx1"/>
                </a:solidFill>
                <a:latin typeface="Cambria"/>
              </a:rPr>
              <a:t>Jeesara K G N</a:t>
            </a:r>
            <a:r>
              <a:rPr kumimoji="0" lang="en-US" sz="1800" b="1" i="0" u="none" strike="noStrike" kern="1200" cap="none" spc="0" normalizeH="0" baseline="0" noProof="0">
                <a:ln>
                  <a:noFill/>
                </a:ln>
                <a:solidFill>
                  <a:schemeClr val="tx1"/>
                </a:solidFill>
                <a:effectLst/>
                <a:uLnTx/>
                <a:uFillTx/>
                <a:latin typeface="Cambria"/>
                <a:ea typeface="+mn-ea"/>
                <a:cs typeface="+mn-cs"/>
              </a:rPr>
              <a:t>   </a:t>
            </a:r>
            <a:r>
              <a:rPr kumimoji="0" lang="en-US" sz="1800" b="0" i="0" u="none" strike="noStrike" kern="1200" cap="none" spc="0" normalizeH="0" baseline="0" noProof="0">
                <a:ln>
                  <a:noFill/>
                </a:ln>
                <a:solidFill>
                  <a:schemeClr val="tx1"/>
                </a:solidFill>
                <a:effectLst/>
                <a:uLnTx/>
                <a:uFillTx/>
                <a:latin typeface="Cambria"/>
                <a:ea typeface="+mn-ea"/>
                <a:cs typeface="+mn-cs"/>
              </a:rPr>
              <a:t>|   25-26J-368</a:t>
            </a:r>
          </a:p>
        </p:txBody>
      </p:sp>
      <p:sp>
        <p:nvSpPr>
          <p:cNvPr id="7" name="TextBox 6">
            <a:extLst>
              <a:ext uri="{FF2B5EF4-FFF2-40B4-BE49-F238E27FC236}">
                <a16:creationId xmlns:a16="http://schemas.microsoft.com/office/drawing/2014/main" id="{ACF5844C-A4EE-5BEE-2502-838903FF7DB7}"/>
              </a:ext>
            </a:extLst>
          </p:cNvPr>
          <p:cNvSpPr txBox="1"/>
          <p:nvPr/>
        </p:nvSpPr>
        <p:spPr>
          <a:xfrm>
            <a:off x="963085" y="1256003"/>
            <a:ext cx="8860854" cy="1938992"/>
          </a:xfrm>
          <a:prstGeom prst="rect">
            <a:avLst/>
          </a:prstGeom>
          <a:noFill/>
        </p:spPr>
        <p:txBody>
          <a:bodyPr wrap="square">
            <a:sp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a:ln>
                  <a:noFill/>
                </a:ln>
                <a:effectLst/>
                <a:uLnTx/>
                <a:uFillTx/>
                <a:latin typeface="Adobe Devanagari"/>
                <a:ea typeface="+mj-ea"/>
                <a:cs typeface="Times New Roman"/>
              </a:rPr>
              <a:t>PERSONALIZED MEAL PLAN RECOMMENDATION SYSTEM  FOR VITAMIN DEFICIENCY</a:t>
            </a:r>
          </a:p>
        </p:txBody>
      </p:sp>
      <p:sp>
        <p:nvSpPr>
          <p:cNvPr id="15" name="Flowchart: Connector 14">
            <a:extLst>
              <a:ext uri="{FF2B5EF4-FFF2-40B4-BE49-F238E27FC236}">
                <a16:creationId xmlns:a16="http://schemas.microsoft.com/office/drawing/2014/main" id="{F7883A7D-D772-4DF8-DC4F-CB35E76A6B94}"/>
              </a:ext>
            </a:extLst>
          </p:cNvPr>
          <p:cNvSpPr/>
          <p:nvPr/>
        </p:nvSpPr>
        <p:spPr>
          <a:xfrm>
            <a:off x="10446436" y="4368578"/>
            <a:ext cx="1127045" cy="1152961"/>
          </a:xfrm>
          <a:prstGeom prst="flowChartConnector">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6" name="Flowchart: Connector 15">
            <a:extLst>
              <a:ext uri="{FF2B5EF4-FFF2-40B4-BE49-F238E27FC236}">
                <a16:creationId xmlns:a16="http://schemas.microsoft.com/office/drawing/2014/main" id="{60A2D914-E1A8-3D96-CBFD-4A36BE471260}"/>
              </a:ext>
            </a:extLst>
          </p:cNvPr>
          <p:cNvSpPr/>
          <p:nvPr/>
        </p:nvSpPr>
        <p:spPr>
          <a:xfrm>
            <a:off x="10066066" y="5454208"/>
            <a:ext cx="658021" cy="677641"/>
          </a:xfrm>
          <a:prstGeom prst="flowChartConnector">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7" name="Flowchart: Connector 16">
            <a:extLst>
              <a:ext uri="{FF2B5EF4-FFF2-40B4-BE49-F238E27FC236}">
                <a16:creationId xmlns:a16="http://schemas.microsoft.com/office/drawing/2014/main" id="{DC63FCB4-0C76-CA45-0602-6956DF777C99}"/>
              </a:ext>
            </a:extLst>
          </p:cNvPr>
          <p:cNvSpPr/>
          <p:nvPr/>
        </p:nvSpPr>
        <p:spPr>
          <a:xfrm>
            <a:off x="9368879" y="4678037"/>
            <a:ext cx="810703" cy="814141"/>
          </a:xfrm>
          <a:prstGeom prst="flowChartConnector">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8" name="Flowchart: Connector 17">
            <a:extLst>
              <a:ext uri="{FF2B5EF4-FFF2-40B4-BE49-F238E27FC236}">
                <a16:creationId xmlns:a16="http://schemas.microsoft.com/office/drawing/2014/main" id="{F516CC92-23BF-6C12-7825-D68BCADBE775}"/>
              </a:ext>
            </a:extLst>
          </p:cNvPr>
          <p:cNvSpPr/>
          <p:nvPr/>
        </p:nvSpPr>
        <p:spPr>
          <a:xfrm>
            <a:off x="10110704" y="4211402"/>
            <a:ext cx="335732" cy="338820"/>
          </a:xfrm>
          <a:prstGeom prst="flowChartConnector">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pic>
        <p:nvPicPr>
          <p:cNvPr id="2" name="Picture 1" descr="A person with a beard and mustache&#10;&#10;AI-generated content may be incorrect.">
            <a:extLst>
              <a:ext uri="{FF2B5EF4-FFF2-40B4-BE49-F238E27FC236}">
                <a16:creationId xmlns:a16="http://schemas.microsoft.com/office/drawing/2014/main" id="{DCABA761-4787-5969-73F2-7CF8B33076E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871" r="1151" b="6023"/>
          <a:stretch/>
        </p:blipFill>
        <p:spPr>
          <a:xfrm>
            <a:off x="10106026" y="142875"/>
            <a:ext cx="2025649" cy="2349501"/>
          </a:xfrm>
          <a:prstGeom prst="rect">
            <a:avLst/>
          </a:prstGeom>
          <a:effectLst>
            <a:outerShdw blurRad="50800" dist="50800" dir="5400000" sx="1000" sy="1000" algn="ctr" rotWithShape="0">
              <a:srgbClr val="000000"/>
            </a:outerShdw>
          </a:effectLst>
        </p:spPr>
      </p:pic>
    </p:spTree>
    <p:extLst>
      <p:ext uri="{BB962C8B-B14F-4D97-AF65-F5344CB8AC3E}">
        <p14:creationId xmlns:p14="http://schemas.microsoft.com/office/powerpoint/2010/main" val="4203134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B57E6-B538-8EE0-47A8-53AFE685754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F8A4A6-8F1A-2C35-0DA5-4E00ECD1C2D7}"/>
              </a:ext>
            </a:extLst>
          </p:cNvPr>
          <p:cNvSpPr>
            <a:spLocks noGrp="1"/>
          </p:cNvSpPr>
          <p:nvPr>
            <p:ph type="title"/>
          </p:nvPr>
        </p:nvSpPr>
        <p:spPr>
          <a:xfrm>
            <a:off x="335280" y="66358"/>
            <a:ext cx="11684000" cy="868362"/>
          </a:xfrm>
        </p:spPr>
        <p:txBody>
          <a:bodyPr>
            <a:normAutofit/>
          </a:bodyPr>
          <a:lstStyle/>
          <a:p>
            <a:r>
              <a:rPr lang="en-US">
                <a:solidFill>
                  <a:schemeClr val="accent1">
                    <a:lumMod val="50000"/>
                  </a:schemeClr>
                </a:solidFill>
              </a:rPr>
              <a:t>Introduction</a:t>
            </a:r>
          </a:p>
        </p:txBody>
      </p:sp>
      <p:sp>
        <p:nvSpPr>
          <p:cNvPr id="2" name="Rectangle 1">
            <a:extLst>
              <a:ext uri="{FF2B5EF4-FFF2-40B4-BE49-F238E27FC236}">
                <a16:creationId xmlns:a16="http://schemas.microsoft.com/office/drawing/2014/main" id="{D666B55C-FE11-9E64-5A28-FE20CD20E390}"/>
              </a:ext>
            </a:extLst>
          </p:cNvPr>
          <p:cNvSpPr/>
          <p:nvPr/>
        </p:nvSpPr>
        <p:spPr>
          <a:xfrm>
            <a:off x="2632435" y="6492874"/>
            <a:ext cx="6816365" cy="3651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IT22561084</a:t>
            </a:r>
            <a:r>
              <a:rPr lang="en-US" sz="1800">
                <a:solidFill>
                  <a:schemeClr val="tx1"/>
                </a:solidFill>
              </a:rPr>
              <a:t>   |   </a:t>
            </a:r>
            <a:r>
              <a:rPr lang="en-US" b="1">
                <a:solidFill>
                  <a:schemeClr val="tx1"/>
                </a:solidFill>
              </a:rPr>
              <a:t>Jeesara K.G.N</a:t>
            </a:r>
            <a:r>
              <a:rPr lang="en-US" sz="1800" b="1">
                <a:solidFill>
                  <a:schemeClr val="tx1"/>
                </a:solidFill>
              </a:rPr>
              <a:t>   </a:t>
            </a:r>
            <a:r>
              <a:rPr lang="en-US" sz="1800">
                <a:solidFill>
                  <a:schemeClr val="tx1"/>
                </a:solidFill>
              </a:rPr>
              <a:t>|   </a:t>
            </a:r>
            <a:r>
              <a:rPr lang="en-US">
                <a:solidFill>
                  <a:schemeClr val="tx1"/>
                </a:solidFill>
              </a:rPr>
              <a:t>25-26J-368</a:t>
            </a:r>
            <a:endParaRPr lang="en-US" sz="1800">
              <a:solidFill>
                <a:schemeClr val="tx1"/>
              </a:solidFill>
            </a:endParaRPr>
          </a:p>
        </p:txBody>
      </p:sp>
      <p:pic>
        <p:nvPicPr>
          <p:cNvPr id="16" name="Picture 15" descr="A screenshot of a computer&#10;&#10;AI-generated content may be incorrect.">
            <a:extLst>
              <a:ext uri="{FF2B5EF4-FFF2-40B4-BE49-F238E27FC236}">
                <a16:creationId xmlns:a16="http://schemas.microsoft.com/office/drawing/2014/main" id="{56F6A9DB-AF83-39B4-9062-EAC7064A8655}"/>
              </a:ext>
            </a:extLst>
          </p:cNvPr>
          <p:cNvPicPr>
            <a:picLocks noChangeAspect="1"/>
          </p:cNvPicPr>
          <p:nvPr/>
        </p:nvPicPr>
        <p:blipFill rotWithShape="1">
          <a:blip r:embed="rId3">
            <a:extLst>
              <a:ext uri="{28A0092B-C50C-407E-A947-70E740481C1C}">
                <a14:useLocalDpi xmlns:a14="http://schemas.microsoft.com/office/drawing/2010/main" val="0"/>
              </a:ext>
            </a:extLst>
          </a:blip>
          <a:srcRect l="42807" t="43333" r="36057" b="22418"/>
          <a:stretch/>
        </p:blipFill>
        <p:spPr>
          <a:xfrm>
            <a:off x="0" y="3429000"/>
            <a:ext cx="1954471" cy="2012580"/>
          </a:xfrm>
          <a:prstGeom prst="rect">
            <a:avLst/>
          </a:prstGeom>
        </p:spPr>
      </p:pic>
      <p:pic>
        <p:nvPicPr>
          <p:cNvPr id="18" name="Picture 17" descr="A screenshot of a computer&#10;&#10;AI-generated content may be incorrect.">
            <a:extLst>
              <a:ext uri="{FF2B5EF4-FFF2-40B4-BE49-F238E27FC236}">
                <a16:creationId xmlns:a16="http://schemas.microsoft.com/office/drawing/2014/main" id="{91D714F4-0851-A745-304C-721FC8BA791F}"/>
              </a:ext>
            </a:extLst>
          </p:cNvPr>
          <p:cNvPicPr>
            <a:picLocks noChangeAspect="1"/>
          </p:cNvPicPr>
          <p:nvPr/>
        </p:nvPicPr>
        <p:blipFill rotWithShape="1">
          <a:blip r:embed="rId3">
            <a:extLst>
              <a:ext uri="{28A0092B-C50C-407E-A947-70E740481C1C}">
                <a14:useLocalDpi xmlns:a14="http://schemas.microsoft.com/office/drawing/2010/main" val="0"/>
              </a:ext>
            </a:extLst>
          </a:blip>
          <a:srcRect l="66906" t="39674" r="10261" b="20370"/>
          <a:stretch/>
        </p:blipFill>
        <p:spPr>
          <a:xfrm>
            <a:off x="9266693" y="3306778"/>
            <a:ext cx="2391716" cy="2790288"/>
          </a:xfrm>
          <a:prstGeom prst="rect">
            <a:avLst/>
          </a:prstGeom>
          <a:solidFill>
            <a:schemeClr val="bg1"/>
          </a:solidFill>
        </p:spPr>
      </p:pic>
      <p:sp>
        <p:nvSpPr>
          <p:cNvPr id="20" name="TextBox 19">
            <a:extLst>
              <a:ext uri="{FF2B5EF4-FFF2-40B4-BE49-F238E27FC236}">
                <a16:creationId xmlns:a16="http://schemas.microsoft.com/office/drawing/2014/main" id="{4F6EEA34-022E-F92F-3DB6-D3B121238B4F}"/>
              </a:ext>
            </a:extLst>
          </p:cNvPr>
          <p:cNvSpPr txBox="1"/>
          <p:nvPr/>
        </p:nvSpPr>
        <p:spPr>
          <a:xfrm>
            <a:off x="1074324" y="968990"/>
            <a:ext cx="9509760" cy="4524315"/>
          </a:xfrm>
          <a:prstGeom prst="rect">
            <a:avLst/>
          </a:prstGeom>
          <a:noFill/>
        </p:spPr>
        <p:txBody>
          <a:bodyPr wrap="square">
            <a:spAutoFit/>
          </a:bodyPr>
          <a:lstStyle/>
          <a:p>
            <a:pPr marL="285750" indent="-285750">
              <a:buFont typeface="Wingdings" panose="05000000000000000000" pitchFamily="2" charset="2"/>
              <a:buChar char="Ø"/>
            </a:pPr>
            <a:r>
              <a:rPr lang="en-US"/>
              <a:t>Generic meal charts do not address the individual needs of elderly patients.</a:t>
            </a:r>
          </a:p>
          <a:p>
            <a:endParaRPr lang="en-US"/>
          </a:p>
          <a:p>
            <a:pPr marL="285750" indent="-285750">
              <a:buFont typeface="Wingdings" panose="05000000000000000000" pitchFamily="2" charset="2"/>
              <a:buChar char="Ø"/>
            </a:pPr>
            <a:r>
              <a:rPr lang="en-US"/>
              <a:t>Polypharmacy patients require special meal planning that avoids harmful drug-nutrient interactions.</a:t>
            </a:r>
          </a:p>
          <a:p>
            <a:endParaRPr lang="en-US"/>
          </a:p>
          <a:p>
            <a:pPr marL="285750" indent="-285750">
              <a:buFont typeface="Wingdings" panose="05000000000000000000" pitchFamily="2" charset="2"/>
              <a:buChar char="Ø"/>
            </a:pPr>
            <a:r>
              <a:rPr lang="en-US"/>
              <a:t>Standard diet apps focus on calories and weight loss, not on vitamin deficiency management.</a:t>
            </a:r>
          </a:p>
          <a:p>
            <a:endParaRPr lang="en-US"/>
          </a:p>
          <a:p>
            <a:pPr marL="285750" indent="-285750">
              <a:buFont typeface="Wingdings" panose="05000000000000000000" pitchFamily="2" charset="2"/>
              <a:buChar char="Ø"/>
            </a:pPr>
            <a:r>
              <a:rPr lang="en-US"/>
              <a:t>Our Meal Plan Module:</a:t>
            </a:r>
          </a:p>
          <a:p>
            <a:endParaRPr lang="en-US"/>
          </a:p>
          <a:p>
            <a:pPr marL="742950" lvl="1" indent="-285750">
              <a:buFont typeface="Wingdings" panose="05000000000000000000" pitchFamily="2" charset="2"/>
              <a:buChar char="ü"/>
            </a:pPr>
            <a:r>
              <a:rPr lang="en-US"/>
              <a:t>Generates personalized, culturally appropriate meals.</a:t>
            </a:r>
          </a:p>
          <a:p>
            <a:pPr marL="742950" lvl="1" indent="-285750">
              <a:buFont typeface="Wingdings" panose="05000000000000000000" pitchFamily="2" charset="2"/>
              <a:buChar char="ü"/>
            </a:pPr>
            <a:endParaRPr lang="en-US"/>
          </a:p>
          <a:p>
            <a:pPr marL="742950" lvl="1" indent="-285750">
              <a:buFont typeface="Wingdings" panose="05000000000000000000" pitchFamily="2" charset="2"/>
              <a:buChar char="ü"/>
            </a:pPr>
            <a:r>
              <a:rPr lang="en-US"/>
              <a:t>Adjusts according to age, BMI, drug history, and food preferences.</a:t>
            </a:r>
          </a:p>
          <a:p>
            <a:pPr marL="742950" lvl="1" indent="-285750">
              <a:buFont typeface="Wingdings" panose="05000000000000000000" pitchFamily="2" charset="2"/>
              <a:buChar char="ü"/>
            </a:pPr>
            <a:endParaRPr lang="en-US"/>
          </a:p>
          <a:p>
            <a:pPr marL="742950" lvl="1" indent="-285750">
              <a:buFont typeface="Wingdings" panose="05000000000000000000" pitchFamily="2" charset="2"/>
              <a:buChar char="ü"/>
            </a:pPr>
            <a:r>
              <a:rPr lang="en-US"/>
              <a:t>Recommends vitamin-rich foods (e.g., B12 for long-term metformin use).</a:t>
            </a:r>
          </a:p>
          <a:p>
            <a:pPr marL="742950" lvl="1" indent="-285750">
              <a:buFont typeface="Wingdings" panose="05000000000000000000" pitchFamily="2" charset="2"/>
              <a:buChar char="ü"/>
            </a:pPr>
            <a:endParaRPr lang="en-US"/>
          </a:p>
          <a:p>
            <a:pPr marL="742950" lvl="1" indent="-285750">
              <a:buFont typeface="Wingdings" panose="05000000000000000000" pitchFamily="2" charset="2"/>
              <a:buChar char="ü"/>
            </a:pPr>
            <a:r>
              <a:rPr lang="en-US"/>
              <a:t>Provides adaptive updates as the patient’s drugs or health status change.</a:t>
            </a:r>
          </a:p>
        </p:txBody>
      </p:sp>
      <p:grpSp>
        <p:nvGrpSpPr>
          <p:cNvPr id="21" name="Group 20">
            <a:extLst>
              <a:ext uri="{FF2B5EF4-FFF2-40B4-BE49-F238E27FC236}">
                <a16:creationId xmlns:a16="http://schemas.microsoft.com/office/drawing/2014/main" id="{EFC2612A-040C-B5D5-3A9C-B27112387344}"/>
              </a:ext>
            </a:extLst>
          </p:cNvPr>
          <p:cNvGrpSpPr/>
          <p:nvPr/>
        </p:nvGrpSpPr>
        <p:grpSpPr>
          <a:xfrm>
            <a:off x="8313581" y="6031312"/>
            <a:ext cx="3746339" cy="175773"/>
            <a:chOff x="8710914" y="5619465"/>
            <a:chExt cx="3746339" cy="177860"/>
          </a:xfrm>
        </p:grpSpPr>
        <p:sp>
          <p:nvSpPr>
            <p:cNvPr id="11" name="Rectangle 10">
              <a:extLst>
                <a:ext uri="{FF2B5EF4-FFF2-40B4-BE49-F238E27FC236}">
                  <a16:creationId xmlns:a16="http://schemas.microsoft.com/office/drawing/2014/main" id="{6D659C18-692F-7082-860F-D14C72455B8A}"/>
                </a:ext>
              </a:extLst>
            </p:cNvPr>
            <p:cNvSpPr/>
            <p:nvPr/>
          </p:nvSpPr>
          <p:spPr>
            <a:xfrm flipV="1">
              <a:off x="10265780" y="5623543"/>
              <a:ext cx="636607" cy="169656"/>
            </a:xfrm>
            <a:prstGeom prst="rect">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9182C17-C0EC-A473-4149-F001F4AEA716}"/>
                </a:ext>
              </a:extLst>
            </p:cNvPr>
            <p:cNvSpPr/>
            <p:nvPr/>
          </p:nvSpPr>
          <p:spPr>
            <a:xfrm flipV="1">
              <a:off x="11043213" y="5621504"/>
              <a:ext cx="636607" cy="169656"/>
            </a:xfrm>
            <a:prstGeom prst="rect">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E4549FD-A850-325E-23DF-A6179EA77BDB}"/>
                </a:ext>
              </a:extLst>
            </p:cNvPr>
            <p:cNvSpPr/>
            <p:nvPr/>
          </p:nvSpPr>
          <p:spPr>
            <a:xfrm flipV="1">
              <a:off x="11820646" y="5621504"/>
              <a:ext cx="636607" cy="175821"/>
            </a:xfrm>
            <a:prstGeom prst="rect">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732939F-8BA7-E98E-5F51-B309361C4B3A}"/>
                </a:ext>
              </a:extLst>
            </p:cNvPr>
            <p:cNvSpPr/>
            <p:nvPr/>
          </p:nvSpPr>
          <p:spPr>
            <a:xfrm flipV="1">
              <a:off x="8710914" y="5619465"/>
              <a:ext cx="636607" cy="169656"/>
            </a:xfrm>
            <a:prstGeom prst="rect">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D91CED4-467F-1597-20FF-45BBB8B38688}"/>
                </a:ext>
              </a:extLst>
            </p:cNvPr>
            <p:cNvSpPr/>
            <p:nvPr/>
          </p:nvSpPr>
          <p:spPr>
            <a:xfrm flipV="1">
              <a:off x="9488347" y="5621504"/>
              <a:ext cx="636607" cy="169656"/>
            </a:xfrm>
            <a:prstGeom prst="rect">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359817C2-BEDE-3188-2973-0BDC5DEE99D2}"/>
              </a:ext>
            </a:extLst>
          </p:cNvPr>
          <p:cNvSpPr txBox="1"/>
          <p:nvPr/>
        </p:nvSpPr>
        <p:spPr>
          <a:xfrm>
            <a:off x="6361317" y="27030"/>
            <a:ext cx="6096000" cy="276999"/>
          </a:xfrm>
          <a:prstGeom prst="rect">
            <a:avLst/>
          </a:prstGeom>
          <a:noFill/>
        </p:spPr>
        <p:txBody>
          <a:bodyPr wrap="square">
            <a:spAutoFit/>
          </a:bodyPr>
          <a:lstStyle/>
          <a:p>
            <a:r>
              <a:rPr lang="en-US" sz="1200"/>
              <a:t>PERSONALIZED MEAL PLAN RECOMMENDATION SYSTEM  FOR VITAMIN DEFICIENCY</a:t>
            </a:r>
          </a:p>
        </p:txBody>
      </p:sp>
    </p:spTree>
    <p:extLst>
      <p:ext uri="{BB962C8B-B14F-4D97-AF65-F5344CB8AC3E}">
        <p14:creationId xmlns:p14="http://schemas.microsoft.com/office/powerpoint/2010/main" val="1096920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0ECFC-A0CC-1E36-DAE4-700D40B7E2F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84B6E3C-7A4E-A65D-5CA6-FC7CCE37007B}"/>
              </a:ext>
            </a:extLst>
          </p:cNvPr>
          <p:cNvSpPr>
            <a:spLocks noGrp="1"/>
          </p:cNvSpPr>
          <p:nvPr>
            <p:ph idx="1"/>
          </p:nvPr>
        </p:nvSpPr>
        <p:spPr>
          <a:xfrm>
            <a:off x="198617" y="792056"/>
            <a:ext cx="11684000" cy="5562600"/>
          </a:xfrm>
        </p:spPr>
        <p:txBody>
          <a:bodyPr>
            <a:normAutofit/>
          </a:bodyPr>
          <a:lstStyle/>
          <a:p>
            <a:pPr marL="0" indent="0" algn="just">
              <a:buNone/>
            </a:pPr>
            <a:endParaRPr lang="en-US" sz="2300"/>
          </a:p>
          <a:p>
            <a:pPr marL="0" indent="0">
              <a:buNone/>
            </a:pPr>
            <a:endParaRPr lang="en-US" sz="2400"/>
          </a:p>
          <a:p>
            <a:pPr marL="0" indent="0">
              <a:buNone/>
            </a:pPr>
            <a:endParaRPr lang="en-US" sz="2400"/>
          </a:p>
        </p:txBody>
      </p:sp>
      <p:sp>
        <p:nvSpPr>
          <p:cNvPr id="2" name="Rectangle 1">
            <a:extLst>
              <a:ext uri="{FF2B5EF4-FFF2-40B4-BE49-F238E27FC236}">
                <a16:creationId xmlns:a16="http://schemas.microsoft.com/office/drawing/2014/main" id="{29D603DE-836A-3B99-EA74-90D39A45CE12}"/>
              </a:ext>
            </a:extLst>
          </p:cNvPr>
          <p:cNvSpPr/>
          <p:nvPr/>
        </p:nvSpPr>
        <p:spPr>
          <a:xfrm>
            <a:off x="2632435" y="6492874"/>
            <a:ext cx="6816365" cy="3651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IT22561084</a:t>
            </a:r>
            <a:r>
              <a:rPr lang="en-US" sz="1800">
                <a:solidFill>
                  <a:schemeClr val="tx1"/>
                </a:solidFill>
              </a:rPr>
              <a:t>   |   </a:t>
            </a:r>
            <a:r>
              <a:rPr lang="en-US" b="1">
                <a:solidFill>
                  <a:schemeClr val="tx1"/>
                </a:solidFill>
              </a:rPr>
              <a:t>Jeesara K.G.N</a:t>
            </a:r>
            <a:r>
              <a:rPr lang="en-US" sz="1800" b="1">
                <a:solidFill>
                  <a:schemeClr val="tx1"/>
                </a:solidFill>
              </a:rPr>
              <a:t>   </a:t>
            </a:r>
            <a:r>
              <a:rPr lang="en-US" sz="1800">
                <a:solidFill>
                  <a:schemeClr val="tx1"/>
                </a:solidFill>
              </a:rPr>
              <a:t>|   </a:t>
            </a:r>
            <a:r>
              <a:rPr lang="en-US">
                <a:solidFill>
                  <a:schemeClr val="tx1"/>
                </a:solidFill>
              </a:rPr>
              <a:t>25-26J-368</a:t>
            </a:r>
            <a:endParaRPr lang="en-US" sz="1800">
              <a:solidFill>
                <a:schemeClr val="tx1"/>
              </a:solidFill>
            </a:endParaRPr>
          </a:p>
        </p:txBody>
      </p:sp>
      <p:sp>
        <p:nvSpPr>
          <p:cNvPr id="11" name="Title 10">
            <a:extLst>
              <a:ext uri="{FF2B5EF4-FFF2-40B4-BE49-F238E27FC236}">
                <a16:creationId xmlns:a16="http://schemas.microsoft.com/office/drawing/2014/main" id="{9F57FCD9-E597-DBD1-804C-7A5139DB882C}"/>
              </a:ext>
            </a:extLst>
          </p:cNvPr>
          <p:cNvSpPr>
            <a:spLocks noGrp="1"/>
          </p:cNvSpPr>
          <p:nvPr>
            <p:ph type="title"/>
          </p:nvPr>
        </p:nvSpPr>
        <p:spPr>
          <a:xfrm>
            <a:off x="304800" y="304800"/>
            <a:ext cx="3484880" cy="792162"/>
          </a:xfrm>
        </p:spPr>
        <p:txBody>
          <a:bodyPr/>
          <a:lstStyle/>
          <a:p>
            <a:pPr algn="l"/>
            <a:r>
              <a:rPr lang="en-US">
                <a:solidFill>
                  <a:schemeClr val="accent1">
                    <a:lumMod val="50000"/>
                  </a:schemeClr>
                </a:solidFill>
              </a:rPr>
              <a:t>Research Gap</a:t>
            </a:r>
          </a:p>
        </p:txBody>
      </p:sp>
      <p:graphicFrame>
        <p:nvGraphicFramePr>
          <p:cNvPr id="13" name="Table 12">
            <a:extLst>
              <a:ext uri="{FF2B5EF4-FFF2-40B4-BE49-F238E27FC236}">
                <a16:creationId xmlns:a16="http://schemas.microsoft.com/office/drawing/2014/main" id="{8AD627F2-B6E0-6048-5739-FA606F0F9ACC}"/>
              </a:ext>
            </a:extLst>
          </p:cNvPr>
          <p:cNvGraphicFramePr>
            <a:graphicFrameLocks noGrp="1"/>
          </p:cNvGraphicFramePr>
          <p:nvPr>
            <p:extLst>
              <p:ext uri="{D42A27DB-BD31-4B8C-83A1-F6EECF244321}">
                <p14:modId xmlns:p14="http://schemas.microsoft.com/office/powerpoint/2010/main" val="3726839759"/>
              </p:ext>
            </p:extLst>
          </p:nvPr>
        </p:nvGraphicFramePr>
        <p:xfrm>
          <a:off x="721360" y="1107441"/>
          <a:ext cx="11165839" cy="4931831"/>
        </p:xfrm>
        <a:graphic>
          <a:graphicData uri="http://schemas.openxmlformats.org/drawingml/2006/table">
            <a:tbl>
              <a:tblPr firstRow="1" bandRow="1">
                <a:tableStyleId>{5C22544A-7EE6-4342-B048-85BDC9FD1C3A}</a:tableStyleId>
              </a:tblPr>
              <a:tblGrid>
                <a:gridCol w="3789680">
                  <a:extLst>
                    <a:ext uri="{9D8B030D-6E8A-4147-A177-3AD203B41FA5}">
                      <a16:colId xmlns:a16="http://schemas.microsoft.com/office/drawing/2014/main" val="3989021074"/>
                    </a:ext>
                  </a:extLst>
                </a:gridCol>
                <a:gridCol w="1534160">
                  <a:extLst>
                    <a:ext uri="{9D8B030D-6E8A-4147-A177-3AD203B41FA5}">
                      <a16:colId xmlns:a16="http://schemas.microsoft.com/office/drawing/2014/main" val="582871959"/>
                    </a:ext>
                  </a:extLst>
                </a:gridCol>
                <a:gridCol w="1534160">
                  <a:extLst>
                    <a:ext uri="{9D8B030D-6E8A-4147-A177-3AD203B41FA5}">
                      <a16:colId xmlns:a16="http://schemas.microsoft.com/office/drawing/2014/main" val="3960620792"/>
                    </a:ext>
                  </a:extLst>
                </a:gridCol>
                <a:gridCol w="1544320">
                  <a:extLst>
                    <a:ext uri="{9D8B030D-6E8A-4147-A177-3AD203B41FA5}">
                      <a16:colId xmlns:a16="http://schemas.microsoft.com/office/drawing/2014/main" val="1668099551"/>
                    </a:ext>
                  </a:extLst>
                </a:gridCol>
                <a:gridCol w="1402080">
                  <a:extLst>
                    <a:ext uri="{9D8B030D-6E8A-4147-A177-3AD203B41FA5}">
                      <a16:colId xmlns:a16="http://schemas.microsoft.com/office/drawing/2014/main" val="3562540510"/>
                    </a:ext>
                  </a:extLst>
                </a:gridCol>
                <a:gridCol w="1361439">
                  <a:extLst>
                    <a:ext uri="{9D8B030D-6E8A-4147-A177-3AD203B41FA5}">
                      <a16:colId xmlns:a16="http://schemas.microsoft.com/office/drawing/2014/main" val="2020776265"/>
                    </a:ext>
                  </a:extLst>
                </a:gridCol>
              </a:tblGrid>
              <a:tr h="589279">
                <a:tc>
                  <a:txBody>
                    <a:bodyPr/>
                    <a:lstStyle/>
                    <a:p>
                      <a:r>
                        <a:rPr lang="en-US"/>
                        <a:t>Features</a:t>
                      </a:r>
                    </a:p>
                  </a:txBody>
                  <a:tcPr/>
                </a:tc>
                <a:tc>
                  <a:txBody>
                    <a:bodyPr/>
                    <a:lstStyle/>
                    <a:p>
                      <a:r>
                        <a:rPr lang="en-US"/>
                        <a:t>Research 1</a:t>
                      </a:r>
                    </a:p>
                  </a:txBody>
                  <a:tcPr/>
                </a:tc>
                <a:tc>
                  <a:txBody>
                    <a:bodyPr/>
                    <a:lstStyle/>
                    <a:p>
                      <a:r>
                        <a:rPr lang="en-US"/>
                        <a:t>Research 2</a:t>
                      </a:r>
                    </a:p>
                  </a:txBody>
                  <a:tcPr/>
                </a:tc>
                <a:tc>
                  <a:txBody>
                    <a:bodyPr/>
                    <a:lstStyle/>
                    <a:p>
                      <a:r>
                        <a:rPr lang="en-US"/>
                        <a:t>Research 3</a:t>
                      </a:r>
                    </a:p>
                  </a:txBody>
                  <a:tcPr/>
                </a:tc>
                <a:tc>
                  <a:txBody>
                    <a:bodyPr/>
                    <a:lstStyle/>
                    <a:p>
                      <a:r>
                        <a:rPr lang="en-US"/>
                        <a:t>Research 4</a:t>
                      </a:r>
                    </a:p>
                  </a:txBody>
                  <a:tcPr/>
                </a:tc>
                <a:tc>
                  <a:txBody>
                    <a:bodyPr/>
                    <a:lstStyle/>
                    <a:p>
                      <a:r>
                        <a:rPr lang="en-US"/>
                        <a:t>Proposed</a:t>
                      </a:r>
                    </a:p>
                  </a:txBody>
                  <a:tcPr/>
                </a:tc>
                <a:extLst>
                  <a:ext uri="{0D108BD9-81ED-4DB2-BD59-A6C34878D82A}">
                    <a16:rowId xmlns:a16="http://schemas.microsoft.com/office/drawing/2014/main" val="2452807350"/>
                  </a:ext>
                </a:extLst>
              </a:tr>
              <a:tr h="761999">
                <a:tc>
                  <a:txBody>
                    <a:bodyPr/>
                    <a:lstStyle/>
                    <a:p>
                      <a:pPr algn="l"/>
                      <a:r>
                        <a:rPr lang="en-US"/>
                        <a:t>Integration of deficiency detection and dietary intervention</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0427758"/>
                  </a:ext>
                </a:extLst>
              </a:tr>
              <a:tr h="8373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effectLst/>
                        </a:rPr>
                        <a:t>Incorporation of patient-specific factors (e.g., age, BMI, drug profile, dietary preferences)</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518320371"/>
                  </a:ext>
                </a:extLst>
              </a:tr>
              <a:tr h="8373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effectLst/>
                        </a:rPr>
                        <a:t>Targeted management of vitamin deficiencies caused by polypharmacy</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316033989"/>
                  </a:ext>
                </a:extLst>
              </a:tr>
              <a:tr h="8373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effectLst/>
                        </a:rPr>
                        <a:t>Adaptability and dynamic updates to meal plans based on changes in drug regimens or health status</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354155906"/>
                  </a:ext>
                </a:extLst>
              </a:tr>
              <a:tr h="837353">
                <a:tc>
                  <a:txBody>
                    <a:bodyPr/>
                    <a:lstStyle/>
                    <a:p>
                      <a:r>
                        <a:rPr lang="en-US"/>
                        <a:t>Consideration of drug-nutrient and nutrient-nutrient interactions</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71053339"/>
                  </a:ext>
                </a:extLst>
              </a:tr>
            </a:tbl>
          </a:graphicData>
        </a:graphic>
      </p:graphicFrame>
      <p:pic>
        <p:nvPicPr>
          <p:cNvPr id="14" name="Graphic 13" descr="Badge Cross with solid fill">
            <a:extLst>
              <a:ext uri="{FF2B5EF4-FFF2-40B4-BE49-F238E27FC236}">
                <a16:creationId xmlns:a16="http://schemas.microsoft.com/office/drawing/2014/main" id="{9B021753-9BE4-590F-5888-3B1D0A9B87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48800" y="4487561"/>
            <a:ext cx="611741" cy="611741"/>
          </a:xfrm>
          <a:prstGeom prst="rect">
            <a:avLst/>
          </a:prstGeom>
        </p:spPr>
      </p:pic>
      <p:pic>
        <p:nvPicPr>
          <p:cNvPr id="15" name="Graphic 14" descr="Badge Tick1 with solid fill">
            <a:extLst>
              <a:ext uri="{FF2B5EF4-FFF2-40B4-BE49-F238E27FC236}">
                <a16:creationId xmlns:a16="http://schemas.microsoft.com/office/drawing/2014/main" id="{2CE3EEE1-0381-CBCD-3A42-487BEACCDBA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2587" y="1758700"/>
            <a:ext cx="611741" cy="611741"/>
          </a:xfrm>
          <a:prstGeom prst="rect">
            <a:avLst/>
          </a:prstGeom>
        </p:spPr>
      </p:pic>
      <p:pic>
        <p:nvPicPr>
          <p:cNvPr id="16" name="Graphic 15" descr="Badge Tick1 with solid fill">
            <a:extLst>
              <a:ext uri="{FF2B5EF4-FFF2-40B4-BE49-F238E27FC236}">
                <a16:creationId xmlns:a16="http://schemas.microsoft.com/office/drawing/2014/main" id="{7B5686E5-D84D-B00B-1B3E-353B47B03A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2585" y="5341868"/>
            <a:ext cx="611741" cy="611741"/>
          </a:xfrm>
          <a:prstGeom prst="rect">
            <a:avLst/>
          </a:prstGeom>
        </p:spPr>
      </p:pic>
      <p:pic>
        <p:nvPicPr>
          <p:cNvPr id="17" name="Graphic 16" descr="Badge Tick1 with solid fill">
            <a:extLst>
              <a:ext uri="{FF2B5EF4-FFF2-40B4-BE49-F238E27FC236}">
                <a16:creationId xmlns:a16="http://schemas.microsoft.com/office/drawing/2014/main" id="{47C2A2D0-D6EC-EBC1-721A-7F0319EBC1E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2585" y="4454338"/>
            <a:ext cx="611741" cy="611741"/>
          </a:xfrm>
          <a:prstGeom prst="rect">
            <a:avLst/>
          </a:prstGeom>
        </p:spPr>
      </p:pic>
      <p:pic>
        <p:nvPicPr>
          <p:cNvPr id="18" name="Graphic 17" descr="Badge Tick1 with solid fill">
            <a:extLst>
              <a:ext uri="{FF2B5EF4-FFF2-40B4-BE49-F238E27FC236}">
                <a16:creationId xmlns:a16="http://schemas.microsoft.com/office/drawing/2014/main" id="{E3980881-2126-85B2-FB49-80532E269FA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2586" y="3566808"/>
            <a:ext cx="611741" cy="611741"/>
          </a:xfrm>
          <a:prstGeom prst="rect">
            <a:avLst/>
          </a:prstGeom>
        </p:spPr>
      </p:pic>
      <p:pic>
        <p:nvPicPr>
          <p:cNvPr id="19" name="Graphic 18" descr="Badge Tick1 with solid fill">
            <a:extLst>
              <a:ext uri="{FF2B5EF4-FFF2-40B4-BE49-F238E27FC236}">
                <a16:creationId xmlns:a16="http://schemas.microsoft.com/office/drawing/2014/main" id="{9ABE9F5F-9D77-9FD4-B149-F22A50CE904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2587" y="2639682"/>
            <a:ext cx="611741" cy="611741"/>
          </a:xfrm>
          <a:prstGeom prst="rect">
            <a:avLst/>
          </a:prstGeom>
        </p:spPr>
      </p:pic>
      <p:pic>
        <p:nvPicPr>
          <p:cNvPr id="20" name="Graphic 19" descr="Badge Cross with solid fill">
            <a:extLst>
              <a:ext uri="{FF2B5EF4-FFF2-40B4-BE49-F238E27FC236}">
                <a16:creationId xmlns:a16="http://schemas.microsoft.com/office/drawing/2014/main" id="{6D639C93-8ED3-2FA4-B98A-9E04FB4306D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4456" y="2637115"/>
            <a:ext cx="611741" cy="611741"/>
          </a:xfrm>
          <a:prstGeom prst="rect">
            <a:avLst/>
          </a:prstGeom>
        </p:spPr>
      </p:pic>
      <p:pic>
        <p:nvPicPr>
          <p:cNvPr id="21" name="Graphic 20" descr="Badge Cross with solid fill">
            <a:extLst>
              <a:ext uri="{FF2B5EF4-FFF2-40B4-BE49-F238E27FC236}">
                <a16:creationId xmlns:a16="http://schemas.microsoft.com/office/drawing/2014/main" id="{32A25E5F-D2C1-F700-80BB-16337DEDC2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06140" y="1758699"/>
            <a:ext cx="611741" cy="611741"/>
          </a:xfrm>
          <a:prstGeom prst="rect">
            <a:avLst/>
          </a:prstGeom>
        </p:spPr>
      </p:pic>
      <p:pic>
        <p:nvPicPr>
          <p:cNvPr id="22" name="Graphic 21" descr="Badge Cross with solid fill">
            <a:extLst>
              <a:ext uri="{FF2B5EF4-FFF2-40B4-BE49-F238E27FC236}">
                <a16:creationId xmlns:a16="http://schemas.microsoft.com/office/drawing/2014/main" id="{B7DD6983-E0D0-0E7A-21A8-78DF99015DC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48800" y="1758699"/>
            <a:ext cx="611741" cy="611741"/>
          </a:xfrm>
          <a:prstGeom prst="rect">
            <a:avLst/>
          </a:prstGeom>
        </p:spPr>
      </p:pic>
      <p:pic>
        <p:nvPicPr>
          <p:cNvPr id="23" name="Graphic 22" descr="Badge Cross with solid fill">
            <a:extLst>
              <a:ext uri="{FF2B5EF4-FFF2-40B4-BE49-F238E27FC236}">
                <a16:creationId xmlns:a16="http://schemas.microsoft.com/office/drawing/2014/main" id="{41287BBB-5601-81FC-4B2C-5BA6080CF0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4456" y="3566808"/>
            <a:ext cx="611741" cy="611741"/>
          </a:xfrm>
          <a:prstGeom prst="rect">
            <a:avLst/>
          </a:prstGeom>
        </p:spPr>
      </p:pic>
      <p:pic>
        <p:nvPicPr>
          <p:cNvPr id="24" name="Graphic 23" descr="Badge Cross with solid fill">
            <a:extLst>
              <a:ext uri="{FF2B5EF4-FFF2-40B4-BE49-F238E27FC236}">
                <a16:creationId xmlns:a16="http://schemas.microsoft.com/office/drawing/2014/main" id="{94FD4A34-B7A0-4C6E-5031-7950F5968F0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60958" y="2637114"/>
            <a:ext cx="611741" cy="611741"/>
          </a:xfrm>
          <a:prstGeom prst="rect">
            <a:avLst/>
          </a:prstGeom>
        </p:spPr>
      </p:pic>
      <p:pic>
        <p:nvPicPr>
          <p:cNvPr id="25" name="Graphic 24" descr="Badge Cross with solid fill">
            <a:extLst>
              <a:ext uri="{FF2B5EF4-FFF2-40B4-BE49-F238E27FC236}">
                <a16:creationId xmlns:a16="http://schemas.microsoft.com/office/drawing/2014/main" id="{0947F0C8-D8AF-245F-4134-D0A7CC7374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06139" y="2637113"/>
            <a:ext cx="611741" cy="611741"/>
          </a:xfrm>
          <a:prstGeom prst="rect">
            <a:avLst/>
          </a:prstGeom>
        </p:spPr>
      </p:pic>
      <p:pic>
        <p:nvPicPr>
          <p:cNvPr id="26" name="Graphic 25" descr="Badge Cross with solid fill">
            <a:extLst>
              <a:ext uri="{FF2B5EF4-FFF2-40B4-BE49-F238E27FC236}">
                <a16:creationId xmlns:a16="http://schemas.microsoft.com/office/drawing/2014/main" id="{5366923D-1203-70A4-0381-1170A1E68A2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3385" y="1781746"/>
            <a:ext cx="611741" cy="611741"/>
          </a:xfrm>
          <a:prstGeom prst="rect">
            <a:avLst/>
          </a:prstGeom>
        </p:spPr>
      </p:pic>
      <p:pic>
        <p:nvPicPr>
          <p:cNvPr id="27" name="Graphic 26" descr="Badge Cross with solid fill">
            <a:extLst>
              <a:ext uri="{FF2B5EF4-FFF2-40B4-BE49-F238E27FC236}">
                <a16:creationId xmlns:a16="http://schemas.microsoft.com/office/drawing/2014/main" id="{68BD8EAF-6386-1428-AEC6-03891A395C6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06139" y="4454337"/>
            <a:ext cx="611741" cy="611741"/>
          </a:xfrm>
          <a:prstGeom prst="rect">
            <a:avLst/>
          </a:prstGeom>
        </p:spPr>
      </p:pic>
      <p:pic>
        <p:nvPicPr>
          <p:cNvPr id="28" name="Graphic 27" descr="Badge Cross with solid fill">
            <a:extLst>
              <a:ext uri="{FF2B5EF4-FFF2-40B4-BE49-F238E27FC236}">
                <a16:creationId xmlns:a16="http://schemas.microsoft.com/office/drawing/2014/main" id="{E348F65E-A225-EBC8-37B4-6379E798EC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60957" y="4454336"/>
            <a:ext cx="611741" cy="611741"/>
          </a:xfrm>
          <a:prstGeom prst="rect">
            <a:avLst/>
          </a:prstGeom>
        </p:spPr>
      </p:pic>
      <p:pic>
        <p:nvPicPr>
          <p:cNvPr id="29" name="Graphic 28" descr="Badge Cross with solid fill">
            <a:extLst>
              <a:ext uri="{FF2B5EF4-FFF2-40B4-BE49-F238E27FC236}">
                <a16:creationId xmlns:a16="http://schemas.microsoft.com/office/drawing/2014/main" id="{C66659ED-BD03-4FF1-CF18-7443C679972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48800" y="3564239"/>
            <a:ext cx="611741" cy="611741"/>
          </a:xfrm>
          <a:prstGeom prst="rect">
            <a:avLst/>
          </a:prstGeom>
        </p:spPr>
      </p:pic>
      <p:pic>
        <p:nvPicPr>
          <p:cNvPr id="30" name="Graphic 29" descr="Badge Cross with solid fill">
            <a:extLst>
              <a:ext uri="{FF2B5EF4-FFF2-40B4-BE49-F238E27FC236}">
                <a16:creationId xmlns:a16="http://schemas.microsoft.com/office/drawing/2014/main" id="{E634564C-C0EA-FCA2-681E-57CC9462726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3385" y="4454337"/>
            <a:ext cx="611741" cy="611741"/>
          </a:xfrm>
          <a:prstGeom prst="rect">
            <a:avLst/>
          </a:prstGeom>
        </p:spPr>
      </p:pic>
      <p:pic>
        <p:nvPicPr>
          <p:cNvPr id="31" name="Graphic 30" descr="Badge Cross with solid fill">
            <a:extLst>
              <a:ext uri="{FF2B5EF4-FFF2-40B4-BE49-F238E27FC236}">
                <a16:creationId xmlns:a16="http://schemas.microsoft.com/office/drawing/2014/main" id="{F6671B88-2C5A-D33A-8FCB-94967CF7000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60957" y="3564240"/>
            <a:ext cx="611741" cy="611741"/>
          </a:xfrm>
          <a:prstGeom prst="rect">
            <a:avLst/>
          </a:prstGeom>
        </p:spPr>
      </p:pic>
      <p:pic>
        <p:nvPicPr>
          <p:cNvPr id="32" name="Graphic 31" descr="Badge Cross with solid fill">
            <a:extLst>
              <a:ext uri="{FF2B5EF4-FFF2-40B4-BE49-F238E27FC236}">
                <a16:creationId xmlns:a16="http://schemas.microsoft.com/office/drawing/2014/main" id="{2F050935-A4DC-820E-F2FD-256213ED1C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06139" y="3566808"/>
            <a:ext cx="611741" cy="611741"/>
          </a:xfrm>
          <a:prstGeom prst="rect">
            <a:avLst/>
          </a:prstGeom>
        </p:spPr>
      </p:pic>
      <p:pic>
        <p:nvPicPr>
          <p:cNvPr id="33" name="Graphic 32" descr="Badge Cross with solid fill">
            <a:extLst>
              <a:ext uri="{FF2B5EF4-FFF2-40B4-BE49-F238E27FC236}">
                <a16:creationId xmlns:a16="http://schemas.microsoft.com/office/drawing/2014/main" id="{0F7622E5-7EDF-7371-7132-FB669FB329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48800" y="5341865"/>
            <a:ext cx="611741" cy="611741"/>
          </a:xfrm>
          <a:prstGeom prst="rect">
            <a:avLst/>
          </a:prstGeom>
        </p:spPr>
      </p:pic>
      <p:pic>
        <p:nvPicPr>
          <p:cNvPr id="34" name="Graphic 33" descr="Badge Cross with solid fill">
            <a:extLst>
              <a:ext uri="{FF2B5EF4-FFF2-40B4-BE49-F238E27FC236}">
                <a16:creationId xmlns:a16="http://schemas.microsoft.com/office/drawing/2014/main" id="{96EE7ABF-B72F-0CCA-19C0-A68A3A1D53D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3385" y="5341868"/>
            <a:ext cx="611741" cy="611741"/>
          </a:xfrm>
          <a:prstGeom prst="rect">
            <a:avLst/>
          </a:prstGeom>
        </p:spPr>
      </p:pic>
      <p:pic>
        <p:nvPicPr>
          <p:cNvPr id="35" name="Graphic 34" descr="Badge Cross with solid fill">
            <a:extLst>
              <a:ext uri="{FF2B5EF4-FFF2-40B4-BE49-F238E27FC236}">
                <a16:creationId xmlns:a16="http://schemas.microsoft.com/office/drawing/2014/main" id="{6C7B1B8A-9F9E-C2CB-C680-39645D1A9D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06139" y="5341866"/>
            <a:ext cx="611741" cy="611741"/>
          </a:xfrm>
          <a:prstGeom prst="rect">
            <a:avLst/>
          </a:prstGeom>
        </p:spPr>
      </p:pic>
      <p:pic>
        <p:nvPicPr>
          <p:cNvPr id="36" name="Graphic 35" descr="Badge Tick1 with solid fill">
            <a:extLst>
              <a:ext uri="{FF2B5EF4-FFF2-40B4-BE49-F238E27FC236}">
                <a16:creationId xmlns:a16="http://schemas.microsoft.com/office/drawing/2014/main" id="{7AAF254A-4192-BF25-5DD3-3B5D23B7071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60955" y="5341865"/>
            <a:ext cx="611741" cy="611741"/>
          </a:xfrm>
          <a:prstGeom prst="rect">
            <a:avLst/>
          </a:prstGeom>
        </p:spPr>
      </p:pic>
      <p:pic>
        <p:nvPicPr>
          <p:cNvPr id="37" name="Graphic 36" descr="Badge Tick1 with solid fill">
            <a:extLst>
              <a:ext uri="{FF2B5EF4-FFF2-40B4-BE49-F238E27FC236}">
                <a16:creationId xmlns:a16="http://schemas.microsoft.com/office/drawing/2014/main" id="{CD05C36A-C86D-0BD9-B6BD-0955F25B108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8800" y="2637112"/>
            <a:ext cx="611741" cy="611741"/>
          </a:xfrm>
          <a:prstGeom prst="rect">
            <a:avLst/>
          </a:prstGeom>
        </p:spPr>
      </p:pic>
      <p:pic>
        <p:nvPicPr>
          <p:cNvPr id="38" name="Graphic 37" descr="Badge Tick1 with solid fill">
            <a:extLst>
              <a:ext uri="{FF2B5EF4-FFF2-40B4-BE49-F238E27FC236}">
                <a16:creationId xmlns:a16="http://schemas.microsoft.com/office/drawing/2014/main" id="{C3471450-836D-386F-1614-4B4D59E1586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60956" y="1758699"/>
            <a:ext cx="611741" cy="611741"/>
          </a:xfrm>
          <a:prstGeom prst="rect">
            <a:avLst/>
          </a:prstGeom>
        </p:spPr>
      </p:pic>
      <p:sp>
        <p:nvSpPr>
          <p:cNvPr id="39" name="TextBox 38">
            <a:extLst>
              <a:ext uri="{FF2B5EF4-FFF2-40B4-BE49-F238E27FC236}">
                <a16:creationId xmlns:a16="http://schemas.microsoft.com/office/drawing/2014/main" id="{3A72524F-0F74-1ED1-70B0-F5CBF7B47403}"/>
              </a:ext>
            </a:extLst>
          </p:cNvPr>
          <p:cNvSpPr txBox="1"/>
          <p:nvPr/>
        </p:nvSpPr>
        <p:spPr>
          <a:xfrm>
            <a:off x="6361317" y="27030"/>
            <a:ext cx="6096000" cy="276999"/>
          </a:xfrm>
          <a:prstGeom prst="rect">
            <a:avLst/>
          </a:prstGeom>
          <a:noFill/>
        </p:spPr>
        <p:txBody>
          <a:bodyPr wrap="square">
            <a:spAutoFit/>
          </a:bodyPr>
          <a:lstStyle/>
          <a:p>
            <a:r>
              <a:rPr lang="en-US" sz="1200"/>
              <a:t>PERSONALIZED MEAL PLAN RECOMMENDATION SYSTEM  FOR VITAMIN DEFICIENCY</a:t>
            </a:r>
          </a:p>
        </p:txBody>
      </p:sp>
    </p:spTree>
    <p:extLst>
      <p:ext uri="{BB962C8B-B14F-4D97-AF65-F5344CB8AC3E}">
        <p14:creationId xmlns:p14="http://schemas.microsoft.com/office/powerpoint/2010/main" val="2447550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1C944-94D7-ECBF-595F-3E5238C70C09}"/>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84476E-AFF4-B86D-1171-4A6F94D34614}"/>
              </a:ext>
            </a:extLst>
          </p:cNvPr>
          <p:cNvSpPr>
            <a:spLocks noGrp="1"/>
          </p:cNvSpPr>
          <p:nvPr>
            <p:ph idx="1"/>
          </p:nvPr>
        </p:nvSpPr>
        <p:spPr>
          <a:xfrm>
            <a:off x="198617" y="792056"/>
            <a:ext cx="11684000" cy="5562600"/>
          </a:xfrm>
        </p:spPr>
        <p:txBody>
          <a:bodyPr>
            <a:normAutofit/>
          </a:bodyPr>
          <a:lstStyle/>
          <a:p>
            <a:pPr marL="0" indent="0" algn="just">
              <a:buNone/>
            </a:pPr>
            <a:endParaRPr lang="en-US" sz="2300"/>
          </a:p>
          <a:p>
            <a:pPr marL="0" indent="0">
              <a:buNone/>
            </a:pPr>
            <a:endParaRPr lang="en-US" sz="2400"/>
          </a:p>
          <a:p>
            <a:pPr marL="0" indent="0">
              <a:buNone/>
            </a:pPr>
            <a:endParaRPr lang="en-US" sz="2400"/>
          </a:p>
        </p:txBody>
      </p:sp>
      <p:sp>
        <p:nvSpPr>
          <p:cNvPr id="2" name="Rectangle 1">
            <a:extLst>
              <a:ext uri="{FF2B5EF4-FFF2-40B4-BE49-F238E27FC236}">
                <a16:creationId xmlns:a16="http://schemas.microsoft.com/office/drawing/2014/main" id="{63332FA3-AAB6-9659-CD43-BD8686FFD989}"/>
              </a:ext>
            </a:extLst>
          </p:cNvPr>
          <p:cNvSpPr/>
          <p:nvPr/>
        </p:nvSpPr>
        <p:spPr>
          <a:xfrm>
            <a:off x="2632435" y="6492874"/>
            <a:ext cx="6816365" cy="3651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IT22561084</a:t>
            </a:r>
            <a:r>
              <a:rPr lang="en-US" sz="1800">
                <a:solidFill>
                  <a:schemeClr val="tx1"/>
                </a:solidFill>
              </a:rPr>
              <a:t>   |   </a:t>
            </a:r>
            <a:r>
              <a:rPr lang="en-US" b="1">
                <a:solidFill>
                  <a:schemeClr val="tx1"/>
                </a:solidFill>
              </a:rPr>
              <a:t>Jeesara K.G.N</a:t>
            </a:r>
            <a:r>
              <a:rPr lang="en-US" sz="1800" b="1">
                <a:solidFill>
                  <a:schemeClr val="tx1"/>
                </a:solidFill>
              </a:rPr>
              <a:t>   </a:t>
            </a:r>
            <a:r>
              <a:rPr lang="en-US" sz="1800">
                <a:solidFill>
                  <a:schemeClr val="tx1"/>
                </a:solidFill>
              </a:rPr>
              <a:t>|   </a:t>
            </a:r>
            <a:r>
              <a:rPr lang="en-US">
                <a:solidFill>
                  <a:schemeClr val="tx1"/>
                </a:solidFill>
              </a:rPr>
              <a:t>25-26J-368</a:t>
            </a:r>
            <a:endParaRPr lang="en-US" sz="1800">
              <a:solidFill>
                <a:schemeClr val="tx1"/>
              </a:solidFill>
            </a:endParaRPr>
          </a:p>
        </p:txBody>
      </p:sp>
      <p:sp>
        <p:nvSpPr>
          <p:cNvPr id="11" name="Title 10">
            <a:extLst>
              <a:ext uri="{FF2B5EF4-FFF2-40B4-BE49-F238E27FC236}">
                <a16:creationId xmlns:a16="http://schemas.microsoft.com/office/drawing/2014/main" id="{8971BC9B-A3A0-9A36-F229-4149000AFEBF}"/>
              </a:ext>
            </a:extLst>
          </p:cNvPr>
          <p:cNvSpPr>
            <a:spLocks noGrp="1"/>
          </p:cNvSpPr>
          <p:nvPr>
            <p:ph type="title"/>
          </p:nvPr>
        </p:nvSpPr>
        <p:spPr>
          <a:xfrm>
            <a:off x="309383" y="0"/>
            <a:ext cx="6370320" cy="792162"/>
          </a:xfrm>
        </p:spPr>
        <p:txBody>
          <a:bodyPr>
            <a:normAutofit fontScale="90000"/>
          </a:bodyPr>
          <a:lstStyle/>
          <a:p>
            <a:r>
              <a:rPr lang="en-US">
                <a:solidFill>
                  <a:schemeClr val="accent1">
                    <a:lumMod val="50000"/>
                  </a:schemeClr>
                </a:solidFill>
                <a:latin typeface="+mn-lt"/>
              </a:rPr>
              <a:t>Overview of Shortcomings</a:t>
            </a:r>
            <a:endParaRPr lang="en-US">
              <a:solidFill>
                <a:schemeClr val="accent1">
                  <a:lumMod val="50000"/>
                </a:schemeClr>
              </a:solidFill>
              <a:effectLst/>
              <a:latin typeface="+mn-lt"/>
            </a:endParaRPr>
          </a:p>
        </p:txBody>
      </p:sp>
      <p:sp>
        <p:nvSpPr>
          <p:cNvPr id="3" name="Rectangle: Diagonal Corners Rounded 2">
            <a:extLst>
              <a:ext uri="{FF2B5EF4-FFF2-40B4-BE49-F238E27FC236}">
                <a16:creationId xmlns:a16="http://schemas.microsoft.com/office/drawing/2014/main" id="{FDEC605B-FCF8-1E3B-B57A-F4D8C7B2EB8D}"/>
              </a:ext>
            </a:extLst>
          </p:cNvPr>
          <p:cNvSpPr/>
          <p:nvPr/>
        </p:nvSpPr>
        <p:spPr>
          <a:xfrm>
            <a:off x="707118" y="1631355"/>
            <a:ext cx="2239779" cy="1038730"/>
          </a:xfrm>
          <a:prstGeom prst="round2DiagRect">
            <a:avLst>
              <a:gd name="adj1" fmla="val 16667"/>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600"/>
              <a:t>Lack of Integration Between Detection and Intervention</a:t>
            </a:r>
            <a:endParaRPr lang="en-US" sz="1600">
              <a:effectLst/>
            </a:endParaRPr>
          </a:p>
        </p:txBody>
      </p:sp>
      <p:grpSp>
        <p:nvGrpSpPr>
          <p:cNvPr id="48" name="Group 47">
            <a:extLst>
              <a:ext uri="{FF2B5EF4-FFF2-40B4-BE49-F238E27FC236}">
                <a16:creationId xmlns:a16="http://schemas.microsoft.com/office/drawing/2014/main" id="{C503253E-81E2-BAA2-33EA-A42A41398B06}"/>
              </a:ext>
            </a:extLst>
          </p:cNvPr>
          <p:cNvGrpSpPr/>
          <p:nvPr/>
        </p:nvGrpSpPr>
        <p:grpSpPr>
          <a:xfrm>
            <a:off x="4162332" y="1521391"/>
            <a:ext cx="3010031" cy="1221810"/>
            <a:chOff x="4379956" y="1312632"/>
            <a:chExt cx="2914525" cy="1332539"/>
          </a:xfrm>
        </p:grpSpPr>
        <p:sp>
          <p:nvSpPr>
            <p:cNvPr id="42" name="Rectangle: Diagonal Corners Rounded 41">
              <a:extLst>
                <a:ext uri="{FF2B5EF4-FFF2-40B4-BE49-F238E27FC236}">
                  <a16:creationId xmlns:a16="http://schemas.microsoft.com/office/drawing/2014/main" id="{4C165B27-EC04-95E8-86C3-0CFF0A58CFA1}"/>
                </a:ext>
              </a:extLst>
            </p:cNvPr>
            <p:cNvSpPr/>
            <p:nvPr/>
          </p:nvSpPr>
          <p:spPr>
            <a:xfrm>
              <a:off x="4379956" y="1312632"/>
              <a:ext cx="2773680" cy="1332539"/>
            </a:xfrm>
            <a:prstGeom prst="round2DiagRect">
              <a:avLst>
                <a:gd name="adj1" fmla="val 16667"/>
                <a:gd name="adj2" fmla="val 0"/>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400">
                <a:solidFill>
                  <a:schemeClr val="tx1"/>
                </a:solidFill>
                <a:effectLst/>
              </a:endParaRPr>
            </a:p>
          </p:txBody>
        </p:sp>
        <p:sp>
          <p:nvSpPr>
            <p:cNvPr id="43" name="TextBox 42">
              <a:extLst>
                <a:ext uri="{FF2B5EF4-FFF2-40B4-BE49-F238E27FC236}">
                  <a16:creationId xmlns:a16="http://schemas.microsoft.com/office/drawing/2014/main" id="{AD19E405-0621-27C2-3CE6-75273C522B84}"/>
                </a:ext>
              </a:extLst>
            </p:cNvPr>
            <p:cNvSpPr txBox="1"/>
            <p:nvPr/>
          </p:nvSpPr>
          <p:spPr>
            <a:xfrm>
              <a:off x="4379956" y="1365100"/>
              <a:ext cx="2914525" cy="1200329"/>
            </a:xfrm>
            <a:prstGeom prst="rect">
              <a:avLst/>
            </a:prstGeom>
            <a:noFill/>
          </p:spPr>
          <p:txBody>
            <a:bodyPr wrap="square" rtlCol="0">
              <a:spAutoFit/>
            </a:bodyPr>
            <a:lstStyle/>
            <a:p>
              <a:r>
                <a:rPr lang="en-US" sz="1600"/>
                <a:t>AI tools detect deficiencies but lack dietary interventions, leaving patients without solutions</a:t>
              </a:r>
              <a:endParaRPr lang="en-US" sz="1600">
                <a:effectLst/>
              </a:endParaRPr>
            </a:p>
          </p:txBody>
        </p:sp>
      </p:grpSp>
      <p:sp>
        <p:nvSpPr>
          <p:cNvPr id="49" name="Flowchart: Alternate Process 48">
            <a:extLst>
              <a:ext uri="{FF2B5EF4-FFF2-40B4-BE49-F238E27FC236}">
                <a16:creationId xmlns:a16="http://schemas.microsoft.com/office/drawing/2014/main" id="{1829E9F2-028F-37EF-AAD1-F93F265C455E}"/>
              </a:ext>
            </a:extLst>
          </p:cNvPr>
          <p:cNvSpPr/>
          <p:nvPr/>
        </p:nvSpPr>
        <p:spPr>
          <a:xfrm>
            <a:off x="1049767" y="861379"/>
            <a:ext cx="1554480" cy="474057"/>
          </a:xfrm>
          <a:prstGeom prst="flowChartAlternateProcess">
            <a:avLst/>
          </a:prstGeom>
          <a:solidFill>
            <a:srgbClr val="92D050"/>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Research Gap</a:t>
            </a:r>
          </a:p>
        </p:txBody>
      </p:sp>
      <p:sp>
        <p:nvSpPr>
          <p:cNvPr id="51" name="Flowchart: Alternate Process 50">
            <a:extLst>
              <a:ext uri="{FF2B5EF4-FFF2-40B4-BE49-F238E27FC236}">
                <a16:creationId xmlns:a16="http://schemas.microsoft.com/office/drawing/2014/main" id="{139C9A86-0C42-6E05-713C-995021CF7FAF}"/>
              </a:ext>
            </a:extLst>
          </p:cNvPr>
          <p:cNvSpPr/>
          <p:nvPr/>
        </p:nvSpPr>
        <p:spPr>
          <a:xfrm>
            <a:off x="4477080" y="807419"/>
            <a:ext cx="2313389" cy="575754"/>
          </a:xfrm>
          <a:prstGeom prst="flowChartAlternateProcess">
            <a:avLst/>
          </a:prstGeom>
          <a:solidFill>
            <a:srgbClr val="92D050"/>
          </a:solidFill>
          <a:ln>
            <a:solidFill>
              <a:schemeClr val="accent1">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Shortcomings in the Existing System</a:t>
            </a:r>
          </a:p>
        </p:txBody>
      </p:sp>
      <p:sp>
        <p:nvSpPr>
          <p:cNvPr id="52" name="Arrow: Right 51">
            <a:extLst>
              <a:ext uri="{FF2B5EF4-FFF2-40B4-BE49-F238E27FC236}">
                <a16:creationId xmlns:a16="http://schemas.microsoft.com/office/drawing/2014/main" id="{75C59F27-C30F-79B4-37E8-4DD178B4F8D4}"/>
              </a:ext>
            </a:extLst>
          </p:cNvPr>
          <p:cNvSpPr/>
          <p:nvPr/>
        </p:nvSpPr>
        <p:spPr>
          <a:xfrm>
            <a:off x="3162451" y="1867612"/>
            <a:ext cx="849354" cy="4387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lowchart: Alternate Process 52">
            <a:extLst>
              <a:ext uri="{FF2B5EF4-FFF2-40B4-BE49-F238E27FC236}">
                <a16:creationId xmlns:a16="http://schemas.microsoft.com/office/drawing/2014/main" id="{75C212E9-5089-98C9-2383-4414AE32D0EA}"/>
              </a:ext>
            </a:extLst>
          </p:cNvPr>
          <p:cNvSpPr/>
          <p:nvPr/>
        </p:nvSpPr>
        <p:spPr>
          <a:xfrm>
            <a:off x="8722835" y="792056"/>
            <a:ext cx="2235331" cy="494742"/>
          </a:xfrm>
          <a:prstGeom prst="flowChartAlternateProcess">
            <a:avLst/>
          </a:prstGeom>
          <a:solidFill>
            <a:srgbClr val="92D050"/>
          </a:solidFill>
          <a:ln>
            <a:solidFill>
              <a:schemeClr val="accent1">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How to Address it</a:t>
            </a:r>
          </a:p>
        </p:txBody>
      </p:sp>
      <p:grpSp>
        <p:nvGrpSpPr>
          <p:cNvPr id="54" name="Group 53">
            <a:extLst>
              <a:ext uri="{FF2B5EF4-FFF2-40B4-BE49-F238E27FC236}">
                <a16:creationId xmlns:a16="http://schemas.microsoft.com/office/drawing/2014/main" id="{E1C96AC3-FAFF-6EB1-A320-6DB019F29118}"/>
              </a:ext>
            </a:extLst>
          </p:cNvPr>
          <p:cNvGrpSpPr/>
          <p:nvPr/>
        </p:nvGrpSpPr>
        <p:grpSpPr>
          <a:xfrm>
            <a:off x="8180542" y="1460430"/>
            <a:ext cx="3605058" cy="1282771"/>
            <a:chOff x="4379956" y="1312632"/>
            <a:chExt cx="2814468" cy="1351335"/>
          </a:xfrm>
        </p:grpSpPr>
        <p:sp>
          <p:nvSpPr>
            <p:cNvPr id="55" name="Rectangle: Diagonal Corners Rounded 54">
              <a:extLst>
                <a:ext uri="{FF2B5EF4-FFF2-40B4-BE49-F238E27FC236}">
                  <a16:creationId xmlns:a16="http://schemas.microsoft.com/office/drawing/2014/main" id="{93056A3A-D132-BE53-FC6A-1228354A71AD}"/>
                </a:ext>
              </a:extLst>
            </p:cNvPr>
            <p:cNvSpPr/>
            <p:nvPr/>
          </p:nvSpPr>
          <p:spPr>
            <a:xfrm>
              <a:off x="4379956" y="1312632"/>
              <a:ext cx="2773680" cy="1332539"/>
            </a:xfrm>
            <a:prstGeom prst="round2DiagRect">
              <a:avLst>
                <a:gd name="adj1" fmla="val 16667"/>
                <a:gd name="adj2" fmla="val 0"/>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400">
                <a:solidFill>
                  <a:schemeClr val="tx1"/>
                </a:solidFill>
                <a:effectLst/>
              </a:endParaRPr>
            </a:p>
          </p:txBody>
        </p:sp>
        <p:sp>
          <p:nvSpPr>
            <p:cNvPr id="56" name="TextBox 55">
              <a:extLst>
                <a:ext uri="{FF2B5EF4-FFF2-40B4-BE49-F238E27FC236}">
                  <a16:creationId xmlns:a16="http://schemas.microsoft.com/office/drawing/2014/main" id="{06DDD8FC-93F2-93A9-0797-BA15AB4B24A9}"/>
                </a:ext>
              </a:extLst>
            </p:cNvPr>
            <p:cNvSpPr txBox="1"/>
            <p:nvPr/>
          </p:nvSpPr>
          <p:spPr>
            <a:xfrm>
              <a:off x="4545628" y="1340528"/>
              <a:ext cx="2648796" cy="1323439"/>
            </a:xfrm>
            <a:prstGeom prst="rect">
              <a:avLst/>
            </a:prstGeom>
            <a:noFill/>
          </p:spPr>
          <p:txBody>
            <a:bodyPr wrap="square" rtlCol="0">
              <a:spAutoFit/>
            </a:bodyPr>
            <a:lstStyle/>
            <a:p>
              <a:r>
                <a:rPr lang="en-US" sz="1600"/>
                <a:t>Integrates the Early Vitamin Deficiency Warning System with dynamic meal plans, ensuring seamless detection and intervention.</a:t>
              </a:r>
              <a:endParaRPr lang="en-US" sz="1600">
                <a:effectLst/>
              </a:endParaRPr>
            </a:p>
          </p:txBody>
        </p:sp>
      </p:grpSp>
      <p:sp>
        <p:nvSpPr>
          <p:cNvPr id="57" name="Arrow: Right 56">
            <a:extLst>
              <a:ext uri="{FF2B5EF4-FFF2-40B4-BE49-F238E27FC236}">
                <a16:creationId xmlns:a16="http://schemas.microsoft.com/office/drawing/2014/main" id="{32FA70B6-E971-E615-EBA9-F3759026ABFE}"/>
              </a:ext>
            </a:extLst>
          </p:cNvPr>
          <p:cNvSpPr/>
          <p:nvPr/>
        </p:nvSpPr>
        <p:spPr>
          <a:xfrm>
            <a:off x="7185728" y="1894840"/>
            <a:ext cx="849354" cy="38425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Diagonal Corners Rounded 57">
            <a:extLst>
              <a:ext uri="{FF2B5EF4-FFF2-40B4-BE49-F238E27FC236}">
                <a16:creationId xmlns:a16="http://schemas.microsoft.com/office/drawing/2014/main" id="{0759F410-C265-12EF-8136-1EC1C05643BC}"/>
              </a:ext>
            </a:extLst>
          </p:cNvPr>
          <p:cNvSpPr/>
          <p:nvPr/>
        </p:nvSpPr>
        <p:spPr>
          <a:xfrm>
            <a:off x="707119" y="2942791"/>
            <a:ext cx="2239779" cy="1038731"/>
          </a:xfrm>
          <a:prstGeom prst="round2DiagRect">
            <a:avLst>
              <a:gd name="adj1" fmla="val 16667"/>
              <a:gd name="adj2"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600"/>
              <a:t>Insufficient Patient-Specific Diet Recommendations</a:t>
            </a:r>
            <a:endParaRPr lang="en-US" sz="1600">
              <a:effectLst/>
            </a:endParaRPr>
          </a:p>
        </p:txBody>
      </p:sp>
      <p:sp>
        <p:nvSpPr>
          <p:cNvPr id="59" name="Rectangle: Diagonal Corners Rounded 58">
            <a:extLst>
              <a:ext uri="{FF2B5EF4-FFF2-40B4-BE49-F238E27FC236}">
                <a16:creationId xmlns:a16="http://schemas.microsoft.com/office/drawing/2014/main" id="{F2806A76-23CB-4052-4061-A6DF4A9BF4A5}"/>
              </a:ext>
            </a:extLst>
          </p:cNvPr>
          <p:cNvSpPr/>
          <p:nvPr/>
        </p:nvSpPr>
        <p:spPr>
          <a:xfrm>
            <a:off x="707118" y="5318126"/>
            <a:ext cx="2239779" cy="922724"/>
          </a:xfrm>
          <a:prstGeom prst="round2DiagRect">
            <a:avLst>
              <a:gd name="adj1" fmla="val 16667"/>
              <a:gd name="adj2" fmla="val 0"/>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600"/>
              <a:t>Limited Adaptability and Polypharmacy Focus</a:t>
            </a:r>
            <a:endParaRPr lang="en-US" sz="1600">
              <a:effectLst/>
            </a:endParaRPr>
          </a:p>
        </p:txBody>
      </p:sp>
      <p:sp>
        <p:nvSpPr>
          <p:cNvPr id="60" name="Rectangle: Diagonal Corners Rounded 59">
            <a:extLst>
              <a:ext uri="{FF2B5EF4-FFF2-40B4-BE49-F238E27FC236}">
                <a16:creationId xmlns:a16="http://schemas.microsoft.com/office/drawing/2014/main" id="{007E895B-6619-74B1-877E-C4B2FE64E2D6}"/>
              </a:ext>
            </a:extLst>
          </p:cNvPr>
          <p:cNvSpPr/>
          <p:nvPr/>
        </p:nvSpPr>
        <p:spPr>
          <a:xfrm>
            <a:off x="707119" y="4141176"/>
            <a:ext cx="2239779" cy="1038732"/>
          </a:xfrm>
          <a:prstGeom prst="round2DiagRect">
            <a:avLst>
              <a:gd name="adj1" fmla="val 16667"/>
              <a:gd name="adj2" fmla="val 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600"/>
              <a:t>Generalized Management of Drug-Induced Deficiencies</a:t>
            </a:r>
            <a:endParaRPr lang="en-US" sz="1600">
              <a:effectLst/>
            </a:endParaRPr>
          </a:p>
        </p:txBody>
      </p:sp>
      <p:grpSp>
        <p:nvGrpSpPr>
          <p:cNvPr id="69" name="Group 68">
            <a:extLst>
              <a:ext uri="{FF2B5EF4-FFF2-40B4-BE49-F238E27FC236}">
                <a16:creationId xmlns:a16="http://schemas.microsoft.com/office/drawing/2014/main" id="{A9DD4D2B-BF42-01BB-17C7-601D574F9225}"/>
              </a:ext>
            </a:extLst>
          </p:cNvPr>
          <p:cNvGrpSpPr/>
          <p:nvPr/>
        </p:nvGrpSpPr>
        <p:grpSpPr>
          <a:xfrm>
            <a:off x="4175697" y="2883983"/>
            <a:ext cx="3010031" cy="1100586"/>
            <a:chOff x="4379956" y="1312632"/>
            <a:chExt cx="2914525" cy="1332539"/>
          </a:xfrm>
        </p:grpSpPr>
        <p:sp>
          <p:nvSpPr>
            <p:cNvPr id="70" name="Rectangle: Diagonal Corners Rounded 69">
              <a:extLst>
                <a:ext uri="{FF2B5EF4-FFF2-40B4-BE49-F238E27FC236}">
                  <a16:creationId xmlns:a16="http://schemas.microsoft.com/office/drawing/2014/main" id="{DCE295DE-693E-8E78-92D0-DC3178D1B787}"/>
                </a:ext>
              </a:extLst>
            </p:cNvPr>
            <p:cNvSpPr/>
            <p:nvPr/>
          </p:nvSpPr>
          <p:spPr>
            <a:xfrm>
              <a:off x="4379956" y="1312632"/>
              <a:ext cx="2773680" cy="1332539"/>
            </a:xfrm>
            <a:prstGeom prst="round2DiagRect">
              <a:avLst>
                <a:gd name="adj1" fmla="val 16667"/>
                <a:gd name="adj2" fmla="val 0"/>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400">
                <a:solidFill>
                  <a:schemeClr val="tx1"/>
                </a:solidFill>
                <a:effectLst/>
              </a:endParaRPr>
            </a:p>
          </p:txBody>
        </p:sp>
        <p:sp>
          <p:nvSpPr>
            <p:cNvPr id="71" name="TextBox 70">
              <a:extLst>
                <a:ext uri="{FF2B5EF4-FFF2-40B4-BE49-F238E27FC236}">
                  <a16:creationId xmlns:a16="http://schemas.microsoft.com/office/drawing/2014/main" id="{3CF53FC5-8792-FEA4-D6B0-93491724419F}"/>
                </a:ext>
              </a:extLst>
            </p:cNvPr>
            <p:cNvSpPr txBox="1"/>
            <p:nvPr/>
          </p:nvSpPr>
          <p:spPr>
            <a:xfrm>
              <a:off x="4379956" y="1365100"/>
              <a:ext cx="2914525" cy="1174843"/>
            </a:xfrm>
            <a:prstGeom prst="rect">
              <a:avLst/>
            </a:prstGeom>
            <a:noFill/>
            <a:ln>
              <a:solidFill>
                <a:schemeClr val="bg1"/>
              </a:solidFill>
            </a:ln>
          </p:spPr>
          <p:txBody>
            <a:bodyPr wrap="square" rtlCol="0">
              <a:spAutoFit/>
            </a:bodyPr>
            <a:lstStyle/>
            <a:p>
              <a:r>
                <a:rPr lang="en-US" sz="1600"/>
                <a:t>Nutrition apps give generic advice, ignoring age, BMI, drug profiles, or preferences, unsuitable for polypharmacy </a:t>
              </a:r>
              <a:endParaRPr lang="en-US" sz="1600">
                <a:effectLst/>
              </a:endParaRPr>
            </a:p>
          </p:txBody>
        </p:sp>
      </p:grpSp>
      <p:sp>
        <p:nvSpPr>
          <p:cNvPr id="72" name="Arrow: Right 71">
            <a:extLst>
              <a:ext uri="{FF2B5EF4-FFF2-40B4-BE49-F238E27FC236}">
                <a16:creationId xmlns:a16="http://schemas.microsoft.com/office/drawing/2014/main" id="{B00480B6-A20F-CA9F-D002-46DCACB57CA9}"/>
              </a:ext>
            </a:extLst>
          </p:cNvPr>
          <p:cNvSpPr/>
          <p:nvPr/>
        </p:nvSpPr>
        <p:spPr>
          <a:xfrm>
            <a:off x="3115386" y="3239211"/>
            <a:ext cx="849354" cy="438708"/>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3" name="Group 72">
            <a:extLst>
              <a:ext uri="{FF2B5EF4-FFF2-40B4-BE49-F238E27FC236}">
                <a16:creationId xmlns:a16="http://schemas.microsoft.com/office/drawing/2014/main" id="{3A4142AA-3D1E-AA78-55D9-4F153D28C982}"/>
              </a:ext>
            </a:extLst>
          </p:cNvPr>
          <p:cNvGrpSpPr/>
          <p:nvPr/>
        </p:nvGrpSpPr>
        <p:grpSpPr>
          <a:xfrm>
            <a:off x="8148206" y="2833097"/>
            <a:ext cx="3783607" cy="1145391"/>
            <a:chOff x="4379956" y="1312632"/>
            <a:chExt cx="2915795" cy="1332539"/>
          </a:xfrm>
        </p:grpSpPr>
        <p:sp>
          <p:nvSpPr>
            <p:cNvPr id="74" name="Rectangle: Diagonal Corners Rounded 73">
              <a:extLst>
                <a:ext uri="{FF2B5EF4-FFF2-40B4-BE49-F238E27FC236}">
                  <a16:creationId xmlns:a16="http://schemas.microsoft.com/office/drawing/2014/main" id="{F5EF75A6-CFC4-BBED-7D9E-D148D2A3506A}"/>
                </a:ext>
              </a:extLst>
            </p:cNvPr>
            <p:cNvSpPr/>
            <p:nvPr/>
          </p:nvSpPr>
          <p:spPr>
            <a:xfrm>
              <a:off x="4379956" y="1312632"/>
              <a:ext cx="2773680" cy="1332539"/>
            </a:xfrm>
            <a:prstGeom prst="round2DiagRect">
              <a:avLst>
                <a:gd name="adj1" fmla="val 16667"/>
                <a:gd name="adj2" fmla="val 0"/>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400">
                <a:solidFill>
                  <a:schemeClr val="tx1"/>
                </a:solidFill>
                <a:effectLst/>
              </a:endParaRPr>
            </a:p>
          </p:txBody>
        </p:sp>
        <p:sp>
          <p:nvSpPr>
            <p:cNvPr id="75" name="TextBox 74">
              <a:extLst>
                <a:ext uri="{FF2B5EF4-FFF2-40B4-BE49-F238E27FC236}">
                  <a16:creationId xmlns:a16="http://schemas.microsoft.com/office/drawing/2014/main" id="{3B060104-E6CF-C54F-D48A-86DB30FDC962}"/>
                </a:ext>
              </a:extLst>
            </p:cNvPr>
            <p:cNvSpPr txBox="1"/>
            <p:nvPr/>
          </p:nvSpPr>
          <p:spPr>
            <a:xfrm>
              <a:off x="4488181" y="1440249"/>
              <a:ext cx="2807570" cy="966775"/>
            </a:xfrm>
            <a:prstGeom prst="rect">
              <a:avLst/>
            </a:prstGeom>
            <a:noFill/>
            <a:ln>
              <a:noFill/>
            </a:ln>
          </p:spPr>
          <p:txBody>
            <a:bodyPr wrap="square" rtlCol="0">
              <a:spAutoFit/>
            </a:bodyPr>
            <a:lstStyle/>
            <a:p>
              <a:r>
                <a:rPr lang="en-US" sz="1600"/>
                <a:t>culturally appropriate meals using patient data and drug–nutrient interactions for safer care.</a:t>
              </a:r>
              <a:endParaRPr lang="en-US" sz="1600">
                <a:effectLst/>
              </a:endParaRPr>
            </a:p>
          </p:txBody>
        </p:sp>
      </p:grpSp>
      <p:sp>
        <p:nvSpPr>
          <p:cNvPr id="76" name="Arrow: Right 75">
            <a:extLst>
              <a:ext uri="{FF2B5EF4-FFF2-40B4-BE49-F238E27FC236}">
                <a16:creationId xmlns:a16="http://schemas.microsoft.com/office/drawing/2014/main" id="{9D3F72CA-2138-8B51-FBFF-C0853DEB416E}"/>
              </a:ext>
            </a:extLst>
          </p:cNvPr>
          <p:cNvSpPr/>
          <p:nvPr/>
        </p:nvSpPr>
        <p:spPr>
          <a:xfrm>
            <a:off x="7138663" y="3266439"/>
            <a:ext cx="849354" cy="384252"/>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7" name="Group 76">
            <a:extLst>
              <a:ext uri="{FF2B5EF4-FFF2-40B4-BE49-F238E27FC236}">
                <a16:creationId xmlns:a16="http://schemas.microsoft.com/office/drawing/2014/main" id="{ACF57C9F-8771-5591-0F35-BF5C75876E1D}"/>
              </a:ext>
            </a:extLst>
          </p:cNvPr>
          <p:cNvGrpSpPr/>
          <p:nvPr/>
        </p:nvGrpSpPr>
        <p:grpSpPr>
          <a:xfrm>
            <a:off x="4115266" y="4073530"/>
            <a:ext cx="3010032" cy="1120553"/>
            <a:chOff x="4379955" y="1312632"/>
            <a:chExt cx="2914526" cy="1356714"/>
          </a:xfrm>
        </p:grpSpPr>
        <p:sp>
          <p:nvSpPr>
            <p:cNvPr id="78" name="Rectangle: Diagonal Corners Rounded 77">
              <a:extLst>
                <a:ext uri="{FF2B5EF4-FFF2-40B4-BE49-F238E27FC236}">
                  <a16:creationId xmlns:a16="http://schemas.microsoft.com/office/drawing/2014/main" id="{15DDE4C1-C29A-9289-6CF4-223CEFF3694C}"/>
                </a:ext>
              </a:extLst>
            </p:cNvPr>
            <p:cNvSpPr/>
            <p:nvPr/>
          </p:nvSpPr>
          <p:spPr>
            <a:xfrm>
              <a:off x="4379955" y="1312632"/>
              <a:ext cx="2773680" cy="1332539"/>
            </a:xfrm>
            <a:prstGeom prst="round2DiagRect">
              <a:avLst>
                <a:gd name="adj1" fmla="val 16667"/>
                <a:gd name="adj2" fmla="val 0"/>
              </a:avLst>
            </a:prstGeom>
            <a:solidFill>
              <a:schemeClr val="bg1"/>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400">
                <a:solidFill>
                  <a:schemeClr val="tx1"/>
                </a:solidFill>
                <a:effectLst/>
              </a:endParaRPr>
            </a:p>
          </p:txBody>
        </p:sp>
        <p:sp>
          <p:nvSpPr>
            <p:cNvPr id="79" name="TextBox 78">
              <a:extLst>
                <a:ext uri="{FF2B5EF4-FFF2-40B4-BE49-F238E27FC236}">
                  <a16:creationId xmlns:a16="http://schemas.microsoft.com/office/drawing/2014/main" id="{0396C2EB-072B-4493-C286-78A471C56161}"/>
                </a:ext>
              </a:extLst>
            </p:cNvPr>
            <p:cNvSpPr txBox="1"/>
            <p:nvPr/>
          </p:nvSpPr>
          <p:spPr>
            <a:xfrm>
              <a:off x="4379956" y="1365100"/>
              <a:ext cx="2914525" cy="1304246"/>
            </a:xfrm>
            <a:prstGeom prst="rect">
              <a:avLst/>
            </a:prstGeom>
            <a:noFill/>
            <a:ln>
              <a:noFill/>
            </a:ln>
          </p:spPr>
          <p:txBody>
            <a:bodyPr wrap="square" rtlCol="0">
              <a:spAutoFit/>
            </a:bodyPr>
            <a:lstStyle/>
            <a:p>
              <a:r>
                <a:rPr lang="en-US" sz="1600"/>
                <a:t>AI models focus on broad health data, not polypharmacy-specific deficiencies missing elderly risks</a:t>
              </a:r>
              <a:endParaRPr lang="en-US" sz="1600">
                <a:effectLst/>
              </a:endParaRPr>
            </a:p>
          </p:txBody>
        </p:sp>
      </p:grpSp>
      <p:sp>
        <p:nvSpPr>
          <p:cNvPr id="80" name="Arrow: Right 79">
            <a:extLst>
              <a:ext uri="{FF2B5EF4-FFF2-40B4-BE49-F238E27FC236}">
                <a16:creationId xmlns:a16="http://schemas.microsoft.com/office/drawing/2014/main" id="{41358BCB-2BFF-63FD-ADB5-36579F8A6F5A}"/>
              </a:ext>
            </a:extLst>
          </p:cNvPr>
          <p:cNvSpPr/>
          <p:nvPr/>
        </p:nvSpPr>
        <p:spPr>
          <a:xfrm>
            <a:off x="3162451" y="4441188"/>
            <a:ext cx="849354" cy="438708"/>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2481021-1BF8-297A-8578-347A4338A223}"/>
              </a:ext>
            </a:extLst>
          </p:cNvPr>
          <p:cNvGrpSpPr/>
          <p:nvPr/>
        </p:nvGrpSpPr>
        <p:grpSpPr>
          <a:xfrm>
            <a:off x="8139256" y="4063369"/>
            <a:ext cx="3652123" cy="1145391"/>
            <a:chOff x="4379956" y="1312632"/>
            <a:chExt cx="2814468" cy="1332539"/>
          </a:xfrm>
        </p:grpSpPr>
        <p:sp>
          <p:nvSpPr>
            <p:cNvPr id="82" name="Rectangle: Diagonal Corners Rounded 81">
              <a:extLst>
                <a:ext uri="{FF2B5EF4-FFF2-40B4-BE49-F238E27FC236}">
                  <a16:creationId xmlns:a16="http://schemas.microsoft.com/office/drawing/2014/main" id="{BF101FDE-95CF-00F2-93F5-4A1785BAD2FC}"/>
                </a:ext>
              </a:extLst>
            </p:cNvPr>
            <p:cNvSpPr/>
            <p:nvPr/>
          </p:nvSpPr>
          <p:spPr>
            <a:xfrm>
              <a:off x="4379956" y="1312632"/>
              <a:ext cx="2773680" cy="1332539"/>
            </a:xfrm>
            <a:prstGeom prst="round2DiagRect">
              <a:avLst>
                <a:gd name="adj1" fmla="val 16667"/>
                <a:gd name="adj2" fmla="val 0"/>
              </a:avLst>
            </a:prstGeom>
            <a:solidFill>
              <a:schemeClr val="bg1"/>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400">
                <a:solidFill>
                  <a:schemeClr val="tx1"/>
                </a:solidFill>
                <a:effectLst/>
              </a:endParaRPr>
            </a:p>
          </p:txBody>
        </p:sp>
        <p:sp>
          <p:nvSpPr>
            <p:cNvPr id="83" name="TextBox 82">
              <a:extLst>
                <a:ext uri="{FF2B5EF4-FFF2-40B4-BE49-F238E27FC236}">
                  <a16:creationId xmlns:a16="http://schemas.microsoft.com/office/drawing/2014/main" id="{80C6A9AE-D5A7-C963-FCE1-AF7195355ED2}"/>
                </a:ext>
              </a:extLst>
            </p:cNvPr>
            <p:cNvSpPr txBox="1"/>
            <p:nvPr/>
          </p:nvSpPr>
          <p:spPr>
            <a:xfrm>
              <a:off x="4545628" y="1340528"/>
              <a:ext cx="2648796" cy="1253227"/>
            </a:xfrm>
            <a:prstGeom prst="rect">
              <a:avLst/>
            </a:prstGeom>
            <a:noFill/>
            <a:ln>
              <a:noFill/>
            </a:ln>
          </p:spPr>
          <p:txBody>
            <a:bodyPr wrap="square" rtlCol="0">
              <a:spAutoFit/>
            </a:bodyPr>
            <a:lstStyle/>
            <a:p>
              <a:r>
                <a:rPr lang="en-US" sz="1600"/>
                <a:t>Targets drug-induced deficiencies with precise interventions (e.g., folate-rich greens for PPI users), focusing on polypharmacy needs</a:t>
              </a:r>
              <a:endParaRPr lang="en-US" sz="1600">
                <a:effectLst/>
              </a:endParaRPr>
            </a:p>
          </p:txBody>
        </p:sp>
      </p:grpSp>
      <p:sp>
        <p:nvSpPr>
          <p:cNvPr id="84" name="Arrow: Right 83">
            <a:extLst>
              <a:ext uri="{FF2B5EF4-FFF2-40B4-BE49-F238E27FC236}">
                <a16:creationId xmlns:a16="http://schemas.microsoft.com/office/drawing/2014/main" id="{C83D2111-7559-244C-B533-1185EBFA1E5E}"/>
              </a:ext>
            </a:extLst>
          </p:cNvPr>
          <p:cNvSpPr/>
          <p:nvPr/>
        </p:nvSpPr>
        <p:spPr>
          <a:xfrm>
            <a:off x="7215545" y="4386783"/>
            <a:ext cx="849354" cy="384252"/>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5" name="Group 84">
            <a:extLst>
              <a:ext uri="{FF2B5EF4-FFF2-40B4-BE49-F238E27FC236}">
                <a16:creationId xmlns:a16="http://schemas.microsoft.com/office/drawing/2014/main" id="{0D9A5373-4CB4-41DD-788D-CDD340AB0E72}"/>
              </a:ext>
            </a:extLst>
          </p:cNvPr>
          <p:cNvGrpSpPr/>
          <p:nvPr/>
        </p:nvGrpSpPr>
        <p:grpSpPr>
          <a:xfrm>
            <a:off x="4138836" y="5340981"/>
            <a:ext cx="3010031" cy="922724"/>
            <a:chOff x="4379956" y="1312632"/>
            <a:chExt cx="2914525" cy="1332539"/>
          </a:xfrm>
        </p:grpSpPr>
        <p:sp>
          <p:nvSpPr>
            <p:cNvPr id="86" name="Rectangle: Diagonal Corners Rounded 85">
              <a:extLst>
                <a:ext uri="{FF2B5EF4-FFF2-40B4-BE49-F238E27FC236}">
                  <a16:creationId xmlns:a16="http://schemas.microsoft.com/office/drawing/2014/main" id="{7B173659-CE01-C8A2-3804-F2322FEE9BF8}"/>
                </a:ext>
              </a:extLst>
            </p:cNvPr>
            <p:cNvSpPr/>
            <p:nvPr/>
          </p:nvSpPr>
          <p:spPr>
            <a:xfrm>
              <a:off x="4379956" y="1312632"/>
              <a:ext cx="2773680" cy="1332539"/>
            </a:xfrm>
            <a:prstGeom prst="round2DiagRect">
              <a:avLst>
                <a:gd name="adj1" fmla="val 16667"/>
                <a:gd name="adj2" fmla="val 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400">
                <a:solidFill>
                  <a:schemeClr val="tx1"/>
                </a:solidFill>
                <a:effectLst/>
              </a:endParaRPr>
            </a:p>
          </p:txBody>
        </p:sp>
        <p:sp>
          <p:nvSpPr>
            <p:cNvPr id="87" name="TextBox 86">
              <a:extLst>
                <a:ext uri="{FF2B5EF4-FFF2-40B4-BE49-F238E27FC236}">
                  <a16:creationId xmlns:a16="http://schemas.microsoft.com/office/drawing/2014/main" id="{45CEEF51-3309-6193-1AD4-3D0AE751785E}"/>
                </a:ext>
              </a:extLst>
            </p:cNvPr>
            <p:cNvSpPr txBox="1"/>
            <p:nvPr/>
          </p:nvSpPr>
          <p:spPr>
            <a:xfrm>
              <a:off x="4379956" y="1365100"/>
              <a:ext cx="2914525" cy="1006133"/>
            </a:xfrm>
            <a:prstGeom prst="rect">
              <a:avLst/>
            </a:prstGeom>
            <a:noFill/>
            <a:ln>
              <a:noFill/>
            </a:ln>
          </p:spPr>
          <p:txBody>
            <a:bodyPr wrap="square" rtlCol="0">
              <a:spAutoFit/>
            </a:bodyPr>
            <a:lstStyle/>
            <a:p>
              <a:r>
                <a:rPr lang="en-US" sz="1600"/>
                <a:t>AI meal planners prioritize general goals  lacking dynamic updates or provider reports</a:t>
              </a:r>
              <a:endParaRPr lang="en-US" sz="1600">
                <a:effectLst/>
              </a:endParaRPr>
            </a:p>
          </p:txBody>
        </p:sp>
      </p:grpSp>
      <p:sp>
        <p:nvSpPr>
          <p:cNvPr id="88" name="Arrow: Right 87">
            <a:extLst>
              <a:ext uri="{FF2B5EF4-FFF2-40B4-BE49-F238E27FC236}">
                <a16:creationId xmlns:a16="http://schemas.microsoft.com/office/drawing/2014/main" id="{56EEC7E4-03ED-9130-BFB4-BA127A9C7CF3}"/>
              </a:ext>
            </a:extLst>
          </p:cNvPr>
          <p:cNvSpPr/>
          <p:nvPr/>
        </p:nvSpPr>
        <p:spPr>
          <a:xfrm>
            <a:off x="3178518" y="5528948"/>
            <a:ext cx="849354" cy="438708"/>
          </a:xfrm>
          <a:prstGeom prst="rightArrow">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9" name="Group 88">
            <a:extLst>
              <a:ext uri="{FF2B5EF4-FFF2-40B4-BE49-F238E27FC236}">
                <a16:creationId xmlns:a16="http://schemas.microsoft.com/office/drawing/2014/main" id="{736E0623-88DF-5C59-A080-76FA18D04701}"/>
              </a:ext>
            </a:extLst>
          </p:cNvPr>
          <p:cNvGrpSpPr/>
          <p:nvPr/>
        </p:nvGrpSpPr>
        <p:grpSpPr>
          <a:xfrm>
            <a:off x="8163944" y="5296081"/>
            <a:ext cx="3652123" cy="1145391"/>
            <a:chOff x="4379956" y="1312632"/>
            <a:chExt cx="2814468" cy="1332539"/>
          </a:xfrm>
        </p:grpSpPr>
        <p:sp>
          <p:nvSpPr>
            <p:cNvPr id="90" name="Rectangle: Diagonal Corners Rounded 89">
              <a:extLst>
                <a:ext uri="{FF2B5EF4-FFF2-40B4-BE49-F238E27FC236}">
                  <a16:creationId xmlns:a16="http://schemas.microsoft.com/office/drawing/2014/main" id="{422920B2-BC27-0A42-A2B1-0F5EB3DA5AE1}"/>
                </a:ext>
              </a:extLst>
            </p:cNvPr>
            <p:cNvSpPr/>
            <p:nvPr/>
          </p:nvSpPr>
          <p:spPr>
            <a:xfrm>
              <a:off x="4379956" y="1312632"/>
              <a:ext cx="2773680" cy="1332539"/>
            </a:xfrm>
            <a:prstGeom prst="round2DiagRect">
              <a:avLst>
                <a:gd name="adj1" fmla="val 16667"/>
                <a:gd name="adj2" fmla="val 0"/>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400">
                <a:solidFill>
                  <a:schemeClr val="tx1"/>
                </a:solidFill>
                <a:effectLst/>
              </a:endParaRPr>
            </a:p>
          </p:txBody>
        </p:sp>
        <p:sp>
          <p:nvSpPr>
            <p:cNvPr id="91" name="TextBox 90">
              <a:extLst>
                <a:ext uri="{FF2B5EF4-FFF2-40B4-BE49-F238E27FC236}">
                  <a16:creationId xmlns:a16="http://schemas.microsoft.com/office/drawing/2014/main" id="{A39E8518-6D6C-53B3-EEB7-F255CC839E87}"/>
                </a:ext>
              </a:extLst>
            </p:cNvPr>
            <p:cNvSpPr txBox="1"/>
            <p:nvPr/>
          </p:nvSpPr>
          <p:spPr>
            <a:xfrm>
              <a:off x="4545628" y="1340528"/>
              <a:ext cx="2648796" cy="1253227"/>
            </a:xfrm>
            <a:prstGeom prst="rect">
              <a:avLst/>
            </a:prstGeom>
            <a:noFill/>
            <a:ln>
              <a:noFill/>
            </a:ln>
          </p:spPr>
          <p:txBody>
            <a:bodyPr wrap="square" rtlCol="0">
              <a:spAutoFit/>
            </a:bodyPr>
            <a:lstStyle/>
            <a:p>
              <a:r>
                <a:rPr lang="en-US" sz="1600"/>
                <a:t>Adapts plans in real-time to health/drug changes, provides documented reports for providers, ensuring evidence-based care.</a:t>
              </a:r>
              <a:endParaRPr lang="en-US" sz="1600">
                <a:effectLst/>
              </a:endParaRPr>
            </a:p>
          </p:txBody>
        </p:sp>
      </p:grpSp>
      <p:sp>
        <p:nvSpPr>
          <p:cNvPr id="92" name="Arrow: Right 91">
            <a:extLst>
              <a:ext uri="{FF2B5EF4-FFF2-40B4-BE49-F238E27FC236}">
                <a16:creationId xmlns:a16="http://schemas.microsoft.com/office/drawing/2014/main" id="{9B7EC491-CCC9-5A32-978E-EDDDC983DD34}"/>
              </a:ext>
            </a:extLst>
          </p:cNvPr>
          <p:cNvSpPr/>
          <p:nvPr/>
        </p:nvSpPr>
        <p:spPr>
          <a:xfrm>
            <a:off x="7201795" y="5556176"/>
            <a:ext cx="849354" cy="384252"/>
          </a:xfrm>
          <a:prstGeom prst="rightArrow">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TextBox 92">
            <a:extLst>
              <a:ext uri="{FF2B5EF4-FFF2-40B4-BE49-F238E27FC236}">
                <a16:creationId xmlns:a16="http://schemas.microsoft.com/office/drawing/2014/main" id="{F27D4EBE-0B78-E69E-8A8F-730FACD0656F}"/>
              </a:ext>
            </a:extLst>
          </p:cNvPr>
          <p:cNvSpPr txBox="1"/>
          <p:nvPr/>
        </p:nvSpPr>
        <p:spPr>
          <a:xfrm>
            <a:off x="6361317" y="27030"/>
            <a:ext cx="6096000" cy="276999"/>
          </a:xfrm>
          <a:prstGeom prst="rect">
            <a:avLst/>
          </a:prstGeom>
          <a:noFill/>
        </p:spPr>
        <p:txBody>
          <a:bodyPr wrap="square">
            <a:spAutoFit/>
          </a:bodyPr>
          <a:lstStyle/>
          <a:p>
            <a:r>
              <a:rPr lang="en-US" sz="1200"/>
              <a:t>PERSONALIZED MEAL PLAN RECOMMENDATION SYSTEM  FOR VITAMIN DEFICIENCY</a:t>
            </a:r>
          </a:p>
        </p:txBody>
      </p:sp>
    </p:spTree>
    <p:extLst>
      <p:ext uri="{BB962C8B-B14F-4D97-AF65-F5344CB8AC3E}">
        <p14:creationId xmlns:p14="http://schemas.microsoft.com/office/powerpoint/2010/main" val="500835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F6FBBB-4C77-4A4B-BE54-96D3B0DF3BB7}"/>
              </a:ext>
            </a:extLst>
          </p:cNvPr>
          <p:cNvSpPr>
            <a:spLocks noGrp="1"/>
          </p:cNvSpPr>
          <p:nvPr>
            <p:ph type="title"/>
          </p:nvPr>
        </p:nvSpPr>
        <p:spPr>
          <a:xfrm>
            <a:off x="304800" y="127820"/>
            <a:ext cx="11684000" cy="792162"/>
          </a:xfrm>
        </p:spPr>
        <p:txBody>
          <a:bodyPr>
            <a:normAutofit/>
          </a:bodyPr>
          <a:lstStyle/>
          <a:p>
            <a:r>
              <a:rPr lang="en-US">
                <a:solidFill>
                  <a:schemeClr val="accent1">
                    <a:lumMod val="50000"/>
                  </a:schemeClr>
                </a:solidFill>
              </a:rPr>
              <a:t>Methodology</a:t>
            </a:r>
          </a:p>
        </p:txBody>
      </p:sp>
      <p:sp>
        <p:nvSpPr>
          <p:cNvPr id="3" name="Rectangle 2">
            <a:extLst>
              <a:ext uri="{FF2B5EF4-FFF2-40B4-BE49-F238E27FC236}">
                <a16:creationId xmlns:a16="http://schemas.microsoft.com/office/drawing/2014/main" id="{F0C9C8D6-1736-382E-C421-8B1AB63F2FB5}"/>
              </a:ext>
            </a:extLst>
          </p:cNvPr>
          <p:cNvSpPr/>
          <p:nvPr/>
        </p:nvSpPr>
        <p:spPr>
          <a:xfrm>
            <a:off x="2632435" y="6492874"/>
            <a:ext cx="6816365" cy="3651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IT22561084</a:t>
            </a:r>
            <a:r>
              <a:rPr lang="en-US" sz="1800">
                <a:solidFill>
                  <a:schemeClr val="tx1"/>
                </a:solidFill>
              </a:rPr>
              <a:t>   |   </a:t>
            </a:r>
            <a:r>
              <a:rPr lang="en-US" b="1">
                <a:solidFill>
                  <a:schemeClr val="tx1"/>
                </a:solidFill>
              </a:rPr>
              <a:t>Jeesara K.G.N</a:t>
            </a:r>
            <a:r>
              <a:rPr lang="en-US" sz="1800" b="1">
                <a:solidFill>
                  <a:schemeClr val="tx1"/>
                </a:solidFill>
              </a:rPr>
              <a:t>   </a:t>
            </a:r>
            <a:r>
              <a:rPr lang="en-US" sz="1800">
                <a:solidFill>
                  <a:schemeClr val="tx1"/>
                </a:solidFill>
              </a:rPr>
              <a:t>|   </a:t>
            </a:r>
            <a:r>
              <a:rPr lang="en-US">
                <a:solidFill>
                  <a:schemeClr val="tx1"/>
                </a:solidFill>
              </a:rPr>
              <a:t>25-26J-368</a:t>
            </a:r>
            <a:endParaRPr lang="en-US" sz="1800">
              <a:solidFill>
                <a:schemeClr val="tx1"/>
              </a:solidFill>
            </a:endParaRPr>
          </a:p>
        </p:txBody>
      </p:sp>
      <p:sp>
        <p:nvSpPr>
          <p:cNvPr id="9" name="Flowchart: Alternate Process 8">
            <a:extLst>
              <a:ext uri="{FF2B5EF4-FFF2-40B4-BE49-F238E27FC236}">
                <a16:creationId xmlns:a16="http://schemas.microsoft.com/office/drawing/2014/main" id="{3FBBEF1F-24CE-AF16-29BE-A789CCDD0ACF}"/>
              </a:ext>
            </a:extLst>
          </p:cNvPr>
          <p:cNvSpPr/>
          <p:nvPr/>
        </p:nvSpPr>
        <p:spPr>
          <a:xfrm>
            <a:off x="388858" y="863620"/>
            <a:ext cx="6746240" cy="477520"/>
          </a:xfrm>
          <a:prstGeom prst="flowChartAlternateProcess">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b="1"/>
              <a:t>Development Stages</a:t>
            </a:r>
          </a:p>
        </p:txBody>
      </p:sp>
      <p:sp>
        <p:nvSpPr>
          <p:cNvPr id="12" name="Rectangle 7">
            <a:extLst>
              <a:ext uri="{FF2B5EF4-FFF2-40B4-BE49-F238E27FC236}">
                <a16:creationId xmlns:a16="http://schemas.microsoft.com/office/drawing/2014/main" id="{ECA21980-DBA8-1B99-8F04-6876AE557351}"/>
              </a:ext>
            </a:extLst>
          </p:cNvPr>
          <p:cNvSpPr>
            <a:spLocks noChangeArrowheads="1"/>
          </p:cNvSpPr>
          <p:nvPr/>
        </p:nvSpPr>
        <p:spPr bwMode="auto">
          <a:xfrm>
            <a:off x="388858" y="1341457"/>
            <a:ext cx="112776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a:ln>
                  <a:noFill/>
                </a:ln>
                <a:solidFill>
                  <a:schemeClr val="tx1"/>
                </a:solidFill>
                <a:effectLst/>
              </a:rPr>
              <a:t>Patient Data Collection</a:t>
            </a:r>
            <a:r>
              <a:rPr lang="en-US" altLang="en-US" b="1"/>
              <a:t> - </a:t>
            </a:r>
            <a:r>
              <a:rPr kumimoji="0" lang="en-US" altLang="en-US" b="0" i="0" u="none" strike="noStrike" cap="none" normalizeH="0" baseline="0">
                <a:ln>
                  <a:noFill/>
                </a:ln>
                <a:solidFill>
                  <a:schemeClr val="tx1"/>
                </a:solidFill>
                <a:effectLst/>
              </a:rPr>
              <a:t>Gather age, height, weight, medication history, and preferences from patient inputs.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a:ln>
                  <a:noFill/>
                </a:ln>
                <a:solidFill>
                  <a:schemeClr val="tx1"/>
                </a:solidFill>
                <a:effectLst/>
              </a:rPr>
              <a:t>Deficiency Analysis</a:t>
            </a:r>
            <a:r>
              <a:rPr lang="en-US" altLang="en-US"/>
              <a:t> - </a:t>
            </a:r>
            <a:r>
              <a:rPr kumimoji="0" lang="en-US" altLang="en-US" b="0" i="0" u="none" strike="noStrike" cap="none" normalizeH="0" baseline="0">
                <a:ln>
                  <a:noFill/>
                </a:ln>
                <a:solidFill>
                  <a:schemeClr val="tx1"/>
                </a:solidFill>
                <a:effectLst/>
              </a:rPr>
              <a:t>Early Vitamin Deficiency Warning System uses CNNs to identify deficiencies.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a:ln>
                  <a:noFill/>
                </a:ln>
                <a:solidFill>
                  <a:schemeClr val="tx1"/>
                </a:solidFill>
                <a:effectLst/>
              </a:rPr>
              <a:t>Personalized Diet Planning</a:t>
            </a:r>
            <a:r>
              <a:rPr lang="en-US" altLang="en-US"/>
              <a:t> - </a:t>
            </a:r>
            <a:r>
              <a:rPr kumimoji="0" lang="en-US" altLang="en-US" b="0" i="0" u="none" strike="noStrike" cap="none" normalizeH="0" baseline="0">
                <a:ln>
                  <a:noFill/>
                </a:ln>
                <a:solidFill>
                  <a:schemeClr val="tx1"/>
                </a:solidFill>
                <a:effectLst/>
              </a:rPr>
              <a:t> Personalized Meal Planner generates adaptive, culturally appropriate diets based on patient data, avoiding drug-nutrient conflicts.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a:ln>
                  <a:noFill/>
                </a:ln>
                <a:solidFill>
                  <a:schemeClr val="tx1"/>
                </a:solidFill>
                <a:effectLst/>
              </a:rPr>
              <a:t>Validation and Testing</a:t>
            </a:r>
            <a:r>
              <a:rPr lang="en-US" altLang="en-US"/>
              <a:t> - </a:t>
            </a:r>
            <a:r>
              <a:rPr kumimoji="0" lang="en-US" altLang="en-US" b="0" i="0" u="none" strike="noStrike" cap="none" normalizeH="0" baseline="0">
                <a:ln>
                  <a:noFill/>
                </a:ln>
                <a:solidFill>
                  <a:schemeClr val="tx1"/>
                </a:solidFill>
                <a:effectLst/>
              </a:rPr>
              <a:t>Conduct a 6-month clinical trial to measure adherence (&gt;80%), deficiency reduction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a:ln>
                  <a:noFill/>
                </a:ln>
                <a:solidFill>
                  <a:schemeClr val="tx1"/>
                </a:solidFill>
                <a:effectLst/>
              </a:rPr>
              <a:t>User Feedback and Provider Collaboration</a:t>
            </a:r>
            <a:r>
              <a:rPr kumimoji="0" lang="en-US" altLang="en-US" b="0" i="0" u="none" strike="noStrike" cap="none" normalizeH="0" baseline="0">
                <a:ln>
                  <a:noFill/>
                </a:ln>
                <a:solidFill>
                  <a:schemeClr val="tx1"/>
                </a:solidFill>
                <a:effectLst/>
              </a:rPr>
              <a:t>: Incorporate patient feedback and provider inputs to refine plans; generate automated reports for caregivers.</a:t>
            </a:r>
          </a:p>
        </p:txBody>
      </p:sp>
      <p:sp>
        <p:nvSpPr>
          <p:cNvPr id="15" name="TextBox 14">
            <a:extLst>
              <a:ext uri="{FF2B5EF4-FFF2-40B4-BE49-F238E27FC236}">
                <a16:creationId xmlns:a16="http://schemas.microsoft.com/office/drawing/2014/main" id="{A5758F61-C49E-B6E6-E8B4-4B791191AFA1}"/>
              </a:ext>
            </a:extLst>
          </p:cNvPr>
          <p:cNvSpPr txBox="1"/>
          <p:nvPr/>
        </p:nvSpPr>
        <p:spPr>
          <a:xfrm>
            <a:off x="5740400" y="2590800"/>
            <a:ext cx="287258" cy="369332"/>
          </a:xfrm>
          <a:prstGeom prst="rect">
            <a:avLst/>
          </a:prstGeom>
          <a:noFill/>
        </p:spPr>
        <p:txBody>
          <a:bodyPr wrap="none" rtlCol="0">
            <a:spAutoFit/>
          </a:bodyPr>
          <a:lstStyle/>
          <a:p>
            <a:r>
              <a:rPr lang="en-US"/>
              <a:t>  </a:t>
            </a:r>
          </a:p>
        </p:txBody>
      </p:sp>
      <p:sp>
        <p:nvSpPr>
          <p:cNvPr id="20" name="Flowchart: Alternate Process 19">
            <a:extLst>
              <a:ext uri="{FF2B5EF4-FFF2-40B4-BE49-F238E27FC236}">
                <a16:creationId xmlns:a16="http://schemas.microsoft.com/office/drawing/2014/main" id="{C209B056-F0F2-4367-86AA-7B004885D339}"/>
              </a:ext>
            </a:extLst>
          </p:cNvPr>
          <p:cNvSpPr/>
          <p:nvPr/>
        </p:nvSpPr>
        <p:spPr>
          <a:xfrm>
            <a:off x="388858" y="3408176"/>
            <a:ext cx="6746240" cy="477520"/>
          </a:xfrm>
          <a:prstGeom prst="flowChartAlternateProcess">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b="1"/>
              <a:t>Key Domains of Specialization</a:t>
            </a:r>
            <a:endParaRPr lang="en-US"/>
          </a:p>
        </p:txBody>
      </p:sp>
      <p:sp>
        <p:nvSpPr>
          <p:cNvPr id="24" name="TextBox 23">
            <a:extLst>
              <a:ext uri="{FF2B5EF4-FFF2-40B4-BE49-F238E27FC236}">
                <a16:creationId xmlns:a16="http://schemas.microsoft.com/office/drawing/2014/main" id="{2FA0A4A0-331C-B84B-284D-D57070DD92A8}"/>
              </a:ext>
            </a:extLst>
          </p:cNvPr>
          <p:cNvSpPr txBox="1"/>
          <p:nvPr/>
        </p:nvSpPr>
        <p:spPr>
          <a:xfrm>
            <a:off x="388858" y="3956084"/>
            <a:ext cx="11277600" cy="2308324"/>
          </a:xfrm>
          <a:prstGeom prst="rect">
            <a:avLst/>
          </a:prstGeom>
          <a:noFill/>
        </p:spPr>
        <p:txBody>
          <a:bodyPr wrap="square" rtlCol="0">
            <a:spAutoFit/>
          </a:bodyPr>
          <a:lstStyle/>
          <a:p>
            <a:pPr marL="285750" indent="-285750">
              <a:buFont typeface="Wingdings" panose="05000000000000000000" pitchFamily="2" charset="2"/>
              <a:buChar char="Ø"/>
            </a:pPr>
            <a:r>
              <a:rPr lang="en-US" b="1"/>
              <a:t>Clinical Nutrition &amp; Dietetics </a:t>
            </a:r>
            <a:r>
              <a:rPr lang="en-US"/>
              <a:t>– planning diets, managing vitamin needs, and preventing deficiencies in elderly patients.</a:t>
            </a:r>
          </a:p>
          <a:p>
            <a:pPr marL="285750" indent="-285750">
              <a:buFont typeface="Wingdings" panose="05000000000000000000" pitchFamily="2" charset="2"/>
              <a:buChar char="Ø"/>
            </a:pPr>
            <a:r>
              <a:rPr lang="en-US" b="1"/>
              <a:t>Geriatrics &amp; Pharmacology </a:t>
            </a:r>
            <a:r>
              <a:rPr lang="en-US"/>
              <a:t>– understanding aging effects, comorbidities, and drug–nutrient interactions in polypharmacy.</a:t>
            </a:r>
          </a:p>
          <a:p>
            <a:pPr marL="285750" indent="-285750">
              <a:buFont typeface="Wingdings" panose="05000000000000000000" pitchFamily="2" charset="2"/>
              <a:buChar char="Ø"/>
            </a:pPr>
            <a:r>
              <a:rPr lang="en-US" b="1"/>
              <a:t>Data Science &amp; AI </a:t>
            </a:r>
            <a:r>
              <a:rPr lang="en-US"/>
              <a:t>– analyzing patient data, predicting deficiencies, and generating adaptive, personalized diet plans.</a:t>
            </a:r>
          </a:p>
          <a:p>
            <a:pPr marL="285750" indent="-285750">
              <a:buFont typeface="Wingdings" panose="05000000000000000000" pitchFamily="2" charset="2"/>
              <a:buChar char="Ø"/>
            </a:pPr>
            <a:r>
              <a:rPr lang="en-US" b="1"/>
              <a:t>Health Informatics </a:t>
            </a:r>
            <a:r>
              <a:rPr lang="en-US"/>
              <a:t>– integrating health records, medication histories, and ensuring secure, ethical data management.</a:t>
            </a:r>
          </a:p>
        </p:txBody>
      </p:sp>
      <p:sp>
        <p:nvSpPr>
          <p:cNvPr id="26" name="Hexagon 25">
            <a:extLst>
              <a:ext uri="{FF2B5EF4-FFF2-40B4-BE49-F238E27FC236}">
                <a16:creationId xmlns:a16="http://schemas.microsoft.com/office/drawing/2014/main" id="{00177322-A764-ECA8-C118-E8BAEFA29EF6}"/>
              </a:ext>
            </a:extLst>
          </p:cNvPr>
          <p:cNvSpPr/>
          <p:nvPr/>
        </p:nvSpPr>
        <p:spPr>
          <a:xfrm>
            <a:off x="11015976" y="265470"/>
            <a:ext cx="972824" cy="844194"/>
          </a:xfrm>
          <a:prstGeom prst="hexagon">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Hexagon 26">
            <a:extLst>
              <a:ext uri="{FF2B5EF4-FFF2-40B4-BE49-F238E27FC236}">
                <a16:creationId xmlns:a16="http://schemas.microsoft.com/office/drawing/2014/main" id="{14BFFD9D-71F1-4001-A252-151553F9FA53}"/>
              </a:ext>
            </a:extLst>
          </p:cNvPr>
          <p:cNvSpPr/>
          <p:nvPr/>
        </p:nvSpPr>
        <p:spPr>
          <a:xfrm>
            <a:off x="10384984" y="778482"/>
            <a:ext cx="558390" cy="478408"/>
          </a:xfrm>
          <a:prstGeom prst="hexagon">
            <a:avLst/>
          </a:prstGeom>
          <a:solidFill>
            <a:schemeClr val="accent1">
              <a:lumMod val="5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Hexagon 27">
            <a:extLst>
              <a:ext uri="{FF2B5EF4-FFF2-40B4-BE49-F238E27FC236}">
                <a16:creationId xmlns:a16="http://schemas.microsoft.com/office/drawing/2014/main" id="{9CF7FF00-150F-1A95-F0AD-5410B520713E}"/>
              </a:ext>
            </a:extLst>
          </p:cNvPr>
          <p:cNvSpPr/>
          <p:nvPr/>
        </p:nvSpPr>
        <p:spPr>
          <a:xfrm>
            <a:off x="10557840" y="283499"/>
            <a:ext cx="225022" cy="200632"/>
          </a:xfrm>
          <a:prstGeom prst="hexagon">
            <a:avLst/>
          </a:prstGeom>
          <a:solidFill>
            <a:schemeClr val="accent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Hexagon 28">
            <a:extLst>
              <a:ext uri="{FF2B5EF4-FFF2-40B4-BE49-F238E27FC236}">
                <a16:creationId xmlns:a16="http://schemas.microsoft.com/office/drawing/2014/main" id="{E3D237B8-8C99-9BE2-84CD-AE50B69CB3D4}"/>
              </a:ext>
            </a:extLst>
          </p:cNvPr>
          <p:cNvSpPr/>
          <p:nvPr/>
        </p:nvSpPr>
        <p:spPr>
          <a:xfrm>
            <a:off x="11063334" y="1165928"/>
            <a:ext cx="105193" cy="86044"/>
          </a:xfrm>
          <a:prstGeom prst="hexagon">
            <a:avLst/>
          </a:prstGeom>
          <a:solidFill>
            <a:schemeClr val="accent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C43D7F3-806D-EC48-6F62-5DA45F81B0DE}"/>
              </a:ext>
            </a:extLst>
          </p:cNvPr>
          <p:cNvSpPr txBox="1"/>
          <p:nvPr/>
        </p:nvSpPr>
        <p:spPr>
          <a:xfrm>
            <a:off x="6361317" y="27030"/>
            <a:ext cx="6096000" cy="276999"/>
          </a:xfrm>
          <a:prstGeom prst="rect">
            <a:avLst/>
          </a:prstGeom>
          <a:noFill/>
        </p:spPr>
        <p:txBody>
          <a:bodyPr wrap="square">
            <a:spAutoFit/>
          </a:bodyPr>
          <a:lstStyle/>
          <a:p>
            <a:r>
              <a:rPr lang="en-US" sz="1200"/>
              <a:t>PERSONALIZED MEAL PLAN RECOMMENDATION SYSTEM  FOR VITAMIN DEFICIENCY</a:t>
            </a:r>
          </a:p>
        </p:txBody>
      </p:sp>
    </p:spTree>
    <p:extLst>
      <p:ext uri="{BB962C8B-B14F-4D97-AF65-F5344CB8AC3E}">
        <p14:creationId xmlns:p14="http://schemas.microsoft.com/office/powerpoint/2010/main" val="2619686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82E76-59BE-71ED-037B-0DD620F7792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5B41C70-EBF6-43E7-30DA-99D65E648309}"/>
              </a:ext>
            </a:extLst>
          </p:cNvPr>
          <p:cNvSpPr/>
          <p:nvPr/>
        </p:nvSpPr>
        <p:spPr>
          <a:xfrm>
            <a:off x="2632435" y="6492874"/>
            <a:ext cx="6816365" cy="3651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IT22561084</a:t>
            </a:r>
            <a:r>
              <a:rPr lang="en-US" sz="1800">
                <a:solidFill>
                  <a:schemeClr val="tx1"/>
                </a:solidFill>
              </a:rPr>
              <a:t>   |   </a:t>
            </a:r>
            <a:r>
              <a:rPr lang="en-US" b="1">
                <a:solidFill>
                  <a:schemeClr val="tx1"/>
                </a:solidFill>
              </a:rPr>
              <a:t>Jeesara K.G.N</a:t>
            </a:r>
            <a:r>
              <a:rPr lang="en-US" sz="1800" b="1">
                <a:solidFill>
                  <a:schemeClr val="tx1"/>
                </a:solidFill>
              </a:rPr>
              <a:t>   </a:t>
            </a:r>
            <a:r>
              <a:rPr lang="en-US" sz="1800">
                <a:solidFill>
                  <a:schemeClr val="tx1"/>
                </a:solidFill>
              </a:rPr>
              <a:t>|   </a:t>
            </a:r>
            <a:r>
              <a:rPr lang="en-US">
                <a:solidFill>
                  <a:schemeClr val="tx1"/>
                </a:solidFill>
              </a:rPr>
              <a:t>25-26J-368</a:t>
            </a:r>
            <a:endParaRPr lang="en-US" sz="1800">
              <a:solidFill>
                <a:schemeClr val="tx1"/>
              </a:solidFill>
            </a:endParaRPr>
          </a:p>
        </p:txBody>
      </p:sp>
      <p:sp>
        <p:nvSpPr>
          <p:cNvPr id="15" name="TextBox 14">
            <a:extLst>
              <a:ext uri="{FF2B5EF4-FFF2-40B4-BE49-F238E27FC236}">
                <a16:creationId xmlns:a16="http://schemas.microsoft.com/office/drawing/2014/main" id="{DA526AC7-D58A-8DC4-97F5-9A34F538099E}"/>
              </a:ext>
            </a:extLst>
          </p:cNvPr>
          <p:cNvSpPr txBox="1"/>
          <p:nvPr/>
        </p:nvSpPr>
        <p:spPr>
          <a:xfrm>
            <a:off x="5740400" y="2590800"/>
            <a:ext cx="287258" cy="369332"/>
          </a:xfrm>
          <a:prstGeom prst="rect">
            <a:avLst/>
          </a:prstGeom>
          <a:noFill/>
        </p:spPr>
        <p:txBody>
          <a:bodyPr wrap="none" rtlCol="0">
            <a:spAutoFit/>
          </a:bodyPr>
          <a:lstStyle/>
          <a:p>
            <a:r>
              <a:rPr lang="en-US"/>
              <a:t>  </a:t>
            </a:r>
          </a:p>
        </p:txBody>
      </p:sp>
      <p:sp>
        <p:nvSpPr>
          <p:cNvPr id="19" name="TextBox 18">
            <a:extLst>
              <a:ext uri="{FF2B5EF4-FFF2-40B4-BE49-F238E27FC236}">
                <a16:creationId xmlns:a16="http://schemas.microsoft.com/office/drawing/2014/main" id="{FB8B590D-B64D-1124-15BF-D0EED4C46C69}"/>
              </a:ext>
            </a:extLst>
          </p:cNvPr>
          <p:cNvSpPr txBox="1"/>
          <p:nvPr/>
        </p:nvSpPr>
        <p:spPr>
          <a:xfrm>
            <a:off x="307578" y="797146"/>
            <a:ext cx="11064240" cy="2031325"/>
          </a:xfrm>
          <a:prstGeom prst="rect">
            <a:avLst/>
          </a:prstGeom>
          <a:noFill/>
        </p:spPr>
        <p:txBody>
          <a:bodyPr wrap="square" rtlCol="0">
            <a:spAutoFit/>
          </a:bodyPr>
          <a:lstStyle/>
          <a:p>
            <a:pPr marL="285750" indent="-285750">
              <a:buFont typeface="Wingdings" panose="05000000000000000000" pitchFamily="2" charset="2"/>
              <a:buChar char="q"/>
            </a:pPr>
            <a:r>
              <a:rPr lang="en-US" b="1"/>
              <a:t>AI &amp; Machine Learning </a:t>
            </a:r>
            <a:r>
              <a:rPr lang="en-US"/>
              <a:t>– decision trees, neural networks, and rule-based models to detect risks and design tailored diets.</a:t>
            </a:r>
          </a:p>
          <a:p>
            <a:pPr marL="285750" indent="-285750">
              <a:buFont typeface="Wingdings" panose="05000000000000000000" pitchFamily="2" charset="2"/>
              <a:buChar char="q"/>
            </a:pPr>
            <a:r>
              <a:rPr lang="en-US" b="1"/>
              <a:t>Clinical Decision Support Systems (CDSS) </a:t>
            </a:r>
            <a:r>
              <a:rPr lang="en-US"/>
              <a:t>– evidence-based tools integrating health and nutrition data.</a:t>
            </a:r>
          </a:p>
          <a:p>
            <a:pPr marL="285750" indent="-285750">
              <a:buFont typeface="Wingdings" panose="05000000000000000000" pitchFamily="2" charset="2"/>
              <a:buChar char="q"/>
            </a:pPr>
            <a:r>
              <a:rPr lang="en-US" b="1"/>
              <a:t>Natural Language Processing (NLP) </a:t>
            </a:r>
            <a:r>
              <a:rPr lang="en-US"/>
              <a:t>– extracting key details from clinical notes and medication data.</a:t>
            </a:r>
          </a:p>
          <a:p>
            <a:pPr marL="285750" indent="-285750">
              <a:buFont typeface="Wingdings" panose="05000000000000000000" pitchFamily="2" charset="2"/>
              <a:buChar char="q"/>
            </a:pPr>
            <a:r>
              <a:rPr lang="en-US" b="1"/>
              <a:t>Personalized Recommender Systems </a:t>
            </a:r>
            <a:r>
              <a:rPr lang="en-US"/>
              <a:t>– adaptive meal plans based on BMI, preferences, culture, and drug–nutrient interactions.</a:t>
            </a:r>
          </a:p>
          <a:p>
            <a:pPr marL="285750" indent="-285750">
              <a:buFont typeface="Wingdings" panose="05000000000000000000" pitchFamily="2" charset="2"/>
              <a:buChar char="q"/>
            </a:pPr>
            <a:r>
              <a:rPr lang="en-US" b="1"/>
              <a:t>Data Integration Platforms </a:t>
            </a:r>
            <a:r>
              <a:rPr lang="en-US"/>
              <a:t>– secure systems combining medical, nutrition, and lifestyle data.</a:t>
            </a:r>
          </a:p>
        </p:txBody>
      </p:sp>
      <p:sp>
        <p:nvSpPr>
          <p:cNvPr id="22" name="TextBox 21">
            <a:extLst>
              <a:ext uri="{FF2B5EF4-FFF2-40B4-BE49-F238E27FC236}">
                <a16:creationId xmlns:a16="http://schemas.microsoft.com/office/drawing/2014/main" id="{FD5787BB-EF6E-EACC-3D6F-3B1EC15D2078}"/>
              </a:ext>
            </a:extLst>
          </p:cNvPr>
          <p:cNvSpPr txBox="1"/>
          <p:nvPr/>
        </p:nvSpPr>
        <p:spPr>
          <a:xfrm>
            <a:off x="307578" y="3502497"/>
            <a:ext cx="11064240" cy="1477328"/>
          </a:xfrm>
          <a:prstGeom prst="rect">
            <a:avLst/>
          </a:prstGeom>
          <a:noFill/>
        </p:spPr>
        <p:txBody>
          <a:bodyPr wrap="square" rtlCol="0">
            <a:spAutoFit/>
          </a:bodyPr>
          <a:lstStyle/>
          <a:p>
            <a:pPr marL="285750" indent="-285750">
              <a:buFont typeface="Wingdings" panose="05000000000000000000" pitchFamily="2" charset="2"/>
              <a:buChar char="q"/>
            </a:pPr>
            <a:r>
              <a:rPr lang="en-US" b="1"/>
              <a:t>Clinical Validation</a:t>
            </a:r>
            <a:r>
              <a:rPr lang="en-US"/>
              <a:t> – pilot studies with elderly polypharmacy patients to test health/vitamin improvements.</a:t>
            </a:r>
          </a:p>
          <a:p>
            <a:pPr marL="285750" indent="-285750">
              <a:buFont typeface="Wingdings" panose="05000000000000000000" pitchFamily="2" charset="2"/>
              <a:buChar char="q"/>
            </a:pPr>
            <a:r>
              <a:rPr lang="en-US" b="1"/>
              <a:t>Accuracy Metrics </a:t>
            </a:r>
            <a:r>
              <a:rPr lang="en-US"/>
              <a:t>– measure sensitivity, specificity, precision, and recall against clinical standards.</a:t>
            </a:r>
          </a:p>
          <a:p>
            <a:pPr marL="285750" indent="-285750">
              <a:buFont typeface="Wingdings" panose="05000000000000000000" pitchFamily="2" charset="2"/>
              <a:buChar char="q"/>
            </a:pPr>
            <a:r>
              <a:rPr lang="en-US" b="1"/>
              <a:t>User Feedback </a:t>
            </a:r>
            <a:r>
              <a:rPr lang="en-US"/>
              <a:t>– gather patient and provider input on feasibility, compliance, and satisfaction.</a:t>
            </a:r>
          </a:p>
          <a:p>
            <a:pPr marL="285750" indent="-285750">
              <a:buFont typeface="Wingdings" panose="05000000000000000000" pitchFamily="2" charset="2"/>
              <a:buChar char="q"/>
            </a:pPr>
            <a:r>
              <a:rPr lang="en-US" b="1"/>
              <a:t>Longitudinal Monitoring </a:t>
            </a:r>
            <a:r>
              <a:rPr lang="en-US"/>
              <a:t>– track vitamin levels (e.g., B12, D) and related health outcomes over time.</a:t>
            </a:r>
          </a:p>
          <a:p>
            <a:pPr marL="285750" indent="-285750">
              <a:buFont typeface="Wingdings" panose="05000000000000000000" pitchFamily="2" charset="2"/>
              <a:buChar char="q"/>
            </a:pPr>
            <a:r>
              <a:rPr lang="en-US" b="1"/>
              <a:t>Comparative Analysis </a:t>
            </a:r>
            <a:r>
              <a:rPr lang="en-US"/>
              <a:t>– evaluate personalized diet plans versus standard advice for effectiveness.</a:t>
            </a:r>
          </a:p>
        </p:txBody>
      </p:sp>
      <p:sp>
        <p:nvSpPr>
          <p:cNvPr id="23" name="Flowchart: Alternate Process 22">
            <a:extLst>
              <a:ext uri="{FF2B5EF4-FFF2-40B4-BE49-F238E27FC236}">
                <a16:creationId xmlns:a16="http://schemas.microsoft.com/office/drawing/2014/main" id="{F1260EDA-6D59-C7B2-43CC-1B2DC7CBC9E7}"/>
              </a:ext>
            </a:extLst>
          </p:cNvPr>
          <p:cNvSpPr/>
          <p:nvPr/>
        </p:nvSpPr>
        <p:spPr>
          <a:xfrm>
            <a:off x="307578" y="234684"/>
            <a:ext cx="6746240" cy="477520"/>
          </a:xfrm>
          <a:prstGeom prst="flowChartAlternateProcess">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b="1"/>
              <a:t>Technologies Utilized in the Domain</a:t>
            </a:r>
          </a:p>
        </p:txBody>
      </p:sp>
      <p:sp>
        <p:nvSpPr>
          <p:cNvPr id="25" name="Flowchart: Alternate Process 24">
            <a:extLst>
              <a:ext uri="{FF2B5EF4-FFF2-40B4-BE49-F238E27FC236}">
                <a16:creationId xmlns:a16="http://schemas.microsoft.com/office/drawing/2014/main" id="{9EF915A5-B02E-D5F0-9252-A1D7DD8C05ED}"/>
              </a:ext>
            </a:extLst>
          </p:cNvPr>
          <p:cNvSpPr/>
          <p:nvPr/>
        </p:nvSpPr>
        <p:spPr>
          <a:xfrm>
            <a:off x="307578" y="2941472"/>
            <a:ext cx="6746240" cy="477520"/>
          </a:xfrm>
          <a:prstGeom prst="flowChartAlternateProcess">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b="1"/>
              <a:t>Evaluation and Validation of Success</a:t>
            </a:r>
            <a:endParaRPr lang="en-US"/>
          </a:p>
        </p:txBody>
      </p:sp>
      <p:sp>
        <p:nvSpPr>
          <p:cNvPr id="26" name="Flowchart: Alternate Process 25">
            <a:extLst>
              <a:ext uri="{FF2B5EF4-FFF2-40B4-BE49-F238E27FC236}">
                <a16:creationId xmlns:a16="http://schemas.microsoft.com/office/drawing/2014/main" id="{DAEE15BA-CF9E-674D-B611-F422F0A1256D}"/>
              </a:ext>
            </a:extLst>
          </p:cNvPr>
          <p:cNvSpPr/>
          <p:nvPr/>
        </p:nvSpPr>
        <p:spPr>
          <a:xfrm>
            <a:off x="307578" y="5009321"/>
            <a:ext cx="6746240" cy="477520"/>
          </a:xfrm>
          <a:prstGeom prst="flowChartAlternateProcess">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b="1"/>
              <a:t>Data Availability and Ethical Clearance</a:t>
            </a:r>
            <a:endParaRPr lang="en-US"/>
          </a:p>
        </p:txBody>
      </p:sp>
      <p:sp>
        <p:nvSpPr>
          <p:cNvPr id="27" name="TextBox 26">
            <a:extLst>
              <a:ext uri="{FF2B5EF4-FFF2-40B4-BE49-F238E27FC236}">
                <a16:creationId xmlns:a16="http://schemas.microsoft.com/office/drawing/2014/main" id="{3EE0FDA6-7EA0-0F58-BEC1-83A9545FD324}"/>
              </a:ext>
            </a:extLst>
          </p:cNvPr>
          <p:cNvSpPr txBox="1"/>
          <p:nvPr/>
        </p:nvSpPr>
        <p:spPr>
          <a:xfrm>
            <a:off x="530942" y="5551683"/>
            <a:ext cx="10840876" cy="369332"/>
          </a:xfrm>
          <a:prstGeom prst="rect">
            <a:avLst/>
          </a:prstGeom>
          <a:noFill/>
        </p:spPr>
        <p:txBody>
          <a:bodyPr wrap="square" rtlCol="0">
            <a:spAutoFit/>
          </a:bodyPr>
          <a:lstStyle/>
          <a:p>
            <a:r>
              <a:rPr lang="en-US" b="1"/>
              <a:t>Data Availability - </a:t>
            </a:r>
            <a:r>
              <a:rPr lang="en-US"/>
              <a:t>Patient demographics, medication histories, vitamin-level lab tests</a:t>
            </a:r>
          </a:p>
        </p:txBody>
      </p:sp>
      <p:sp>
        <p:nvSpPr>
          <p:cNvPr id="28" name="TextBox 27">
            <a:extLst>
              <a:ext uri="{FF2B5EF4-FFF2-40B4-BE49-F238E27FC236}">
                <a16:creationId xmlns:a16="http://schemas.microsoft.com/office/drawing/2014/main" id="{A7A45C50-78C0-990C-EC94-20F7F840C5B9}"/>
              </a:ext>
            </a:extLst>
          </p:cNvPr>
          <p:cNvSpPr txBox="1"/>
          <p:nvPr/>
        </p:nvSpPr>
        <p:spPr>
          <a:xfrm>
            <a:off x="6361317" y="27030"/>
            <a:ext cx="6096000" cy="276999"/>
          </a:xfrm>
          <a:prstGeom prst="rect">
            <a:avLst/>
          </a:prstGeom>
          <a:noFill/>
        </p:spPr>
        <p:txBody>
          <a:bodyPr wrap="square">
            <a:spAutoFit/>
          </a:bodyPr>
          <a:lstStyle/>
          <a:p>
            <a:r>
              <a:rPr lang="en-US" sz="1200"/>
              <a:t>PERSONALIZED MEAL PLAN RECOMMENDATION SYSTEM  FOR VITAMIN DEFICIENCY</a:t>
            </a:r>
          </a:p>
        </p:txBody>
      </p:sp>
    </p:spTree>
    <p:extLst>
      <p:ext uri="{BB962C8B-B14F-4D97-AF65-F5344CB8AC3E}">
        <p14:creationId xmlns:p14="http://schemas.microsoft.com/office/powerpoint/2010/main" val="3095957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47352-0CA6-AF68-5E92-9DC589E6C14A}"/>
              </a:ext>
            </a:extLst>
          </p:cNvPr>
          <p:cNvSpPr>
            <a:spLocks noGrp="1"/>
          </p:cNvSpPr>
          <p:nvPr>
            <p:ph type="ctrTitle"/>
          </p:nvPr>
        </p:nvSpPr>
        <p:spPr>
          <a:xfrm>
            <a:off x="1002891" y="0"/>
            <a:ext cx="10363200" cy="1470025"/>
          </a:xfrm>
        </p:spPr>
        <p:txBody>
          <a:bodyPr/>
          <a:lstStyle/>
          <a:p>
            <a:r>
              <a:rPr lang="en-US" b="1">
                <a:latin typeface="+mn-lt"/>
              </a:rPr>
              <a:t>System Overview Diagram</a:t>
            </a:r>
          </a:p>
        </p:txBody>
      </p:sp>
      <p:pic>
        <p:nvPicPr>
          <p:cNvPr id="4" name="Picture 3">
            <a:extLst>
              <a:ext uri="{FF2B5EF4-FFF2-40B4-BE49-F238E27FC236}">
                <a16:creationId xmlns:a16="http://schemas.microsoft.com/office/drawing/2014/main" id="{F2CE7147-60C8-2746-EE32-73620EDA9C4C}"/>
              </a:ext>
            </a:extLst>
          </p:cNvPr>
          <p:cNvPicPr>
            <a:picLocks noChangeAspect="1"/>
          </p:cNvPicPr>
          <p:nvPr/>
        </p:nvPicPr>
        <p:blipFill>
          <a:blip r:embed="rId2"/>
          <a:stretch>
            <a:fillRect/>
          </a:stretch>
        </p:blipFill>
        <p:spPr>
          <a:xfrm>
            <a:off x="1868888" y="1033207"/>
            <a:ext cx="8454224" cy="5305457"/>
          </a:xfrm>
          <a:prstGeom prst="rect">
            <a:avLst/>
          </a:prstGeom>
        </p:spPr>
      </p:pic>
      <p:sp>
        <p:nvSpPr>
          <p:cNvPr id="5" name="TextBox 4">
            <a:extLst>
              <a:ext uri="{FF2B5EF4-FFF2-40B4-BE49-F238E27FC236}">
                <a16:creationId xmlns:a16="http://schemas.microsoft.com/office/drawing/2014/main" id="{F89331C7-AE96-DEBB-0E84-BACC9FF3E4F3}"/>
              </a:ext>
            </a:extLst>
          </p:cNvPr>
          <p:cNvSpPr txBox="1"/>
          <p:nvPr/>
        </p:nvSpPr>
        <p:spPr>
          <a:xfrm>
            <a:off x="6361317" y="27030"/>
            <a:ext cx="6096000" cy="276999"/>
          </a:xfrm>
          <a:prstGeom prst="rect">
            <a:avLst/>
          </a:prstGeom>
          <a:noFill/>
        </p:spPr>
        <p:txBody>
          <a:bodyPr wrap="square">
            <a:spAutoFit/>
          </a:bodyPr>
          <a:lstStyle/>
          <a:p>
            <a:r>
              <a:rPr lang="en-US" sz="1200"/>
              <a:t>PERSONALIZED MEAL PLAN RECOMMENDATION SYSTEM  FOR VITAMIN DEFICIENCY</a:t>
            </a:r>
          </a:p>
        </p:txBody>
      </p:sp>
    </p:spTree>
    <p:extLst>
      <p:ext uri="{BB962C8B-B14F-4D97-AF65-F5344CB8AC3E}">
        <p14:creationId xmlns:p14="http://schemas.microsoft.com/office/powerpoint/2010/main" val="1714690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11CC6-0E15-9404-F936-D3F3280EFB1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4E816B4-F3DF-08CF-66AF-CF50C3697099}"/>
              </a:ext>
            </a:extLst>
          </p:cNvPr>
          <p:cNvSpPr>
            <a:spLocks noGrp="1"/>
          </p:cNvSpPr>
          <p:nvPr>
            <p:ph type="title"/>
          </p:nvPr>
        </p:nvSpPr>
        <p:spPr>
          <a:xfrm>
            <a:off x="963084" y="4657901"/>
            <a:ext cx="10363200" cy="816863"/>
          </a:xfrm>
        </p:spPr>
        <p:txBody>
          <a:bodyPr/>
          <a:lstStyle/>
          <a:p>
            <a:r>
              <a:rPr lang="en-US">
                <a:latin typeface="Adobe Devanagari"/>
              </a:rPr>
              <a:t>IT22591098 | JAYALATH J P R J</a:t>
            </a:r>
          </a:p>
        </p:txBody>
      </p:sp>
      <p:sp>
        <p:nvSpPr>
          <p:cNvPr id="6" name="Text Placeholder 5">
            <a:extLst>
              <a:ext uri="{FF2B5EF4-FFF2-40B4-BE49-F238E27FC236}">
                <a16:creationId xmlns:a16="http://schemas.microsoft.com/office/drawing/2014/main" id="{9AA993D1-7DD1-D490-9718-AF2D3D733BE6}"/>
              </a:ext>
            </a:extLst>
          </p:cNvPr>
          <p:cNvSpPr>
            <a:spLocks noGrp="1"/>
          </p:cNvSpPr>
          <p:nvPr>
            <p:ph type="body" idx="1"/>
          </p:nvPr>
        </p:nvSpPr>
        <p:spPr>
          <a:xfrm>
            <a:off x="963084" y="5212080"/>
            <a:ext cx="10363200" cy="525368"/>
          </a:xfrm>
        </p:spPr>
        <p:txBody>
          <a:bodyPr/>
          <a:lstStyle/>
          <a:p>
            <a:r>
              <a:rPr lang="en-US" b="1">
                <a:solidFill>
                  <a:schemeClr val="tx1"/>
                </a:solidFill>
              </a:rPr>
              <a:t>Specialization : Information Technology</a:t>
            </a:r>
          </a:p>
        </p:txBody>
      </p:sp>
      <p:sp>
        <p:nvSpPr>
          <p:cNvPr id="4" name="Rectangle 3">
            <a:extLst>
              <a:ext uri="{FF2B5EF4-FFF2-40B4-BE49-F238E27FC236}">
                <a16:creationId xmlns:a16="http://schemas.microsoft.com/office/drawing/2014/main" id="{D71F970A-9E6F-6631-32C5-05C71E681EBE}"/>
              </a:ext>
            </a:extLst>
          </p:cNvPr>
          <p:cNvSpPr/>
          <p:nvPr/>
        </p:nvSpPr>
        <p:spPr>
          <a:xfrm>
            <a:off x="2632435" y="6496050"/>
            <a:ext cx="6816365" cy="36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b="1">
                <a:solidFill>
                  <a:schemeClr val="tx1"/>
                </a:solidFill>
              </a:rPr>
              <a:t>IT22591098</a:t>
            </a:r>
            <a:r>
              <a:rPr lang="en-US">
                <a:solidFill>
                  <a:schemeClr val="tx1"/>
                </a:solidFill>
              </a:rPr>
              <a:t>   |   </a:t>
            </a:r>
            <a:r>
              <a:rPr lang="en-US" b="1">
                <a:solidFill>
                  <a:schemeClr val="tx1"/>
                </a:solidFill>
              </a:rPr>
              <a:t>Jayalath J.P.R.J   </a:t>
            </a:r>
            <a:r>
              <a:rPr lang="en-US">
                <a:solidFill>
                  <a:schemeClr val="tx1"/>
                </a:solidFill>
              </a:rPr>
              <a:t>|   25-26J-368</a:t>
            </a:r>
          </a:p>
        </p:txBody>
      </p:sp>
      <p:pic>
        <p:nvPicPr>
          <p:cNvPr id="3" name="Picture 2">
            <a:extLst>
              <a:ext uri="{FF2B5EF4-FFF2-40B4-BE49-F238E27FC236}">
                <a16:creationId xmlns:a16="http://schemas.microsoft.com/office/drawing/2014/main" id="{76572539-A083-1BAF-D40A-6AE2A9DEB313}"/>
              </a:ext>
            </a:extLst>
          </p:cNvPr>
          <p:cNvPicPr>
            <a:picLocks noChangeAspect="1"/>
          </p:cNvPicPr>
          <p:nvPr/>
        </p:nvPicPr>
        <p:blipFill rotWithShape="1">
          <a:blip r:embed="rId2">
            <a:extLst>
              <a:ext uri="{28A0092B-C50C-407E-A947-70E740481C1C}">
                <a14:useLocalDpi xmlns:a14="http://schemas.microsoft.com/office/drawing/2010/main" val="0"/>
              </a:ext>
            </a:extLst>
          </a:blip>
          <a:srcRect t="227" b="227"/>
          <a:stretch/>
        </p:blipFill>
        <p:spPr>
          <a:xfrm>
            <a:off x="10070451" y="140208"/>
            <a:ext cx="2060448" cy="2322576"/>
          </a:xfrm>
          <a:prstGeom prst="rect">
            <a:avLst/>
          </a:prstGeom>
        </p:spPr>
      </p:pic>
      <p:sp>
        <p:nvSpPr>
          <p:cNvPr id="7" name="TextBox 6">
            <a:extLst>
              <a:ext uri="{FF2B5EF4-FFF2-40B4-BE49-F238E27FC236}">
                <a16:creationId xmlns:a16="http://schemas.microsoft.com/office/drawing/2014/main" id="{4D3A234A-A697-B556-5412-22C436A2F8F2}"/>
              </a:ext>
            </a:extLst>
          </p:cNvPr>
          <p:cNvSpPr txBox="1"/>
          <p:nvPr/>
        </p:nvSpPr>
        <p:spPr>
          <a:xfrm>
            <a:off x="963084" y="1256003"/>
            <a:ext cx="9107367" cy="1938992"/>
          </a:xfrm>
          <a:prstGeom prst="rect">
            <a:avLst/>
          </a:prstGeom>
          <a:noFill/>
        </p:spPr>
        <p:txBody>
          <a:bodyPr wrap="square">
            <a:spAutoFit/>
          </a:bodyPr>
          <a:lstStyle/>
          <a:p>
            <a:pPr lvl="0">
              <a:spcBef>
                <a:spcPct val="0"/>
              </a:spcBef>
              <a:defRPr/>
            </a:pPr>
            <a:r>
              <a:rPr lang="en-US" sz="4000" b="1">
                <a:latin typeface="Adobe Devanagari"/>
              </a:rPr>
              <a:t>POLYPHARMACY RISK SCORE </a:t>
            </a:r>
          </a:p>
          <a:p>
            <a:pPr lvl="0">
              <a:spcBef>
                <a:spcPct val="0"/>
              </a:spcBef>
              <a:defRPr/>
            </a:pPr>
            <a:r>
              <a:rPr lang="en-US" sz="4000" b="1">
                <a:latin typeface="Adobe Devanagari"/>
              </a:rPr>
              <a:t>SYSTEM BASED ON DRUG </a:t>
            </a:r>
          </a:p>
          <a:p>
            <a:pPr lvl="0">
              <a:spcBef>
                <a:spcPct val="0"/>
              </a:spcBef>
              <a:defRPr/>
            </a:pPr>
            <a:r>
              <a:rPr lang="en-US" sz="4000" b="1">
                <a:latin typeface="Adobe Devanagari"/>
              </a:rPr>
              <a:t>INTERACTION</a:t>
            </a:r>
          </a:p>
        </p:txBody>
      </p:sp>
      <p:grpSp>
        <p:nvGrpSpPr>
          <p:cNvPr id="20" name="Group 19">
            <a:extLst>
              <a:ext uri="{FF2B5EF4-FFF2-40B4-BE49-F238E27FC236}">
                <a16:creationId xmlns:a16="http://schemas.microsoft.com/office/drawing/2014/main" id="{5535BF29-94A0-5C5F-838C-7BD2A5A66361}"/>
              </a:ext>
            </a:extLst>
          </p:cNvPr>
          <p:cNvGrpSpPr/>
          <p:nvPr/>
        </p:nvGrpSpPr>
        <p:grpSpPr>
          <a:xfrm>
            <a:off x="0" y="-1"/>
            <a:ext cx="11573481" cy="6131850"/>
            <a:chOff x="0" y="-1"/>
            <a:chExt cx="11573481" cy="6131850"/>
          </a:xfrm>
        </p:grpSpPr>
        <p:sp>
          <p:nvSpPr>
            <p:cNvPr id="19" name="Half Frame 18">
              <a:extLst>
                <a:ext uri="{FF2B5EF4-FFF2-40B4-BE49-F238E27FC236}">
                  <a16:creationId xmlns:a16="http://schemas.microsoft.com/office/drawing/2014/main" id="{0D46ECA3-745A-50CA-5CB0-74997B85B661}"/>
                </a:ext>
              </a:extLst>
            </p:cNvPr>
            <p:cNvSpPr/>
            <p:nvPr/>
          </p:nvSpPr>
          <p:spPr>
            <a:xfrm>
              <a:off x="0" y="-1"/>
              <a:ext cx="2891908" cy="1727765"/>
            </a:xfrm>
            <a:prstGeom prst="halfFrame">
              <a:avLst>
                <a:gd name="adj1" fmla="val 36142"/>
                <a:gd name="adj2" fmla="val 33333"/>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mbria"/>
                <a:ea typeface="+mn-ea"/>
                <a:cs typeface="+mn-cs"/>
              </a:endParaRPr>
            </a:p>
          </p:txBody>
        </p:sp>
        <p:grpSp>
          <p:nvGrpSpPr>
            <p:cNvPr id="2" name="Group 1">
              <a:extLst>
                <a:ext uri="{FF2B5EF4-FFF2-40B4-BE49-F238E27FC236}">
                  <a16:creationId xmlns:a16="http://schemas.microsoft.com/office/drawing/2014/main" id="{C5E7E1B6-7788-3870-D537-D20A4E1A6EEC}"/>
                </a:ext>
              </a:extLst>
            </p:cNvPr>
            <p:cNvGrpSpPr/>
            <p:nvPr/>
          </p:nvGrpSpPr>
          <p:grpSpPr>
            <a:xfrm>
              <a:off x="9368879" y="4211402"/>
              <a:ext cx="2204602" cy="1920447"/>
              <a:chOff x="9368879" y="4211402"/>
              <a:chExt cx="2204602" cy="1920447"/>
            </a:xfrm>
          </p:grpSpPr>
          <p:sp>
            <p:nvSpPr>
              <p:cNvPr id="15" name="Flowchart: Connector 14">
                <a:extLst>
                  <a:ext uri="{FF2B5EF4-FFF2-40B4-BE49-F238E27FC236}">
                    <a16:creationId xmlns:a16="http://schemas.microsoft.com/office/drawing/2014/main" id="{1ED4805F-D0A6-2367-CF2E-19450F956B18}"/>
                  </a:ext>
                </a:extLst>
              </p:cNvPr>
              <p:cNvSpPr/>
              <p:nvPr/>
            </p:nvSpPr>
            <p:spPr>
              <a:xfrm>
                <a:off x="10446436" y="4368578"/>
                <a:ext cx="1127045" cy="1152961"/>
              </a:xfrm>
              <a:prstGeom prst="flowChartConnector">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solidFill>
                      <a:prstClr val="white"/>
                    </a:solidFill>
                  </a:ln>
                  <a:solidFill>
                    <a:prstClr val="white"/>
                  </a:solidFill>
                  <a:effectLst/>
                  <a:uLnTx/>
                  <a:uFillTx/>
                  <a:latin typeface="Cambria"/>
                  <a:ea typeface="+mn-ea"/>
                  <a:cs typeface="+mn-cs"/>
                </a:endParaRPr>
              </a:p>
            </p:txBody>
          </p:sp>
          <p:sp>
            <p:nvSpPr>
              <p:cNvPr id="16" name="Flowchart: Connector 15">
                <a:extLst>
                  <a:ext uri="{FF2B5EF4-FFF2-40B4-BE49-F238E27FC236}">
                    <a16:creationId xmlns:a16="http://schemas.microsoft.com/office/drawing/2014/main" id="{8F32A806-06EE-4F36-18FB-DA36317222AD}"/>
                  </a:ext>
                </a:extLst>
              </p:cNvPr>
              <p:cNvSpPr/>
              <p:nvPr/>
            </p:nvSpPr>
            <p:spPr>
              <a:xfrm>
                <a:off x="10066066" y="5454208"/>
                <a:ext cx="658021" cy="677641"/>
              </a:xfrm>
              <a:prstGeom prst="flowChartConnector">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solidFill>
                      <a:prstClr val="white"/>
                    </a:solidFill>
                  </a:ln>
                  <a:solidFill>
                    <a:prstClr val="white"/>
                  </a:solidFill>
                  <a:effectLst/>
                  <a:uLnTx/>
                  <a:uFillTx/>
                  <a:latin typeface="Cambria"/>
                  <a:ea typeface="+mn-ea"/>
                  <a:cs typeface="+mn-cs"/>
                </a:endParaRPr>
              </a:p>
            </p:txBody>
          </p:sp>
          <p:sp>
            <p:nvSpPr>
              <p:cNvPr id="17" name="Flowchart: Connector 16">
                <a:extLst>
                  <a:ext uri="{FF2B5EF4-FFF2-40B4-BE49-F238E27FC236}">
                    <a16:creationId xmlns:a16="http://schemas.microsoft.com/office/drawing/2014/main" id="{5FD30ADB-116D-976F-CCC1-C6A35EC8CBCB}"/>
                  </a:ext>
                </a:extLst>
              </p:cNvPr>
              <p:cNvSpPr/>
              <p:nvPr/>
            </p:nvSpPr>
            <p:spPr>
              <a:xfrm>
                <a:off x="9368879" y="4678037"/>
                <a:ext cx="810703" cy="814141"/>
              </a:xfrm>
              <a:prstGeom prst="flowChartConnector">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solidFill>
                      <a:prstClr val="white"/>
                    </a:solidFill>
                  </a:ln>
                  <a:solidFill>
                    <a:prstClr val="white"/>
                  </a:solidFill>
                  <a:effectLst/>
                  <a:uLnTx/>
                  <a:uFillTx/>
                  <a:latin typeface="Cambria"/>
                  <a:ea typeface="+mn-ea"/>
                  <a:cs typeface="+mn-cs"/>
                </a:endParaRPr>
              </a:p>
            </p:txBody>
          </p:sp>
          <p:sp>
            <p:nvSpPr>
              <p:cNvPr id="18" name="Flowchart: Connector 17">
                <a:extLst>
                  <a:ext uri="{FF2B5EF4-FFF2-40B4-BE49-F238E27FC236}">
                    <a16:creationId xmlns:a16="http://schemas.microsoft.com/office/drawing/2014/main" id="{1A5EBE01-CD1F-2896-2648-3F7844B11461}"/>
                  </a:ext>
                </a:extLst>
              </p:cNvPr>
              <p:cNvSpPr/>
              <p:nvPr/>
            </p:nvSpPr>
            <p:spPr>
              <a:xfrm>
                <a:off x="10110704" y="4211402"/>
                <a:ext cx="335732" cy="338820"/>
              </a:xfrm>
              <a:prstGeom prst="flowChartConnector">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solidFill>
                      <a:prstClr val="white"/>
                    </a:solidFill>
                  </a:ln>
                  <a:solidFill>
                    <a:prstClr val="white"/>
                  </a:solidFill>
                  <a:effectLst/>
                  <a:uLnTx/>
                  <a:uFillTx/>
                  <a:latin typeface="Cambria"/>
                  <a:ea typeface="+mn-ea"/>
                  <a:cs typeface="+mn-cs"/>
                </a:endParaRPr>
              </a:p>
            </p:txBody>
          </p:sp>
        </p:grpSp>
      </p:grpSp>
    </p:spTree>
    <p:extLst>
      <p:ext uri="{BB962C8B-B14F-4D97-AF65-F5344CB8AC3E}">
        <p14:creationId xmlns:p14="http://schemas.microsoft.com/office/powerpoint/2010/main" val="16860371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E7F0B-095F-560E-E7F4-15D835C72894}"/>
              </a:ext>
            </a:extLst>
          </p:cNvPr>
          <p:cNvSpPr>
            <a:spLocks noGrp="1"/>
          </p:cNvSpPr>
          <p:nvPr>
            <p:ph type="title"/>
          </p:nvPr>
        </p:nvSpPr>
        <p:spPr>
          <a:xfrm>
            <a:off x="304800" y="53623"/>
            <a:ext cx="11684000" cy="792162"/>
          </a:xfrm>
        </p:spPr>
        <p:txBody>
          <a:bodyPr/>
          <a:lstStyle/>
          <a:p>
            <a:r>
              <a:rPr lang="en-US" b="1">
                <a:solidFill>
                  <a:schemeClr val="accent1">
                    <a:lumMod val="50000"/>
                  </a:schemeClr>
                </a:solidFill>
              </a:rPr>
              <a:t>Introduction</a:t>
            </a:r>
          </a:p>
        </p:txBody>
      </p:sp>
      <p:sp>
        <p:nvSpPr>
          <p:cNvPr id="4" name="Rectangle 3">
            <a:extLst>
              <a:ext uri="{FF2B5EF4-FFF2-40B4-BE49-F238E27FC236}">
                <a16:creationId xmlns:a16="http://schemas.microsoft.com/office/drawing/2014/main" id="{9495E00B-2204-07B1-BF8F-5D5C5E671361}"/>
              </a:ext>
            </a:extLst>
          </p:cNvPr>
          <p:cNvSpPr/>
          <p:nvPr/>
        </p:nvSpPr>
        <p:spPr>
          <a:xfrm>
            <a:off x="2632436" y="6492874"/>
            <a:ext cx="5911958"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IT22591098</a:t>
            </a:r>
            <a:r>
              <a:rPr lang="en-US" sz="1800">
                <a:solidFill>
                  <a:schemeClr val="tx1"/>
                </a:solidFill>
              </a:rPr>
              <a:t>   |   </a:t>
            </a:r>
            <a:r>
              <a:rPr lang="en-US" b="1">
                <a:solidFill>
                  <a:schemeClr val="tx1"/>
                </a:solidFill>
              </a:rPr>
              <a:t>Jayalath J.P.R.J</a:t>
            </a:r>
            <a:r>
              <a:rPr lang="en-US" sz="1800" b="1">
                <a:solidFill>
                  <a:schemeClr val="tx1"/>
                </a:solidFill>
              </a:rPr>
              <a:t>   </a:t>
            </a:r>
            <a:r>
              <a:rPr lang="en-US" sz="1800">
                <a:solidFill>
                  <a:schemeClr val="tx1"/>
                </a:solidFill>
              </a:rPr>
              <a:t>|   </a:t>
            </a:r>
            <a:r>
              <a:rPr lang="en-US" sz="1800" b="0">
                <a:solidFill>
                  <a:schemeClr val="tx1"/>
                </a:solidFill>
              </a:rPr>
              <a:t>25-26J-368</a:t>
            </a:r>
          </a:p>
        </p:txBody>
      </p:sp>
      <p:sp>
        <p:nvSpPr>
          <p:cNvPr id="13" name="Content Placeholder 5">
            <a:extLst>
              <a:ext uri="{FF2B5EF4-FFF2-40B4-BE49-F238E27FC236}">
                <a16:creationId xmlns:a16="http://schemas.microsoft.com/office/drawing/2014/main" id="{7B04556D-BEEB-DFA9-8C1D-7F4A8DA28526}"/>
              </a:ext>
            </a:extLst>
          </p:cNvPr>
          <p:cNvSpPr>
            <a:spLocks noGrp="1"/>
          </p:cNvSpPr>
          <p:nvPr>
            <p:ph idx="1"/>
          </p:nvPr>
        </p:nvSpPr>
        <p:spPr>
          <a:xfrm>
            <a:off x="304800" y="996402"/>
            <a:ext cx="11684000" cy="5542157"/>
          </a:xfrm>
        </p:spPr>
        <p:txBody>
          <a:bodyPr>
            <a:normAutofit lnSpcReduction="10000"/>
          </a:bodyPr>
          <a:lstStyle/>
          <a:p>
            <a:r>
              <a:rPr lang="en-US" sz="2800"/>
              <a:t>Polypharmacy Risk Score (PRS) is a measure used to evaluate the danger of adverse drug events (ADEs) when patients take multiple medications.                                                                                                                                                       which means the use of five or more medications, is very common among     elderly patients often leads to adverse drug events.</a:t>
            </a:r>
            <a:endParaRPr lang="en-US" sz="2500"/>
          </a:p>
          <a:p>
            <a:r>
              <a:rPr lang="en-US" sz="2800"/>
              <a:t>It is calculated using:</a:t>
            </a:r>
          </a:p>
          <a:p>
            <a:pPr lvl="1"/>
            <a:r>
              <a:rPr lang="en-US" sz="2400" b="1"/>
              <a:t>Age &gt;= 65</a:t>
            </a:r>
          </a:p>
          <a:p>
            <a:pPr lvl="1"/>
            <a:r>
              <a:rPr lang="en-US" sz="2400" b="1"/>
              <a:t>Drug Count</a:t>
            </a:r>
            <a:r>
              <a:rPr lang="en-US" sz="2400"/>
              <a:t> – total number of medications.</a:t>
            </a:r>
          </a:p>
          <a:p>
            <a:pPr lvl="1"/>
            <a:r>
              <a:rPr lang="en-US" sz="2400" b="1"/>
              <a:t>High-risk medications</a:t>
            </a:r>
            <a:r>
              <a:rPr lang="en-US" sz="2400"/>
              <a:t> - (e.g., anticoagulants, antipsychotics)</a:t>
            </a:r>
          </a:p>
          <a:p>
            <a:pPr lvl="1"/>
            <a:r>
              <a:rPr lang="en-US" sz="2400" b="1"/>
              <a:t>Drug–Drug Interactions (DDIs)</a:t>
            </a:r>
            <a:r>
              <a:rPr lang="en-US" sz="2400"/>
              <a:t> – severity of interactions between drugs.</a:t>
            </a:r>
          </a:p>
          <a:p>
            <a:pPr lvl="1"/>
            <a:r>
              <a:rPr lang="en-US" sz="2400" b="1"/>
              <a:t>Patient-specific details-</a:t>
            </a:r>
            <a:r>
              <a:rPr lang="en-US" sz="2400"/>
              <a:t>like drug </a:t>
            </a:r>
            <a:r>
              <a:rPr lang="en-US" sz="2400" err="1"/>
              <a:t>count,age,kidney</a:t>
            </a:r>
            <a:r>
              <a:rPr lang="en-US" sz="2400"/>
              <a:t>/liver function</a:t>
            </a:r>
          </a:p>
          <a:p>
            <a:pPr marL="457200" lvl="1" indent="0">
              <a:buNone/>
            </a:pPr>
            <a:r>
              <a:rPr lang="en-US" sz="2400"/>
              <a:t>Solution: </a:t>
            </a:r>
            <a:r>
              <a:rPr lang="en-US" sz="2400" err="1"/>
              <a:t>Dynamic+ML+DDI</a:t>
            </a:r>
            <a:r>
              <a:rPr lang="en-US" sz="2400"/>
              <a:t> severity with patient specific </a:t>
            </a:r>
            <a:r>
              <a:rPr lang="en-US" sz="2400" err="1"/>
              <a:t>factores</a:t>
            </a:r>
            <a:r>
              <a:rPr lang="en-US" sz="2400"/>
              <a:t> to generate a predictive risk</a:t>
            </a:r>
          </a:p>
          <a:p>
            <a:pPr lvl="1">
              <a:buFont typeface="Arial" panose="020B0604020202020204" pitchFamily="34" charset="0"/>
              <a:buChar char="•"/>
            </a:pPr>
            <a:r>
              <a:rPr lang="en-US" sz="2400"/>
              <a:t>The score is usually presented as </a:t>
            </a:r>
            <a:r>
              <a:rPr lang="en-US" sz="2400" b="1"/>
              <a:t>Low / Moderate / High risk</a:t>
            </a:r>
            <a:r>
              <a:rPr lang="en-US" sz="2400"/>
              <a:t>. With Percentage %</a:t>
            </a:r>
          </a:p>
        </p:txBody>
      </p:sp>
      <p:pic>
        <p:nvPicPr>
          <p:cNvPr id="16" name="Picture 15" descr="A screenshot of a computer&#10;&#10;AI-generated content may be incorrect.">
            <a:extLst>
              <a:ext uri="{FF2B5EF4-FFF2-40B4-BE49-F238E27FC236}">
                <a16:creationId xmlns:a16="http://schemas.microsoft.com/office/drawing/2014/main" id="{7C988259-D431-F63B-04A0-4117941FF858}"/>
              </a:ext>
            </a:extLst>
          </p:cNvPr>
          <p:cNvPicPr>
            <a:picLocks noChangeAspect="1"/>
          </p:cNvPicPr>
          <p:nvPr/>
        </p:nvPicPr>
        <p:blipFill rotWithShape="1">
          <a:blip r:embed="rId2">
            <a:extLst>
              <a:ext uri="{28A0092B-C50C-407E-A947-70E740481C1C}">
                <a14:useLocalDpi xmlns:a14="http://schemas.microsoft.com/office/drawing/2010/main" val="0"/>
              </a:ext>
            </a:extLst>
          </a:blip>
          <a:srcRect l="42807" t="43333" r="36057" b="22418"/>
          <a:stretch/>
        </p:blipFill>
        <p:spPr>
          <a:xfrm>
            <a:off x="9645876" y="2382152"/>
            <a:ext cx="1480457" cy="1524473"/>
          </a:xfrm>
          <a:prstGeom prst="rect">
            <a:avLst/>
          </a:prstGeom>
        </p:spPr>
      </p:pic>
      <p:pic>
        <p:nvPicPr>
          <p:cNvPr id="2057" name="Picture 9">
            <a:extLst>
              <a:ext uri="{FF2B5EF4-FFF2-40B4-BE49-F238E27FC236}">
                <a16:creationId xmlns:a16="http://schemas.microsoft.com/office/drawing/2014/main" id="{25A9C3A5-6016-631B-C8A3-1E1852D813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2497" y="2601238"/>
            <a:ext cx="1086303" cy="1086303"/>
          </a:xfrm>
          <a:prstGeom prst="rect">
            <a:avLst/>
          </a:prstGeom>
          <a:noFill/>
          <a:extLst>
            <a:ext uri="{909E8E84-426E-40DD-AFC4-6F175D3DCCD1}">
              <a14:hiddenFill xmlns:a14="http://schemas.microsoft.com/office/drawing/2010/main">
                <a:solidFill>
                  <a:srgbClr val="FFFFFF"/>
                </a:solidFill>
              </a14:hiddenFill>
            </a:ext>
          </a:extLst>
        </p:spPr>
      </p:pic>
      <p:pic>
        <p:nvPicPr>
          <p:cNvPr id="2059" name="Picture 11">
            <a:extLst>
              <a:ext uri="{FF2B5EF4-FFF2-40B4-BE49-F238E27FC236}">
                <a16:creationId xmlns:a16="http://schemas.microsoft.com/office/drawing/2014/main" id="{E08C3E71-9B16-0C8C-21FC-7DCFA04212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7833744" y="2182363"/>
            <a:ext cx="1924050" cy="19240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BB5BF97-6EEB-8443-B3C6-68173D9F1BBD}"/>
              </a:ext>
            </a:extLst>
          </p:cNvPr>
          <p:cNvSpPr txBox="1"/>
          <p:nvPr/>
        </p:nvSpPr>
        <p:spPr>
          <a:xfrm>
            <a:off x="7635482" y="-36848"/>
            <a:ext cx="4765016" cy="461665"/>
          </a:xfrm>
          <a:prstGeom prst="rect">
            <a:avLst/>
          </a:prstGeom>
          <a:noFill/>
        </p:spPr>
        <p:txBody>
          <a:bodyPr wrap="square">
            <a:spAutoFit/>
          </a:bodyPr>
          <a:lstStyle/>
          <a:p>
            <a:pPr lvl="0">
              <a:spcBef>
                <a:spcPct val="0"/>
              </a:spcBef>
              <a:defRPr/>
            </a:pPr>
            <a:r>
              <a:rPr lang="en-US" sz="1200" b="1">
                <a:latin typeface="Adobe Devanagari"/>
              </a:rPr>
              <a:t>POLYPHARMACY RISK SCORE SYSTEM BASED ON DRUG INTERACTION</a:t>
            </a:r>
          </a:p>
          <a:p>
            <a:endParaRPr lang="en-US" sz="1200"/>
          </a:p>
        </p:txBody>
      </p:sp>
    </p:spTree>
    <p:extLst>
      <p:ext uri="{BB962C8B-B14F-4D97-AF65-F5344CB8AC3E}">
        <p14:creationId xmlns:p14="http://schemas.microsoft.com/office/powerpoint/2010/main" val="28929177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9C7B9-5B3E-1AD6-59CC-E59533361496}"/>
              </a:ext>
            </a:extLst>
          </p:cNvPr>
          <p:cNvSpPr>
            <a:spLocks noGrp="1"/>
          </p:cNvSpPr>
          <p:nvPr>
            <p:ph type="title"/>
          </p:nvPr>
        </p:nvSpPr>
        <p:spPr>
          <a:xfrm>
            <a:off x="304802" y="0"/>
            <a:ext cx="11684000" cy="792162"/>
          </a:xfrm>
        </p:spPr>
        <p:txBody>
          <a:bodyPr/>
          <a:lstStyle/>
          <a:p>
            <a:r>
              <a:rPr lang="en-US" b="1">
                <a:solidFill>
                  <a:schemeClr val="accent1">
                    <a:lumMod val="50000"/>
                  </a:schemeClr>
                </a:solidFill>
              </a:rPr>
              <a:t>Research Gap</a:t>
            </a:r>
          </a:p>
        </p:txBody>
      </p:sp>
      <p:graphicFrame>
        <p:nvGraphicFramePr>
          <p:cNvPr id="4" name="Table 3">
            <a:extLst>
              <a:ext uri="{FF2B5EF4-FFF2-40B4-BE49-F238E27FC236}">
                <a16:creationId xmlns:a16="http://schemas.microsoft.com/office/drawing/2014/main" id="{079FA315-7CFC-C836-6F20-1F1612B0D7A7}"/>
              </a:ext>
            </a:extLst>
          </p:cNvPr>
          <p:cNvGraphicFramePr>
            <a:graphicFrameLocks noGrp="1"/>
          </p:cNvGraphicFramePr>
          <p:nvPr/>
        </p:nvGraphicFramePr>
        <p:xfrm>
          <a:off x="273316" y="922108"/>
          <a:ext cx="11578801" cy="4486074"/>
        </p:xfrm>
        <a:graphic>
          <a:graphicData uri="http://schemas.openxmlformats.org/drawingml/2006/table">
            <a:tbl>
              <a:tblPr firstRow="1" bandRow="1">
                <a:tableStyleId>{5C22544A-7EE6-4342-B048-85BDC9FD1C3A}</a:tableStyleId>
              </a:tblPr>
              <a:tblGrid>
                <a:gridCol w="4196341">
                  <a:extLst>
                    <a:ext uri="{9D8B030D-6E8A-4147-A177-3AD203B41FA5}">
                      <a16:colId xmlns:a16="http://schemas.microsoft.com/office/drawing/2014/main" val="1099848573"/>
                    </a:ext>
                  </a:extLst>
                </a:gridCol>
                <a:gridCol w="1457800">
                  <a:extLst>
                    <a:ext uri="{9D8B030D-6E8A-4147-A177-3AD203B41FA5}">
                      <a16:colId xmlns:a16="http://schemas.microsoft.com/office/drawing/2014/main" val="3613942180"/>
                    </a:ext>
                  </a:extLst>
                </a:gridCol>
                <a:gridCol w="1442773">
                  <a:extLst>
                    <a:ext uri="{9D8B030D-6E8A-4147-A177-3AD203B41FA5}">
                      <a16:colId xmlns:a16="http://schemas.microsoft.com/office/drawing/2014/main" val="108159593"/>
                    </a:ext>
                  </a:extLst>
                </a:gridCol>
                <a:gridCol w="1412713">
                  <a:extLst>
                    <a:ext uri="{9D8B030D-6E8A-4147-A177-3AD203B41FA5}">
                      <a16:colId xmlns:a16="http://schemas.microsoft.com/office/drawing/2014/main" val="1166145961"/>
                    </a:ext>
                  </a:extLst>
                </a:gridCol>
                <a:gridCol w="1412713">
                  <a:extLst>
                    <a:ext uri="{9D8B030D-6E8A-4147-A177-3AD203B41FA5}">
                      <a16:colId xmlns:a16="http://schemas.microsoft.com/office/drawing/2014/main" val="1496909282"/>
                    </a:ext>
                  </a:extLst>
                </a:gridCol>
                <a:gridCol w="1656461">
                  <a:extLst>
                    <a:ext uri="{9D8B030D-6E8A-4147-A177-3AD203B41FA5}">
                      <a16:colId xmlns:a16="http://schemas.microsoft.com/office/drawing/2014/main" val="1666867599"/>
                    </a:ext>
                  </a:extLst>
                </a:gridCol>
              </a:tblGrid>
              <a:tr h="580636">
                <a:tc>
                  <a:txBody>
                    <a:bodyPr/>
                    <a:lstStyle/>
                    <a:p>
                      <a:r>
                        <a:rPr lang="en-US"/>
                        <a:t>Features</a:t>
                      </a:r>
                    </a:p>
                  </a:txBody>
                  <a:tcPr/>
                </a:tc>
                <a:tc>
                  <a:txBody>
                    <a:bodyPr/>
                    <a:lstStyle/>
                    <a:p>
                      <a:r>
                        <a:rPr lang="en-US"/>
                        <a:t>Research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Research 2</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Research 3</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Research 4</a:t>
                      </a:r>
                    </a:p>
                    <a:p>
                      <a:endParaRPr lang="en-US"/>
                    </a:p>
                  </a:txBody>
                  <a:tcPr/>
                </a:tc>
                <a:tc>
                  <a:txBody>
                    <a:bodyPr/>
                    <a:lstStyle/>
                    <a:p>
                      <a:r>
                        <a:rPr lang="en-US"/>
                        <a:t>Proposed</a:t>
                      </a:r>
                    </a:p>
                  </a:txBody>
                  <a:tcPr/>
                </a:tc>
                <a:extLst>
                  <a:ext uri="{0D108BD9-81ED-4DB2-BD59-A6C34878D82A}">
                    <a16:rowId xmlns:a16="http://schemas.microsoft.com/office/drawing/2014/main" val="1374390694"/>
                  </a:ext>
                </a:extLst>
              </a:tr>
              <a:tr h="618982">
                <a:tc>
                  <a:txBody>
                    <a:bodyPr/>
                    <a:lstStyle/>
                    <a:p>
                      <a:r>
                        <a:rPr lang="en-US" sz="1800">
                          <a:solidFill>
                            <a:srgbClr val="000000"/>
                          </a:solidFill>
                          <a:effectLst/>
                          <a:latin typeface="Times New Roman" panose="02020603050405020304" pitchFamily="18" charset="0"/>
                          <a:ea typeface="Times New Roman" panose="02020603050405020304" pitchFamily="18" charset="0"/>
                        </a:rPr>
                        <a:t>Drug Count and Age-based Scoring</a:t>
                      </a:r>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850929305"/>
                  </a:ext>
                </a:extLst>
              </a:tr>
              <a:tr h="806753">
                <a:tc>
                  <a:txBody>
                    <a:bodyPr/>
                    <a:lstStyle/>
                    <a:p>
                      <a:r>
                        <a:rPr lang="en-US"/>
                        <a:t>Use of Patient-specific Factors</a:t>
                      </a:r>
                    </a:p>
                    <a:p>
                      <a:r>
                        <a:rPr lang="en-US"/>
                        <a:t>(age,drug count,</a:t>
                      </a:r>
                      <a:r>
                        <a:rPr lang="en-US" sz="1800"/>
                        <a:t> kidney/liver function)</a:t>
                      </a:r>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928910184"/>
                  </a:ext>
                </a:extLst>
              </a:tr>
              <a:tr h="806753">
                <a:tc>
                  <a:txBody>
                    <a:bodyPr/>
                    <a:lstStyle/>
                    <a:p>
                      <a:r>
                        <a:rPr lang="en-US" sz="1800" kern="1200">
                          <a:solidFill>
                            <a:schemeClr val="dk1"/>
                          </a:solidFill>
                          <a:effectLst/>
                          <a:latin typeface="+mn-lt"/>
                          <a:ea typeface="+mn-ea"/>
                          <a:cs typeface="+mn-cs"/>
                        </a:rPr>
                        <a:t>Integration of DDI Severity for polypharmacy Risk Score</a:t>
                      </a:r>
                      <a:endParaRPr lang="en-US"/>
                    </a:p>
                  </a:txBody>
                  <a:tcPr/>
                </a:tc>
                <a:tc>
                  <a:txBody>
                    <a:bodyPr/>
                    <a:lstStyle/>
                    <a:p>
                      <a:endParaRPr lang="en-US"/>
                    </a:p>
                  </a:txBody>
                  <a:tcPr/>
                </a:tc>
                <a:tc>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endParaRPr lang="en-US"/>
                    </a:p>
                  </a:txBody>
                  <a:tcPr/>
                </a:tc>
                <a:extLst>
                  <a:ext uri="{0D108BD9-81ED-4DB2-BD59-A6C34878D82A}">
                    <a16:rowId xmlns:a16="http://schemas.microsoft.com/office/drawing/2014/main" val="3397355705"/>
                  </a:ext>
                </a:extLst>
              </a:tr>
              <a:tr h="806753">
                <a:tc>
                  <a:txBody>
                    <a:bodyPr/>
                    <a:lstStyle/>
                    <a:p>
                      <a:r>
                        <a:rPr lang="en-US" sz="1800" kern="1200">
                          <a:solidFill>
                            <a:schemeClr val="dk1"/>
                          </a:solidFill>
                          <a:effectLst/>
                          <a:latin typeface="+mn-lt"/>
                          <a:ea typeface="+mn-ea"/>
                          <a:cs typeface="+mn-cs"/>
                        </a:rPr>
                        <a:t>Dynamic ML powered + EB Polypharmacy Risk Score System</a:t>
                      </a:r>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18118218"/>
                  </a:ext>
                </a:extLst>
              </a:tr>
              <a:tr h="806753">
                <a:tc>
                  <a:txBody>
                    <a:bodyPr/>
                    <a:lstStyle/>
                    <a:p>
                      <a:r>
                        <a:rPr lang="en-US" sz="1800" kern="1200">
                          <a:solidFill>
                            <a:schemeClr val="dk1"/>
                          </a:solidFill>
                          <a:effectLst/>
                          <a:latin typeface="+mn-lt"/>
                          <a:ea typeface="+mn-ea"/>
                          <a:cs typeface="+mn-cs"/>
                        </a:rPr>
                        <a:t>Clinical Decision Support (Alerts &amp;Recommendation</a:t>
                      </a:r>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57382250"/>
                  </a:ext>
                </a:extLst>
              </a:tr>
            </a:tbl>
          </a:graphicData>
        </a:graphic>
      </p:graphicFrame>
      <p:grpSp>
        <p:nvGrpSpPr>
          <p:cNvPr id="35" name="Group 34">
            <a:extLst>
              <a:ext uri="{FF2B5EF4-FFF2-40B4-BE49-F238E27FC236}">
                <a16:creationId xmlns:a16="http://schemas.microsoft.com/office/drawing/2014/main" id="{E875A0DB-69F2-4A68-3B81-033B93FD40B6}"/>
              </a:ext>
            </a:extLst>
          </p:cNvPr>
          <p:cNvGrpSpPr/>
          <p:nvPr/>
        </p:nvGrpSpPr>
        <p:grpSpPr>
          <a:xfrm>
            <a:off x="4827639" y="1521809"/>
            <a:ext cx="6405732" cy="3851136"/>
            <a:chOff x="4934071" y="1363987"/>
            <a:chExt cx="6297062" cy="3309384"/>
          </a:xfrm>
        </p:grpSpPr>
        <p:pic>
          <p:nvPicPr>
            <p:cNvPr id="5" name="Graphic 4" descr="Badge Cross with solid fill">
              <a:extLst>
                <a:ext uri="{FF2B5EF4-FFF2-40B4-BE49-F238E27FC236}">
                  <a16:creationId xmlns:a16="http://schemas.microsoft.com/office/drawing/2014/main" id="{2D32F94F-4815-FC85-56D7-AF91709796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34072" y="3337594"/>
              <a:ext cx="611741" cy="611741"/>
            </a:xfrm>
            <a:prstGeom prst="rect">
              <a:avLst/>
            </a:prstGeom>
          </p:spPr>
        </p:pic>
        <p:pic>
          <p:nvPicPr>
            <p:cNvPr id="6" name="Graphic 5" descr="Badge Tick1 with solid fill">
              <a:extLst>
                <a:ext uri="{FF2B5EF4-FFF2-40B4-BE49-F238E27FC236}">
                  <a16:creationId xmlns:a16="http://schemas.microsoft.com/office/drawing/2014/main" id="{64C6F882-C64C-73BA-C9B1-AD272D6034F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34071" y="1363987"/>
              <a:ext cx="611741" cy="611741"/>
            </a:xfrm>
            <a:prstGeom prst="rect">
              <a:avLst/>
            </a:prstGeom>
          </p:spPr>
        </p:pic>
        <p:pic>
          <p:nvPicPr>
            <p:cNvPr id="7" name="Graphic 6">
              <a:extLst>
                <a:ext uri="{FF2B5EF4-FFF2-40B4-BE49-F238E27FC236}">
                  <a16:creationId xmlns:a16="http://schemas.microsoft.com/office/drawing/2014/main" id="{AFADB7EB-8495-00D3-C8C8-F5A2BB78CF45}"/>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19059" y="1406121"/>
              <a:ext cx="611741" cy="611741"/>
            </a:xfrm>
            <a:prstGeom prst="rect">
              <a:avLst/>
            </a:prstGeom>
          </p:spPr>
        </p:pic>
        <p:pic>
          <p:nvPicPr>
            <p:cNvPr id="8" name="Graphic 7" descr="Badge Tick1 with solid fill">
              <a:extLst>
                <a:ext uri="{FF2B5EF4-FFF2-40B4-BE49-F238E27FC236}">
                  <a16:creationId xmlns:a16="http://schemas.microsoft.com/office/drawing/2014/main" id="{026A77B7-2DB0-1230-C016-65C3FED110A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69451" y="1383923"/>
              <a:ext cx="611741" cy="611741"/>
            </a:xfrm>
            <a:prstGeom prst="rect">
              <a:avLst/>
            </a:prstGeom>
          </p:spPr>
        </p:pic>
        <p:pic>
          <p:nvPicPr>
            <p:cNvPr id="9" name="Graphic 8" descr="Badge Tick1 with solid fill">
              <a:extLst>
                <a:ext uri="{FF2B5EF4-FFF2-40B4-BE49-F238E27FC236}">
                  <a16:creationId xmlns:a16="http://schemas.microsoft.com/office/drawing/2014/main" id="{345219E4-1A28-4AD5-C085-C40FF5202C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18250" y="1370606"/>
              <a:ext cx="611741" cy="611741"/>
            </a:xfrm>
            <a:prstGeom prst="rect">
              <a:avLst/>
            </a:prstGeom>
          </p:spPr>
        </p:pic>
        <p:pic>
          <p:nvPicPr>
            <p:cNvPr id="10" name="Graphic 9" descr="Badge Cross with solid fill">
              <a:extLst>
                <a:ext uri="{FF2B5EF4-FFF2-40B4-BE49-F238E27FC236}">
                  <a16:creationId xmlns:a16="http://schemas.microsoft.com/office/drawing/2014/main" id="{F0826B08-B1FC-EA3B-1935-E517EB6F90E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9451" y="3366991"/>
              <a:ext cx="611741" cy="611741"/>
            </a:xfrm>
            <a:prstGeom prst="rect">
              <a:avLst/>
            </a:prstGeom>
          </p:spPr>
        </p:pic>
        <p:pic>
          <p:nvPicPr>
            <p:cNvPr id="11" name="Graphic 10" descr="Badge Cross with solid fill">
              <a:extLst>
                <a:ext uri="{FF2B5EF4-FFF2-40B4-BE49-F238E27FC236}">
                  <a16:creationId xmlns:a16="http://schemas.microsoft.com/office/drawing/2014/main" id="{68821BEC-59E5-815D-CC57-76E2A316C2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18251" y="3337591"/>
              <a:ext cx="611741" cy="611741"/>
            </a:xfrm>
            <a:prstGeom prst="rect">
              <a:avLst/>
            </a:prstGeom>
          </p:spPr>
        </p:pic>
        <p:pic>
          <p:nvPicPr>
            <p:cNvPr id="12" name="Graphic 11" descr="Badge Cross with solid fill">
              <a:extLst>
                <a:ext uri="{FF2B5EF4-FFF2-40B4-BE49-F238E27FC236}">
                  <a16:creationId xmlns:a16="http://schemas.microsoft.com/office/drawing/2014/main" id="{76511317-385E-6A84-0BA4-805B53EC68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8685" y="3337589"/>
              <a:ext cx="611741" cy="611741"/>
            </a:xfrm>
            <a:prstGeom prst="rect">
              <a:avLst/>
            </a:prstGeom>
          </p:spPr>
        </p:pic>
        <p:pic>
          <p:nvPicPr>
            <p:cNvPr id="13" name="Graphic 12" descr="Badge Cross with solid fill">
              <a:extLst>
                <a:ext uri="{FF2B5EF4-FFF2-40B4-BE49-F238E27FC236}">
                  <a16:creationId xmlns:a16="http://schemas.microsoft.com/office/drawing/2014/main" id="{43962A24-3EAA-F3E0-A64D-2988778221A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34071" y="2666385"/>
              <a:ext cx="611741" cy="611741"/>
            </a:xfrm>
            <a:prstGeom prst="rect">
              <a:avLst/>
            </a:prstGeom>
          </p:spPr>
        </p:pic>
        <p:pic>
          <p:nvPicPr>
            <p:cNvPr id="14" name="Graphic 13" descr="Badge Tick1 with solid fill">
              <a:extLst>
                <a:ext uri="{FF2B5EF4-FFF2-40B4-BE49-F238E27FC236}">
                  <a16:creationId xmlns:a16="http://schemas.microsoft.com/office/drawing/2014/main" id="{E7E87CCF-B401-8B31-33D2-A527B1FA635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11546" y="3337590"/>
              <a:ext cx="611741" cy="611741"/>
            </a:xfrm>
            <a:prstGeom prst="rect">
              <a:avLst/>
            </a:prstGeom>
          </p:spPr>
        </p:pic>
        <p:pic>
          <p:nvPicPr>
            <p:cNvPr id="15" name="Graphic 14">
              <a:extLst>
                <a:ext uri="{FF2B5EF4-FFF2-40B4-BE49-F238E27FC236}">
                  <a16:creationId xmlns:a16="http://schemas.microsoft.com/office/drawing/2014/main" id="{F703275F-2B11-B92B-E7BA-3F4F422EDBA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6369451" y="2658281"/>
              <a:ext cx="611741" cy="611741"/>
            </a:xfrm>
            <a:prstGeom prst="rect">
              <a:avLst/>
            </a:prstGeom>
          </p:spPr>
        </p:pic>
        <p:pic>
          <p:nvPicPr>
            <p:cNvPr id="16" name="Graphic 15" descr="Badge Tick1 with solid fill">
              <a:extLst>
                <a:ext uri="{FF2B5EF4-FFF2-40B4-BE49-F238E27FC236}">
                  <a16:creationId xmlns:a16="http://schemas.microsoft.com/office/drawing/2014/main" id="{926E70D8-3109-D8DE-B47D-5DE860601CB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10475" y="2658281"/>
              <a:ext cx="611741" cy="611741"/>
            </a:xfrm>
            <a:prstGeom prst="rect">
              <a:avLst/>
            </a:prstGeom>
          </p:spPr>
        </p:pic>
        <p:pic>
          <p:nvPicPr>
            <p:cNvPr id="17" name="Graphic 16" descr="Badge Cross with solid fill">
              <a:extLst>
                <a:ext uri="{FF2B5EF4-FFF2-40B4-BE49-F238E27FC236}">
                  <a16:creationId xmlns:a16="http://schemas.microsoft.com/office/drawing/2014/main" id="{1BDF0C3F-AEF1-70C6-56DD-84F9536D8A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55772" y="4033873"/>
              <a:ext cx="611741" cy="611741"/>
            </a:xfrm>
            <a:prstGeom prst="rect">
              <a:avLst/>
            </a:prstGeom>
          </p:spPr>
        </p:pic>
        <p:pic>
          <p:nvPicPr>
            <p:cNvPr id="18" name="Graphic 17" descr="Badge Cross with solid fill">
              <a:extLst>
                <a:ext uri="{FF2B5EF4-FFF2-40B4-BE49-F238E27FC236}">
                  <a16:creationId xmlns:a16="http://schemas.microsoft.com/office/drawing/2014/main" id="{02CB32AC-F00B-F6A5-DBBE-4490822D32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34072" y="4061630"/>
              <a:ext cx="611741" cy="611741"/>
            </a:xfrm>
            <a:prstGeom prst="rect">
              <a:avLst/>
            </a:prstGeom>
          </p:spPr>
        </p:pic>
        <p:pic>
          <p:nvPicPr>
            <p:cNvPr id="19" name="Graphic 18" descr="Badge Tick1 with solid fill">
              <a:extLst>
                <a:ext uri="{FF2B5EF4-FFF2-40B4-BE49-F238E27FC236}">
                  <a16:creationId xmlns:a16="http://schemas.microsoft.com/office/drawing/2014/main" id="{7627F14A-01D9-ABA9-49E9-1ABDF287B26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18250" y="4023427"/>
              <a:ext cx="611741" cy="611741"/>
            </a:xfrm>
            <a:prstGeom prst="rect">
              <a:avLst/>
            </a:prstGeom>
          </p:spPr>
        </p:pic>
        <p:pic>
          <p:nvPicPr>
            <p:cNvPr id="20" name="Graphic 19" descr="Badge Cross with solid fill">
              <a:extLst>
                <a:ext uri="{FF2B5EF4-FFF2-40B4-BE49-F238E27FC236}">
                  <a16:creationId xmlns:a16="http://schemas.microsoft.com/office/drawing/2014/main" id="{3277A919-1F52-8AA7-385D-3E6A73A9314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60363" y="4044996"/>
              <a:ext cx="611741" cy="611741"/>
            </a:xfrm>
            <a:prstGeom prst="rect">
              <a:avLst/>
            </a:prstGeom>
          </p:spPr>
        </p:pic>
        <p:pic>
          <p:nvPicPr>
            <p:cNvPr id="21" name="Graphic 20" descr="Badge Tick1 with solid fill">
              <a:extLst>
                <a:ext uri="{FF2B5EF4-FFF2-40B4-BE49-F238E27FC236}">
                  <a16:creationId xmlns:a16="http://schemas.microsoft.com/office/drawing/2014/main" id="{F7998DC9-1124-3E3B-D777-56D80C9E3E1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19392" y="4049271"/>
              <a:ext cx="611741" cy="611741"/>
            </a:xfrm>
            <a:prstGeom prst="rect">
              <a:avLst/>
            </a:prstGeom>
          </p:spPr>
        </p:pic>
        <p:pic>
          <p:nvPicPr>
            <p:cNvPr id="22" name="Graphic 21" descr="Badge Cross with solid fill">
              <a:extLst>
                <a:ext uri="{FF2B5EF4-FFF2-40B4-BE49-F238E27FC236}">
                  <a16:creationId xmlns:a16="http://schemas.microsoft.com/office/drawing/2014/main" id="{2DD9CC8F-E278-A1C6-B038-CB7485654F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18250" y="2674184"/>
              <a:ext cx="611741" cy="611741"/>
            </a:xfrm>
            <a:prstGeom prst="rect">
              <a:avLst/>
            </a:prstGeom>
          </p:spPr>
        </p:pic>
        <p:pic>
          <p:nvPicPr>
            <p:cNvPr id="23" name="Graphic 22">
              <a:extLst>
                <a:ext uri="{FF2B5EF4-FFF2-40B4-BE49-F238E27FC236}">
                  <a16:creationId xmlns:a16="http://schemas.microsoft.com/office/drawing/2014/main" id="{BB488C19-DC47-2A74-98A6-C5101F44E87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7733" y="2666463"/>
              <a:ext cx="611741" cy="611741"/>
            </a:xfrm>
            <a:prstGeom prst="rect">
              <a:avLst/>
            </a:prstGeom>
          </p:spPr>
        </p:pic>
        <p:pic>
          <p:nvPicPr>
            <p:cNvPr id="24" name="Graphic 23" descr="Badge Tick1 with solid fill">
              <a:extLst>
                <a:ext uri="{FF2B5EF4-FFF2-40B4-BE49-F238E27FC236}">
                  <a16:creationId xmlns:a16="http://schemas.microsoft.com/office/drawing/2014/main" id="{6FE50D08-A699-1DCB-A5DA-CAC3CA76597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10475" y="1370606"/>
              <a:ext cx="611741" cy="611741"/>
            </a:xfrm>
            <a:prstGeom prst="rect">
              <a:avLst/>
            </a:prstGeom>
          </p:spPr>
        </p:pic>
        <p:pic>
          <p:nvPicPr>
            <p:cNvPr id="25" name="Graphic 24" descr="Badge Cross with solid fill">
              <a:extLst>
                <a:ext uri="{FF2B5EF4-FFF2-40B4-BE49-F238E27FC236}">
                  <a16:creationId xmlns:a16="http://schemas.microsoft.com/office/drawing/2014/main" id="{52DEFDC5-7362-EDFF-F7B6-232453D6C0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34071" y="1995177"/>
              <a:ext cx="611741" cy="611741"/>
            </a:xfrm>
            <a:prstGeom prst="rect">
              <a:avLst/>
            </a:prstGeom>
          </p:spPr>
        </p:pic>
        <p:pic>
          <p:nvPicPr>
            <p:cNvPr id="26" name="Graphic 25" descr="Badge Cross with solid fill">
              <a:extLst>
                <a:ext uri="{FF2B5EF4-FFF2-40B4-BE49-F238E27FC236}">
                  <a16:creationId xmlns:a16="http://schemas.microsoft.com/office/drawing/2014/main" id="{E10485A5-0033-E6ED-D293-79FC914FE69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38774" y="1998998"/>
              <a:ext cx="611741" cy="611741"/>
            </a:xfrm>
            <a:prstGeom prst="rect">
              <a:avLst/>
            </a:prstGeom>
          </p:spPr>
        </p:pic>
        <p:pic>
          <p:nvPicPr>
            <p:cNvPr id="27" name="Graphic 26" descr="Badge Tick1 with solid fill">
              <a:extLst>
                <a:ext uri="{FF2B5EF4-FFF2-40B4-BE49-F238E27FC236}">
                  <a16:creationId xmlns:a16="http://schemas.microsoft.com/office/drawing/2014/main" id="{75EF70ED-E053-4B0E-AEB0-F84A226C57F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69451" y="2010978"/>
              <a:ext cx="611741" cy="611741"/>
            </a:xfrm>
            <a:prstGeom prst="rect">
              <a:avLst/>
            </a:prstGeom>
          </p:spPr>
        </p:pic>
        <p:pic>
          <p:nvPicPr>
            <p:cNvPr id="29" name="Graphic 28" descr="Badge Tick1 with solid fill">
              <a:extLst>
                <a:ext uri="{FF2B5EF4-FFF2-40B4-BE49-F238E27FC236}">
                  <a16:creationId xmlns:a16="http://schemas.microsoft.com/office/drawing/2014/main" id="{AEF89941-0B21-F061-42B8-55716C842A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18250" y="1988347"/>
              <a:ext cx="611741" cy="611741"/>
            </a:xfrm>
            <a:prstGeom prst="rect">
              <a:avLst/>
            </a:prstGeom>
          </p:spPr>
        </p:pic>
        <p:pic>
          <p:nvPicPr>
            <p:cNvPr id="30" name="Graphic 29" descr="Badge Tick1 with solid fill">
              <a:extLst>
                <a:ext uri="{FF2B5EF4-FFF2-40B4-BE49-F238E27FC236}">
                  <a16:creationId xmlns:a16="http://schemas.microsoft.com/office/drawing/2014/main" id="{D0A51587-9543-B408-FF79-C53C9DB8D86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19392" y="2005784"/>
              <a:ext cx="611741" cy="611741"/>
            </a:xfrm>
            <a:prstGeom prst="rect">
              <a:avLst/>
            </a:prstGeom>
          </p:spPr>
        </p:pic>
      </p:grpSp>
      <p:pic>
        <p:nvPicPr>
          <p:cNvPr id="31" name="Graphic 30" descr="Badge Cross with solid fill">
            <a:extLst>
              <a:ext uri="{FF2B5EF4-FFF2-40B4-BE49-F238E27FC236}">
                <a16:creationId xmlns:a16="http://schemas.microsoft.com/office/drawing/2014/main" id="{AB684AE8-BEEE-9800-FBDD-FF01D283D3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81977" y="5855420"/>
            <a:ext cx="451362" cy="451362"/>
          </a:xfrm>
          <a:prstGeom prst="rect">
            <a:avLst/>
          </a:prstGeom>
        </p:spPr>
      </p:pic>
      <p:sp>
        <p:nvSpPr>
          <p:cNvPr id="32" name="TextBox 31">
            <a:extLst>
              <a:ext uri="{FF2B5EF4-FFF2-40B4-BE49-F238E27FC236}">
                <a16:creationId xmlns:a16="http://schemas.microsoft.com/office/drawing/2014/main" id="{28019E32-F1CF-600F-DD20-69A954452FF6}"/>
              </a:ext>
            </a:extLst>
          </p:cNvPr>
          <p:cNvSpPr txBox="1"/>
          <p:nvPr/>
        </p:nvSpPr>
        <p:spPr>
          <a:xfrm>
            <a:off x="10433339" y="5869882"/>
            <a:ext cx="2225040" cy="369332"/>
          </a:xfrm>
          <a:prstGeom prst="rect">
            <a:avLst/>
          </a:prstGeom>
          <a:noFill/>
        </p:spPr>
        <p:txBody>
          <a:bodyPr wrap="square" rtlCol="0">
            <a:spAutoFit/>
          </a:bodyPr>
          <a:lstStyle/>
          <a:p>
            <a:r>
              <a:rPr lang="en-US"/>
              <a:t>Not Addressed</a:t>
            </a:r>
          </a:p>
        </p:txBody>
      </p:sp>
      <p:sp>
        <p:nvSpPr>
          <p:cNvPr id="33" name="TextBox 32">
            <a:extLst>
              <a:ext uri="{FF2B5EF4-FFF2-40B4-BE49-F238E27FC236}">
                <a16:creationId xmlns:a16="http://schemas.microsoft.com/office/drawing/2014/main" id="{0903A694-0FA6-2E64-983F-CA52FA825C58}"/>
              </a:ext>
            </a:extLst>
          </p:cNvPr>
          <p:cNvSpPr txBox="1"/>
          <p:nvPr/>
        </p:nvSpPr>
        <p:spPr>
          <a:xfrm>
            <a:off x="8500767" y="5884135"/>
            <a:ext cx="1638609" cy="369332"/>
          </a:xfrm>
          <a:prstGeom prst="rect">
            <a:avLst/>
          </a:prstGeom>
          <a:noFill/>
        </p:spPr>
        <p:txBody>
          <a:bodyPr wrap="square" rtlCol="0">
            <a:spAutoFit/>
          </a:bodyPr>
          <a:lstStyle/>
          <a:p>
            <a:r>
              <a:rPr lang="en-US"/>
              <a:t>Addressed</a:t>
            </a:r>
          </a:p>
        </p:txBody>
      </p:sp>
      <p:pic>
        <p:nvPicPr>
          <p:cNvPr id="34" name="Graphic 33" descr="Badge Tick1 with solid fill">
            <a:extLst>
              <a:ext uri="{FF2B5EF4-FFF2-40B4-BE49-F238E27FC236}">
                <a16:creationId xmlns:a16="http://schemas.microsoft.com/office/drawing/2014/main" id="{89902F34-B955-2AD2-DB3B-60F8A8058AF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66793" y="5850878"/>
            <a:ext cx="451362" cy="451362"/>
          </a:xfrm>
          <a:prstGeom prst="rect">
            <a:avLst/>
          </a:prstGeom>
        </p:spPr>
      </p:pic>
      <p:sp>
        <p:nvSpPr>
          <p:cNvPr id="3" name="TextBox 2">
            <a:extLst>
              <a:ext uri="{FF2B5EF4-FFF2-40B4-BE49-F238E27FC236}">
                <a16:creationId xmlns:a16="http://schemas.microsoft.com/office/drawing/2014/main" id="{9B4B28E8-B8FD-3270-4E7E-DA494FBA5748}"/>
              </a:ext>
            </a:extLst>
          </p:cNvPr>
          <p:cNvSpPr txBox="1"/>
          <p:nvPr/>
        </p:nvSpPr>
        <p:spPr>
          <a:xfrm>
            <a:off x="7635482" y="-36848"/>
            <a:ext cx="4765016" cy="461665"/>
          </a:xfrm>
          <a:prstGeom prst="rect">
            <a:avLst/>
          </a:prstGeom>
          <a:noFill/>
        </p:spPr>
        <p:txBody>
          <a:bodyPr wrap="square">
            <a:spAutoFit/>
          </a:bodyPr>
          <a:lstStyle/>
          <a:p>
            <a:pPr lvl="0">
              <a:spcBef>
                <a:spcPct val="0"/>
              </a:spcBef>
              <a:defRPr/>
            </a:pPr>
            <a:r>
              <a:rPr lang="en-US" sz="1200" b="1">
                <a:latin typeface="Adobe Devanagari"/>
              </a:rPr>
              <a:t>POLYPHARMACY RISK SCORE SYSTEM BASED ON DRUG INTERACTION</a:t>
            </a:r>
          </a:p>
          <a:p>
            <a:endParaRPr lang="en-US" sz="1200"/>
          </a:p>
        </p:txBody>
      </p:sp>
      <p:sp>
        <p:nvSpPr>
          <p:cNvPr id="28" name="Rectangle 27">
            <a:extLst>
              <a:ext uri="{FF2B5EF4-FFF2-40B4-BE49-F238E27FC236}">
                <a16:creationId xmlns:a16="http://schemas.microsoft.com/office/drawing/2014/main" id="{CD799489-D9ED-9D9B-8183-562BF9547A5C}"/>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chemeClr val="tx1"/>
                </a:solidFill>
              </a:rPr>
              <a:t>IT22591098</a:t>
            </a:r>
            <a:r>
              <a:rPr lang="en-US">
                <a:solidFill>
                  <a:schemeClr val="tx1"/>
                </a:solidFill>
              </a:rPr>
              <a:t>   |   </a:t>
            </a:r>
            <a:r>
              <a:rPr lang="en-US" b="1">
                <a:solidFill>
                  <a:schemeClr val="tx1"/>
                </a:solidFill>
              </a:rPr>
              <a:t>Jayalath J.P.R.J   </a:t>
            </a:r>
            <a:r>
              <a:rPr lang="en-US">
                <a:solidFill>
                  <a:schemeClr val="tx1"/>
                </a:solidFill>
              </a:rPr>
              <a:t>|   25-26J-368</a:t>
            </a:r>
          </a:p>
        </p:txBody>
      </p:sp>
    </p:spTree>
    <p:extLst>
      <p:ext uri="{BB962C8B-B14F-4D97-AF65-F5344CB8AC3E}">
        <p14:creationId xmlns:p14="http://schemas.microsoft.com/office/powerpoint/2010/main" val="28112646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58609-7B97-43E3-8FC7-96280323E189}"/>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2DCEE93E-0BAC-7600-D56C-7B50548E51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49386" y="16743"/>
            <a:ext cx="905143" cy="905143"/>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5">
            <a:extLst>
              <a:ext uri="{FF2B5EF4-FFF2-40B4-BE49-F238E27FC236}">
                <a16:creationId xmlns:a16="http://schemas.microsoft.com/office/drawing/2014/main" id="{242F4B37-446B-3858-E0F1-7065B5AF6436}"/>
              </a:ext>
            </a:extLst>
          </p:cNvPr>
          <p:cNvSpPr txBox="1">
            <a:spLocks/>
          </p:cNvSpPr>
          <p:nvPr/>
        </p:nvSpPr>
        <p:spPr>
          <a:xfrm>
            <a:off x="198617" y="792056"/>
            <a:ext cx="11684000" cy="556260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endParaRPr lang="en-US" sz="2300"/>
          </a:p>
          <a:p>
            <a:pPr marL="0" indent="0">
              <a:buFont typeface="Arial" pitchFamily="34" charset="0"/>
              <a:buNone/>
            </a:pPr>
            <a:endParaRPr lang="en-US" sz="2400"/>
          </a:p>
          <a:p>
            <a:pPr marL="0" indent="0">
              <a:buFont typeface="Arial" pitchFamily="34" charset="0"/>
              <a:buNone/>
            </a:pPr>
            <a:endParaRPr lang="en-US" sz="2400"/>
          </a:p>
        </p:txBody>
      </p:sp>
      <p:sp>
        <p:nvSpPr>
          <p:cNvPr id="11" name="Rectangle: Diagonal Corners Rounded 10">
            <a:extLst>
              <a:ext uri="{FF2B5EF4-FFF2-40B4-BE49-F238E27FC236}">
                <a16:creationId xmlns:a16="http://schemas.microsoft.com/office/drawing/2014/main" id="{7B0AAF68-ACEC-81FE-D69D-F39A28F633C6}"/>
              </a:ext>
            </a:extLst>
          </p:cNvPr>
          <p:cNvSpPr/>
          <p:nvPr/>
        </p:nvSpPr>
        <p:spPr>
          <a:xfrm>
            <a:off x="198617" y="1903865"/>
            <a:ext cx="3324524" cy="1860963"/>
          </a:xfrm>
          <a:prstGeom prst="round2DiagRect">
            <a:avLst>
              <a:gd name="adj1" fmla="val 16667"/>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t>Current polypharmacy scoring systems mainly focus on drug count and basic patient factors, while ignoring drug-drug interaction (DDI) severity</a:t>
            </a:r>
            <a:endParaRPr lang="en-US">
              <a:effectLst/>
            </a:endParaRPr>
          </a:p>
        </p:txBody>
      </p:sp>
      <p:grpSp>
        <p:nvGrpSpPr>
          <p:cNvPr id="12" name="Group 11">
            <a:extLst>
              <a:ext uri="{FF2B5EF4-FFF2-40B4-BE49-F238E27FC236}">
                <a16:creationId xmlns:a16="http://schemas.microsoft.com/office/drawing/2014/main" id="{CF7592E3-B2F8-67F7-45A2-F5E969D820C0}"/>
              </a:ext>
            </a:extLst>
          </p:cNvPr>
          <p:cNvGrpSpPr/>
          <p:nvPr/>
        </p:nvGrpSpPr>
        <p:grpSpPr>
          <a:xfrm>
            <a:off x="4566364" y="1987209"/>
            <a:ext cx="3167726" cy="1562114"/>
            <a:chOff x="4379956" y="1462252"/>
            <a:chExt cx="2845139" cy="1332539"/>
          </a:xfrm>
        </p:grpSpPr>
        <p:sp>
          <p:nvSpPr>
            <p:cNvPr id="13" name="Rectangle: Diagonal Corners Rounded 12">
              <a:extLst>
                <a:ext uri="{FF2B5EF4-FFF2-40B4-BE49-F238E27FC236}">
                  <a16:creationId xmlns:a16="http://schemas.microsoft.com/office/drawing/2014/main" id="{EB6EC4DC-31A9-5FC4-4B10-D73075AAF606}"/>
                </a:ext>
              </a:extLst>
            </p:cNvPr>
            <p:cNvSpPr/>
            <p:nvPr/>
          </p:nvSpPr>
          <p:spPr>
            <a:xfrm>
              <a:off x="4379956" y="1462252"/>
              <a:ext cx="2773680" cy="1332539"/>
            </a:xfrm>
            <a:prstGeom prst="round2DiagRect">
              <a:avLst>
                <a:gd name="adj1" fmla="val 16667"/>
                <a:gd name="adj2" fmla="val 0"/>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400">
                <a:solidFill>
                  <a:schemeClr val="tx1"/>
                </a:solidFill>
                <a:effectLst/>
              </a:endParaRPr>
            </a:p>
          </p:txBody>
        </p:sp>
        <p:sp>
          <p:nvSpPr>
            <p:cNvPr id="14" name="TextBox 13">
              <a:extLst>
                <a:ext uri="{FF2B5EF4-FFF2-40B4-BE49-F238E27FC236}">
                  <a16:creationId xmlns:a16="http://schemas.microsoft.com/office/drawing/2014/main" id="{21160223-729F-7F19-9D35-325E555E9062}"/>
                </a:ext>
              </a:extLst>
            </p:cNvPr>
            <p:cNvSpPr txBox="1"/>
            <p:nvPr/>
          </p:nvSpPr>
          <p:spPr>
            <a:xfrm>
              <a:off x="4379956" y="1462252"/>
              <a:ext cx="2845139" cy="1260214"/>
            </a:xfrm>
            <a:prstGeom prst="rect">
              <a:avLst/>
            </a:prstGeom>
            <a:noFill/>
          </p:spPr>
          <p:txBody>
            <a:bodyPr wrap="square" rtlCol="0">
              <a:spAutoFit/>
            </a:bodyPr>
            <a:lstStyle/>
            <a:p>
              <a:r>
                <a:rPr lang="en-US"/>
                <a:t>Risk is too simple and not accurate for real patients</a:t>
              </a:r>
            </a:p>
            <a:p>
              <a:endParaRPr lang="en-US"/>
            </a:p>
            <a:p>
              <a:r>
                <a:rPr lang="en-US"/>
                <a:t>Dangerous drug combinations are missed in the score.</a:t>
              </a:r>
            </a:p>
          </p:txBody>
        </p:sp>
      </p:grpSp>
      <p:sp>
        <p:nvSpPr>
          <p:cNvPr id="15" name="Flowchart: Alternate Process 14">
            <a:extLst>
              <a:ext uri="{FF2B5EF4-FFF2-40B4-BE49-F238E27FC236}">
                <a16:creationId xmlns:a16="http://schemas.microsoft.com/office/drawing/2014/main" id="{E9129D19-AE28-BC1B-A100-2CD11C010584}"/>
              </a:ext>
            </a:extLst>
          </p:cNvPr>
          <p:cNvSpPr/>
          <p:nvPr/>
        </p:nvSpPr>
        <p:spPr>
          <a:xfrm>
            <a:off x="1013903" y="913715"/>
            <a:ext cx="1554480" cy="474057"/>
          </a:xfrm>
          <a:prstGeom prst="flowChartAlternateProcess">
            <a:avLst/>
          </a:prstGeom>
          <a:solidFill>
            <a:srgbClr val="92D050"/>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Research Gap</a:t>
            </a:r>
          </a:p>
        </p:txBody>
      </p:sp>
      <p:sp>
        <p:nvSpPr>
          <p:cNvPr id="16" name="Flowchart: Alternate Process 15">
            <a:extLst>
              <a:ext uri="{FF2B5EF4-FFF2-40B4-BE49-F238E27FC236}">
                <a16:creationId xmlns:a16="http://schemas.microsoft.com/office/drawing/2014/main" id="{B7A4C47C-A2BA-3BAD-823C-0FC13415CDAE}"/>
              </a:ext>
            </a:extLst>
          </p:cNvPr>
          <p:cNvSpPr/>
          <p:nvPr/>
        </p:nvSpPr>
        <p:spPr>
          <a:xfrm>
            <a:off x="4883922" y="942923"/>
            <a:ext cx="2313389" cy="575754"/>
          </a:xfrm>
          <a:prstGeom prst="flowChartAlternateProcess">
            <a:avLst/>
          </a:prstGeom>
          <a:solidFill>
            <a:srgbClr val="92D050"/>
          </a:solidFill>
          <a:ln>
            <a:solidFill>
              <a:schemeClr val="accent1">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Shortcomings in the Existing System</a:t>
            </a:r>
          </a:p>
        </p:txBody>
      </p:sp>
      <p:sp>
        <p:nvSpPr>
          <p:cNvPr id="17" name="Arrow: Right 16">
            <a:extLst>
              <a:ext uri="{FF2B5EF4-FFF2-40B4-BE49-F238E27FC236}">
                <a16:creationId xmlns:a16="http://schemas.microsoft.com/office/drawing/2014/main" id="{CE82B734-D774-F1AB-1092-A599B4C508FB}"/>
              </a:ext>
            </a:extLst>
          </p:cNvPr>
          <p:cNvSpPr/>
          <p:nvPr/>
        </p:nvSpPr>
        <p:spPr>
          <a:xfrm>
            <a:off x="3376580" y="2457440"/>
            <a:ext cx="849354" cy="5039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Alternate Process 17">
            <a:extLst>
              <a:ext uri="{FF2B5EF4-FFF2-40B4-BE49-F238E27FC236}">
                <a16:creationId xmlns:a16="http://schemas.microsoft.com/office/drawing/2014/main" id="{A20E2E10-E9B7-27C5-FBE3-BE794B9D27F5}"/>
              </a:ext>
            </a:extLst>
          </p:cNvPr>
          <p:cNvSpPr/>
          <p:nvPr/>
        </p:nvSpPr>
        <p:spPr>
          <a:xfrm>
            <a:off x="9260998" y="875430"/>
            <a:ext cx="2313389" cy="575754"/>
          </a:xfrm>
          <a:prstGeom prst="flowChartAlternateProcess">
            <a:avLst/>
          </a:prstGeom>
          <a:solidFill>
            <a:srgbClr val="92D050"/>
          </a:solidFill>
          <a:ln>
            <a:solidFill>
              <a:schemeClr val="accent1">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How to Address it</a:t>
            </a:r>
          </a:p>
        </p:txBody>
      </p:sp>
      <p:grpSp>
        <p:nvGrpSpPr>
          <p:cNvPr id="19" name="Group 18">
            <a:extLst>
              <a:ext uri="{FF2B5EF4-FFF2-40B4-BE49-F238E27FC236}">
                <a16:creationId xmlns:a16="http://schemas.microsoft.com/office/drawing/2014/main" id="{60C2ED86-97BD-D874-946E-86408A1876B5}"/>
              </a:ext>
            </a:extLst>
          </p:cNvPr>
          <p:cNvGrpSpPr/>
          <p:nvPr/>
        </p:nvGrpSpPr>
        <p:grpSpPr>
          <a:xfrm>
            <a:off x="8777313" y="1688487"/>
            <a:ext cx="3646916" cy="1909841"/>
            <a:chOff x="4327650" y="1312632"/>
            <a:chExt cx="3008565" cy="1332539"/>
          </a:xfrm>
        </p:grpSpPr>
        <p:sp>
          <p:nvSpPr>
            <p:cNvPr id="20" name="Rectangle: Diagonal Corners Rounded 19">
              <a:extLst>
                <a:ext uri="{FF2B5EF4-FFF2-40B4-BE49-F238E27FC236}">
                  <a16:creationId xmlns:a16="http://schemas.microsoft.com/office/drawing/2014/main" id="{E879D0EF-A4AB-F842-980F-9DED4F7871F8}"/>
                </a:ext>
              </a:extLst>
            </p:cNvPr>
            <p:cNvSpPr/>
            <p:nvPr/>
          </p:nvSpPr>
          <p:spPr>
            <a:xfrm>
              <a:off x="4379955" y="1312632"/>
              <a:ext cx="2773680" cy="1332539"/>
            </a:xfrm>
            <a:prstGeom prst="round2DiagRect">
              <a:avLst>
                <a:gd name="adj1" fmla="val 16667"/>
                <a:gd name="adj2" fmla="val 0"/>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400">
                <a:solidFill>
                  <a:schemeClr val="tx1"/>
                </a:solidFill>
                <a:effectLst/>
              </a:endParaRPr>
            </a:p>
          </p:txBody>
        </p:sp>
        <p:sp>
          <p:nvSpPr>
            <p:cNvPr id="21" name="TextBox 20">
              <a:extLst>
                <a:ext uri="{FF2B5EF4-FFF2-40B4-BE49-F238E27FC236}">
                  <a16:creationId xmlns:a16="http://schemas.microsoft.com/office/drawing/2014/main" id="{F68321C3-F20D-1299-5601-FD9540C8B3B5}"/>
                </a:ext>
              </a:extLst>
            </p:cNvPr>
            <p:cNvSpPr txBox="1"/>
            <p:nvPr/>
          </p:nvSpPr>
          <p:spPr>
            <a:xfrm>
              <a:off x="4327650" y="1376418"/>
              <a:ext cx="3008565" cy="1224033"/>
            </a:xfrm>
            <a:prstGeom prst="rect">
              <a:avLst/>
            </a:prstGeom>
            <a:noFill/>
          </p:spPr>
          <p:txBody>
            <a:bodyPr wrap="square" rtlCol="0">
              <a:spAutoFit/>
            </a:bodyPr>
            <a:lstStyle/>
            <a:p>
              <a:r>
                <a:rPr lang="en-US"/>
                <a:t>Add </a:t>
              </a:r>
              <a:r>
                <a:rPr lang="en-US" b="1"/>
                <a:t>patient-specific factors</a:t>
              </a:r>
              <a:r>
                <a:rPr lang="en-US"/>
                <a:t> like </a:t>
              </a:r>
              <a:r>
                <a:rPr lang="en-US" err="1"/>
                <a:t>age,drug</a:t>
              </a:r>
              <a:r>
                <a:rPr lang="en-US"/>
                <a:t> </a:t>
              </a:r>
              <a:r>
                <a:rPr lang="en-US" err="1"/>
                <a:t>count,high</a:t>
              </a:r>
              <a:r>
                <a:rPr lang="en-US"/>
                <a:t> risk drug, kidney/liver function. An base on</a:t>
              </a:r>
            </a:p>
            <a:p>
              <a:r>
                <a:rPr lang="en-US" b="1"/>
                <a:t>Integrate DDI severity levels</a:t>
              </a:r>
              <a:r>
                <a:rPr lang="en-US"/>
                <a:t> (mild, moderate, severe) into the risk score.</a:t>
              </a:r>
              <a:endParaRPr lang="en-US">
                <a:effectLst/>
              </a:endParaRPr>
            </a:p>
          </p:txBody>
        </p:sp>
      </p:grpSp>
      <p:sp>
        <p:nvSpPr>
          <p:cNvPr id="3" name="Rectangle: Diagonal Corners Rounded 2">
            <a:extLst>
              <a:ext uri="{FF2B5EF4-FFF2-40B4-BE49-F238E27FC236}">
                <a16:creationId xmlns:a16="http://schemas.microsoft.com/office/drawing/2014/main" id="{D60E11E2-CE28-CA45-DBFB-C60D881C334C}"/>
              </a:ext>
            </a:extLst>
          </p:cNvPr>
          <p:cNvSpPr/>
          <p:nvPr/>
        </p:nvSpPr>
        <p:spPr>
          <a:xfrm>
            <a:off x="225910" y="4240337"/>
            <a:ext cx="3269938" cy="1860963"/>
          </a:xfrm>
          <a:prstGeom prst="round2DiagRect">
            <a:avLst>
              <a:gd name="adj1" fmla="val 16667"/>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t>there is </a:t>
            </a:r>
            <a:r>
              <a:rPr lang="en-US" b="1"/>
              <a:t>no standardized, dynamic, and predictive PRS model</a:t>
            </a:r>
            <a:r>
              <a:rPr lang="en-US"/>
              <a:t> that integrates </a:t>
            </a:r>
            <a:r>
              <a:rPr lang="en-US" b="1"/>
              <a:t>DDI severity + patient-specific factors</a:t>
            </a:r>
            <a:r>
              <a:rPr lang="en-US"/>
              <a:t> for clinical use.</a:t>
            </a:r>
            <a:endParaRPr lang="en-US">
              <a:effectLst/>
            </a:endParaRPr>
          </a:p>
        </p:txBody>
      </p:sp>
      <p:sp>
        <p:nvSpPr>
          <p:cNvPr id="4" name="Arrow: Right 3">
            <a:extLst>
              <a:ext uri="{FF2B5EF4-FFF2-40B4-BE49-F238E27FC236}">
                <a16:creationId xmlns:a16="http://schemas.microsoft.com/office/drawing/2014/main" id="{1B824C20-D9E8-79D2-D363-C7CA7D6EEE84}"/>
              </a:ext>
            </a:extLst>
          </p:cNvPr>
          <p:cNvSpPr/>
          <p:nvPr/>
        </p:nvSpPr>
        <p:spPr>
          <a:xfrm>
            <a:off x="3376580" y="4743187"/>
            <a:ext cx="849354" cy="5039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E658D0A6-E317-D49A-9415-A49628E00D02}"/>
              </a:ext>
            </a:extLst>
          </p:cNvPr>
          <p:cNvGrpSpPr/>
          <p:nvPr/>
        </p:nvGrpSpPr>
        <p:grpSpPr>
          <a:xfrm>
            <a:off x="4553190" y="3987961"/>
            <a:ext cx="3269937" cy="1663724"/>
            <a:chOff x="4379956" y="1365100"/>
            <a:chExt cx="2914525" cy="1429691"/>
          </a:xfrm>
        </p:grpSpPr>
        <p:sp>
          <p:nvSpPr>
            <p:cNvPr id="6" name="Rectangle: Diagonal Corners Rounded 5">
              <a:extLst>
                <a:ext uri="{FF2B5EF4-FFF2-40B4-BE49-F238E27FC236}">
                  <a16:creationId xmlns:a16="http://schemas.microsoft.com/office/drawing/2014/main" id="{F8B291A9-5894-EAEC-7C02-D2229A71DF44}"/>
                </a:ext>
              </a:extLst>
            </p:cNvPr>
            <p:cNvSpPr/>
            <p:nvPr/>
          </p:nvSpPr>
          <p:spPr>
            <a:xfrm>
              <a:off x="4379956" y="1462252"/>
              <a:ext cx="2773680" cy="1332539"/>
            </a:xfrm>
            <a:prstGeom prst="round2DiagRect">
              <a:avLst>
                <a:gd name="adj1" fmla="val 16667"/>
                <a:gd name="adj2" fmla="val 0"/>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400">
                <a:solidFill>
                  <a:schemeClr val="tx1"/>
                </a:solidFill>
                <a:effectLst/>
              </a:endParaRPr>
            </a:p>
          </p:txBody>
        </p:sp>
        <p:sp>
          <p:nvSpPr>
            <p:cNvPr id="7" name="TextBox 6">
              <a:extLst>
                <a:ext uri="{FF2B5EF4-FFF2-40B4-BE49-F238E27FC236}">
                  <a16:creationId xmlns:a16="http://schemas.microsoft.com/office/drawing/2014/main" id="{3BD5EC02-E8D7-E3C9-2EAF-8F39D1898CD1}"/>
                </a:ext>
              </a:extLst>
            </p:cNvPr>
            <p:cNvSpPr txBox="1"/>
            <p:nvPr/>
          </p:nvSpPr>
          <p:spPr>
            <a:xfrm>
              <a:off x="4379956" y="1365100"/>
              <a:ext cx="2914525" cy="369332"/>
            </a:xfrm>
            <a:prstGeom prst="rect">
              <a:avLst/>
            </a:prstGeom>
            <a:noFill/>
          </p:spPr>
          <p:txBody>
            <a:bodyPr wrap="square" rtlCol="0">
              <a:spAutoFit/>
            </a:bodyPr>
            <a:lstStyle/>
            <a:p>
              <a:endParaRPr lang="en-US">
                <a:effectLst/>
              </a:endParaRPr>
            </a:p>
          </p:txBody>
        </p:sp>
      </p:grpSp>
      <p:grpSp>
        <p:nvGrpSpPr>
          <p:cNvPr id="8" name="Group 7">
            <a:extLst>
              <a:ext uri="{FF2B5EF4-FFF2-40B4-BE49-F238E27FC236}">
                <a16:creationId xmlns:a16="http://schemas.microsoft.com/office/drawing/2014/main" id="{B2DCCACC-304A-2E0D-2A55-9FF895319A04}"/>
              </a:ext>
            </a:extLst>
          </p:cNvPr>
          <p:cNvGrpSpPr/>
          <p:nvPr/>
        </p:nvGrpSpPr>
        <p:grpSpPr>
          <a:xfrm>
            <a:off x="8777313" y="3964384"/>
            <a:ext cx="3432559" cy="1900286"/>
            <a:chOff x="4379956" y="1365100"/>
            <a:chExt cx="2773680" cy="1429691"/>
          </a:xfrm>
        </p:grpSpPr>
        <p:sp>
          <p:nvSpPr>
            <p:cNvPr id="9" name="Rectangle: Diagonal Corners Rounded 8">
              <a:extLst>
                <a:ext uri="{FF2B5EF4-FFF2-40B4-BE49-F238E27FC236}">
                  <a16:creationId xmlns:a16="http://schemas.microsoft.com/office/drawing/2014/main" id="{95C6C581-FF4F-7BD9-6B7C-79088C5523B6}"/>
                </a:ext>
              </a:extLst>
            </p:cNvPr>
            <p:cNvSpPr/>
            <p:nvPr/>
          </p:nvSpPr>
          <p:spPr>
            <a:xfrm>
              <a:off x="4379956" y="1462252"/>
              <a:ext cx="2773680" cy="1332539"/>
            </a:xfrm>
            <a:prstGeom prst="round2DiagRect">
              <a:avLst>
                <a:gd name="adj1" fmla="val 16667"/>
                <a:gd name="adj2" fmla="val 0"/>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400">
                <a:solidFill>
                  <a:schemeClr val="tx1"/>
                </a:solidFill>
                <a:effectLst/>
              </a:endParaRPr>
            </a:p>
          </p:txBody>
        </p:sp>
        <p:sp>
          <p:nvSpPr>
            <p:cNvPr id="10" name="TextBox 9">
              <a:extLst>
                <a:ext uri="{FF2B5EF4-FFF2-40B4-BE49-F238E27FC236}">
                  <a16:creationId xmlns:a16="http://schemas.microsoft.com/office/drawing/2014/main" id="{353C163A-DBC9-F5B0-F348-786B73B77038}"/>
                </a:ext>
              </a:extLst>
            </p:cNvPr>
            <p:cNvSpPr txBox="1"/>
            <p:nvPr/>
          </p:nvSpPr>
          <p:spPr>
            <a:xfrm>
              <a:off x="4379956" y="1365100"/>
              <a:ext cx="2769996" cy="988397"/>
            </a:xfrm>
            <a:prstGeom prst="rect">
              <a:avLst/>
            </a:prstGeom>
            <a:noFill/>
          </p:spPr>
          <p:txBody>
            <a:bodyPr wrap="square" rtlCol="0">
              <a:spAutoFit/>
            </a:bodyPr>
            <a:lstStyle/>
            <a:p>
              <a:endParaRPr lang="en-US"/>
            </a:p>
            <a:p>
              <a:r>
                <a:rPr lang="en-US"/>
                <a:t>Use </a:t>
              </a:r>
              <a:r>
                <a:rPr lang="en-US" b="1"/>
                <a:t>Machine Learning + Evidence-Based PRS</a:t>
              </a:r>
              <a:r>
                <a:rPr lang="en-US"/>
                <a:t> to create a </a:t>
              </a:r>
              <a:r>
                <a:rPr lang="en-US" b="1"/>
                <a:t>dynamic, real-time system</a:t>
              </a:r>
              <a:r>
                <a:rPr lang="en-US"/>
                <a:t> with </a:t>
              </a:r>
              <a:r>
                <a:rPr lang="en-US" b="1"/>
                <a:t>alerts and recommendations</a:t>
              </a:r>
              <a:endParaRPr lang="en-US" b="1">
                <a:effectLst/>
              </a:endParaRPr>
            </a:p>
          </p:txBody>
        </p:sp>
      </p:grpSp>
      <p:sp>
        <p:nvSpPr>
          <p:cNvPr id="23" name="TextBox 22">
            <a:extLst>
              <a:ext uri="{FF2B5EF4-FFF2-40B4-BE49-F238E27FC236}">
                <a16:creationId xmlns:a16="http://schemas.microsoft.com/office/drawing/2014/main" id="{B2B8BA0E-2F31-3961-B335-A63DC1759B0D}"/>
              </a:ext>
            </a:extLst>
          </p:cNvPr>
          <p:cNvSpPr txBox="1"/>
          <p:nvPr/>
        </p:nvSpPr>
        <p:spPr>
          <a:xfrm>
            <a:off x="4590495" y="4281522"/>
            <a:ext cx="2902260" cy="923330"/>
          </a:xfrm>
          <a:prstGeom prst="rect">
            <a:avLst/>
          </a:prstGeom>
          <a:noFill/>
        </p:spPr>
        <p:txBody>
          <a:bodyPr wrap="square">
            <a:spAutoFit/>
          </a:bodyPr>
          <a:lstStyle/>
          <a:p>
            <a:r>
              <a:rPr lang="en-US"/>
              <a:t>Existing systems are fixed, not smart, and give little help to doctors.</a:t>
            </a:r>
          </a:p>
        </p:txBody>
      </p:sp>
      <p:sp>
        <p:nvSpPr>
          <p:cNvPr id="26" name="Arrow: Right 25">
            <a:extLst>
              <a:ext uri="{FF2B5EF4-FFF2-40B4-BE49-F238E27FC236}">
                <a16:creationId xmlns:a16="http://schemas.microsoft.com/office/drawing/2014/main" id="{FCE115D7-871C-5993-B6DF-E4C9FD698C16}"/>
              </a:ext>
            </a:extLst>
          </p:cNvPr>
          <p:cNvSpPr/>
          <p:nvPr/>
        </p:nvSpPr>
        <p:spPr>
          <a:xfrm>
            <a:off x="7874445" y="2516312"/>
            <a:ext cx="849354" cy="5039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Right 26">
            <a:extLst>
              <a:ext uri="{FF2B5EF4-FFF2-40B4-BE49-F238E27FC236}">
                <a16:creationId xmlns:a16="http://schemas.microsoft.com/office/drawing/2014/main" id="{F31B5D6A-88C3-F7D0-162D-2944C73B965A}"/>
              </a:ext>
            </a:extLst>
          </p:cNvPr>
          <p:cNvSpPr/>
          <p:nvPr/>
        </p:nvSpPr>
        <p:spPr>
          <a:xfrm>
            <a:off x="7874445" y="4601089"/>
            <a:ext cx="849354" cy="5039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itle 10">
            <a:extLst>
              <a:ext uri="{FF2B5EF4-FFF2-40B4-BE49-F238E27FC236}">
                <a16:creationId xmlns:a16="http://schemas.microsoft.com/office/drawing/2014/main" id="{86BA3D77-A963-3FDD-91EE-ED4A73FCF182}"/>
              </a:ext>
            </a:extLst>
          </p:cNvPr>
          <p:cNvSpPr txBox="1">
            <a:spLocks/>
          </p:cNvSpPr>
          <p:nvPr/>
        </p:nvSpPr>
        <p:spPr>
          <a:xfrm>
            <a:off x="309383" y="0"/>
            <a:ext cx="6370320" cy="792162"/>
          </a:xfrm>
          <a:prstGeom prst="rect">
            <a:avLst/>
          </a:prstGeom>
        </p:spPr>
        <p:txBody>
          <a:bodyPr>
            <a:normAutofit fontScale="90000"/>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r>
              <a:rPr lang="en-US" b="1">
                <a:solidFill>
                  <a:schemeClr val="accent1"/>
                </a:solidFill>
                <a:latin typeface="+mn-lt"/>
              </a:rPr>
              <a:t>Overview of Shortcomings</a:t>
            </a:r>
          </a:p>
        </p:txBody>
      </p:sp>
      <p:sp>
        <p:nvSpPr>
          <p:cNvPr id="22" name="TextBox 21">
            <a:extLst>
              <a:ext uri="{FF2B5EF4-FFF2-40B4-BE49-F238E27FC236}">
                <a16:creationId xmlns:a16="http://schemas.microsoft.com/office/drawing/2014/main" id="{36AA8E60-5D55-C5B6-AE33-1449C899C1EE}"/>
              </a:ext>
            </a:extLst>
          </p:cNvPr>
          <p:cNvSpPr txBox="1"/>
          <p:nvPr/>
        </p:nvSpPr>
        <p:spPr>
          <a:xfrm>
            <a:off x="7635482" y="-36848"/>
            <a:ext cx="4765016" cy="461665"/>
          </a:xfrm>
          <a:prstGeom prst="rect">
            <a:avLst/>
          </a:prstGeom>
          <a:noFill/>
        </p:spPr>
        <p:txBody>
          <a:bodyPr wrap="square">
            <a:spAutoFit/>
          </a:bodyPr>
          <a:lstStyle/>
          <a:p>
            <a:pPr lvl="0">
              <a:spcBef>
                <a:spcPct val="0"/>
              </a:spcBef>
              <a:defRPr/>
            </a:pPr>
            <a:r>
              <a:rPr lang="en-US" sz="1200" b="1">
                <a:latin typeface="Adobe Devanagari"/>
              </a:rPr>
              <a:t>POLYPHARMACY RISK SCORE SYSTEM BASED ON DRUG INTERACTION</a:t>
            </a:r>
          </a:p>
          <a:p>
            <a:endParaRPr lang="en-US" sz="1200"/>
          </a:p>
        </p:txBody>
      </p:sp>
      <p:sp>
        <p:nvSpPr>
          <p:cNvPr id="24" name="Rectangle 23">
            <a:extLst>
              <a:ext uri="{FF2B5EF4-FFF2-40B4-BE49-F238E27FC236}">
                <a16:creationId xmlns:a16="http://schemas.microsoft.com/office/drawing/2014/main" id="{7212186A-74D0-CBBC-1D5C-FCC8FF05DE27}"/>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chemeClr val="tx1"/>
                </a:solidFill>
              </a:rPr>
              <a:t>IT22591098</a:t>
            </a:r>
            <a:r>
              <a:rPr lang="en-US">
                <a:solidFill>
                  <a:schemeClr val="tx1"/>
                </a:solidFill>
              </a:rPr>
              <a:t>   |   </a:t>
            </a:r>
            <a:r>
              <a:rPr lang="en-US" b="1">
                <a:solidFill>
                  <a:schemeClr val="tx1"/>
                </a:solidFill>
              </a:rPr>
              <a:t>Jayalath J.P.R.J   </a:t>
            </a:r>
            <a:r>
              <a:rPr lang="en-US">
                <a:solidFill>
                  <a:schemeClr val="tx1"/>
                </a:solidFill>
              </a:rPr>
              <a:t>|   25-26J-368</a:t>
            </a:r>
          </a:p>
        </p:txBody>
      </p:sp>
    </p:spTree>
    <p:extLst>
      <p:ext uri="{BB962C8B-B14F-4D97-AF65-F5344CB8AC3E}">
        <p14:creationId xmlns:p14="http://schemas.microsoft.com/office/powerpoint/2010/main" val="182949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F6FBBB-4C77-4A4B-BE54-96D3B0DF3BB7}"/>
              </a:ext>
            </a:extLst>
          </p:cNvPr>
          <p:cNvSpPr>
            <a:spLocks noGrp="1"/>
          </p:cNvSpPr>
          <p:nvPr>
            <p:ph type="title"/>
          </p:nvPr>
        </p:nvSpPr>
        <p:spPr>
          <a:xfrm>
            <a:off x="304800" y="163967"/>
            <a:ext cx="11684000" cy="564474"/>
          </a:xfrm>
        </p:spPr>
        <p:txBody>
          <a:bodyPr>
            <a:normAutofit fontScale="90000"/>
          </a:bodyPr>
          <a:lstStyle/>
          <a:p>
            <a:r>
              <a:rPr lang="en-US" b="1">
                <a:solidFill>
                  <a:schemeClr val="accent1">
                    <a:lumMod val="50000"/>
                  </a:schemeClr>
                </a:solidFill>
              </a:rPr>
              <a:t>Methodology</a:t>
            </a:r>
          </a:p>
        </p:txBody>
      </p:sp>
      <p:sp>
        <p:nvSpPr>
          <p:cNvPr id="6" name="Content Placeholder 5">
            <a:extLst>
              <a:ext uri="{FF2B5EF4-FFF2-40B4-BE49-F238E27FC236}">
                <a16:creationId xmlns:a16="http://schemas.microsoft.com/office/drawing/2014/main" id="{F7E461F4-E6D8-4801-94AA-9B72FC99FFED}"/>
              </a:ext>
            </a:extLst>
          </p:cNvPr>
          <p:cNvSpPr>
            <a:spLocks noGrp="1"/>
          </p:cNvSpPr>
          <p:nvPr>
            <p:ph idx="1"/>
          </p:nvPr>
        </p:nvSpPr>
        <p:spPr>
          <a:xfrm>
            <a:off x="304801" y="603705"/>
            <a:ext cx="11887200" cy="5650589"/>
          </a:xfrm>
        </p:spPr>
        <p:txBody>
          <a:bodyPr>
            <a:noAutofit/>
          </a:bodyPr>
          <a:lstStyle/>
          <a:p>
            <a:pPr>
              <a:buNone/>
            </a:pPr>
            <a:endParaRPr lang="en-US" sz="2000" b="1"/>
          </a:p>
          <a:p>
            <a:pPr>
              <a:buNone/>
            </a:pPr>
            <a:endParaRPr lang="en-US" sz="2000" b="1"/>
          </a:p>
          <a:p>
            <a:r>
              <a:rPr lang="en-US" sz="2000" b="1"/>
              <a:t>Data Collection &amp; Preprocessing</a:t>
            </a:r>
          </a:p>
          <a:p>
            <a:pPr>
              <a:buNone/>
            </a:pPr>
            <a:r>
              <a:rPr lang="en-US" sz="2000" b="1"/>
              <a:t>      </a:t>
            </a:r>
            <a:r>
              <a:rPr lang="en-US" sz="2000"/>
              <a:t>Gather patient </a:t>
            </a:r>
            <a:r>
              <a:rPr lang="en-US" sz="2000" err="1"/>
              <a:t>patient</a:t>
            </a:r>
            <a:r>
              <a:rPr lang="en-US" sz="2000"/>
              <a:t> related data and Drug-Drug Interaction (DDI) data from trusted sources </a:t>
            </a:r>
          </a:p>
          <a:p>
            <a:pPr>
              <a:buNone/>
            </a:pPr>
            <a:r>
              <a:rPr lang="en-US" sz="2000"/>
              <a:t>      (e.g. </a:t>
            </a:r>
            <a:r>
              <a:rPr lang="en-US" sz="2000" err="1"/>
              <a:t>DrugBank,Kaggle</a:t>
            </a:r>
            <a:r>
              <a:rPr lang="en-US" sz="2000"/>
              <a:t> data set).</a:t>
            </a:r>
          </a:p>
          <a:p>
            <a:r>
              <a:rPr lang="en-US" sz="2000" b="1"/>
              <a:t>Preprocessing &amp; Feature Engineering</a:t>
            </a:r>
            <a:r>
              <a:rPr lang="en-US" sz="2000"/>
              <a:t> </a:t>
            </a:r>
          </a:p>
          <a:p>
            <a:pPr marL="0" indent="0">
              <a:buNone/>
            </a:pPr>
            <a:r>
              <a:rPr lang="en-US" sz="2000"/>
              <a:t>      Clean and standardize data, extract key features like drug count, age and DDI severity</a:t>
            </a:r>
          </a:p>
          <a:p>
            <a:r>
              <a:rPr lang="en-US" sz="2000" b="1"/>
              <a:t>Model </a:t>
            </a:r>
            <a:r>
              <a:rPr lang="en-US" sz="2000" b="1" err="1"/>
              <a:t>Development+Risk</a:t>
            </a:r>
            <a:r>
              <a:rPr lang="en-US" sz="2000" b="1"/>
              <a:t> Scoring Framework</a:t>
            </a:r>
          </a:p>
          <a:p>
            <a:pPr>
              <a:buNone/>
            </a:pPr>
            <a:r>
              <a:rPr lang="en-US" sz="2000"/>
              <a:t>	Train Machine Learning models combined with an Evidence-Based Scoring Formula (EB-PRS). personalized Polypharmacy Risk Score (Low/Moderate/High) updated dynamically with prescription.</a:t>
            </a:r>
          </a:p>
          <a:p>
            <a:r>
              <a:rPr lang="en-US" sz="2000" b="1"/>
              <a:t>System Implementation</a:t>
            </a:r>
            <a:endParaRPr lang="en-US" sz="2000"/>
          </a:p>
          <a:p>
            <a:pPr marL="0" indent="0">
              <a:buNone/>
            </a:pPr>
            <a:r>
              <a:rPr lang="en-US" sz="2000"/>
              <a:t>      Implement a dashboard interface to display scores, alerts, and recommendations.</a:t>
            </a:r>
          </a:p>
        </p:txBody>
      </p:sp>
      <p:sp>
        <p:nvSpPr>
          <p:cNvPr id="4" name="Rectangle 3">
            <a:extLst>
              <a:ext uri="{FF2B5EF4-FFF2-40B4-BE49-F238E27FC236}">
                <a16:creationId xmlns:a16="http://schemas.microsoft.com/office/drawing/2014/main" id="{2DA60EF3-4090-4DCA-9E5C-9FBCC317B9AB}"/>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chemeClr val="tx1"/>
                </a:solidFill>
              </a:rPr>
              <a:t>IT22591098</a:t>
            </a:r>
            <a:r>
              <a:rPr lang="en-US">
                <a:solidFill>
                  <a:schemeClr val="tx1"/>
                </a:solidFill>
              </a:rPr>
              <a:t>   |   </a:t>
            </a:r>
            <a:r>
              <a:rPr lang="en-US" b="1">
                <a:solidFill>
                  <a:schemeClr val="tx1"/>
                </a:solidFill>
              </a:rPr>
              <a:t>Jayalath J.P.R.J   </a:t>
            </a:r>
            <a:r>
              <a:rPr lang="en-US">
                <a:solidFill>
                  <a:schemeClr val="tx1"/>
                </a:solidFill>
              </a:rPr>
              <a:t>|   25-26J-368</a:t>
            </a:r>
          </a:p>
        </p:txBody>
      </p:sp>
      <p:sp>
        <p:nvSpPr>
          <p:cNvPr id="3" name="Flowchart: Alternate Process 2">
            <a:extLst>
              <a:ext uri="{FF2B5EF4-FFF2-40B4-BE49-F238E27FC236}">
                <a16:creationId xmlns:a16="http://schemas.microsoft.com/office/drawing/2014/main" id="{54072848-53C2-E43B-CC8E-9111F0E34074}"/>
              </a:ext>
            </a:extLst>
          </p:cNvPr>
          <p:cNvSpPr/>
          <p:nvPr/>
        </p:nvSpPr>
        <p:spPr>
          <a:xfrm>
            <a:off x="304799" y="690659"/>
            <a:ext cx="3185652" cy="477520"/>
          </a:xfrm>
          <a:prstGeom prst="flowChartAlternateProcess">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2400"/>
              <a:t>Development Stages</a:t>
            </a:r>
          </a:p>
        </p:txBody>
      </p:sp>
      <p:sp>
        <p:nvSpPr>
          <p:cNvPr id="11" name="Hexagon 10">
            <a:extLst>
              <a:ext uri="{FF2B5EF4-FFF2-40B4-BE49-F238E27FC236}">
                <a16:creationId xmlns:a16="http://schemas.microsoft.com/office/drawing/2014/main" id="{D0EC352F-9CCF-D4CA-5C06-5CF304C3B7D2}"/>
              </a:ext>
            </a:extLst>
          </p:cNvPr>
          <p:cNvSpPr/>
          <p:nvPr/>
        </p:nvSpPr>
        <p:spPr>
          <a:xfrm>
            <a:off x="11015976" y="163967"/>
            <a:ext cx="972824" cy="844194"/>
          </a:xfrm>
          <a:prstGeom prst="hexagon">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Hexagon 11">
            <a:extLst>
              <a:ext uri="{FF2B5EF4-FFF2-40B4-BE49-F238E27FC236}">
                <a16:creationId xmlns:a16="http://schemas.microsoft.com/office/drawing/2014/main" id="{085E9055-1B1D-121D-59E2-5CA23D46E9CB}"/>
              </a:ext>
            </a:extLst>
          </p:cNvPr>
          <p:cNvSpPr/>
          <p:nvPr/>
        </p:nvSpPr>
        <p:spPr>
          <a:xfrm>
            <a:off x="10384984" y="814629"/>
            <a:ext cx="558390" cy="478408"/>
          </a:xfrm>
          <a:prstGeom prst="hexagon">
            <a:avLst/>
          </a:prstGeom>
          <a:solidFill>
            <a:schemeClr val="accent1">
              <a:lumMod val="5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Hexagon 12">
            <a:extLst>
              <a:ext uri="{FF2B5EF4-FFF2-40B4-BE49-F238E27FC236}">
                <a16:creationId xmlns:a16="http://schemas.microsoft.com/office/drawing/2014/main" id="{611C5F04-E2DC-5418-785D-1AAFAE641DC1}"/>
              </a:ext>
            </a:extLst>
          </p:cNvPr>
          <p:cNvSpPr/>
          <p:nvPr/>
        </p:nvSpPr>
        <p:spPr>
          <a:xfrm>
            <a:off x="10557840" y="319646"/>
            <a:ext cx="225022" cy="200632"/>
          </a:xfrm>
          <a:prstGeom prst="hexagon">
            <a:avLst/>
          </a:prstGeom>
          <a:solidFill>
            <a:schemeClr val="accent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Hexagon 13">
            <a:extLst>
              <a:ext uri="{FF2B5EF4-FFF2-40B4-BE49-F238E27FC236}">
                <a16:creationId xmlns:a16="http://schemas.microsoft.com/office/drawing/2014/main" id="{A2E04D52-F811-8E4D-46CD-4702C2FC7DAE}"/>
              </a:ext>
            </a:extLst>
          </p:cNvPr>
          <p:cNvSpPr/>
          <p:nvPr/>
        </p:nvSpPr>
        <p:spPr>
          <a:xfrm>
            <a:off x="11063334" y="1123418"/>
            <a:ext cx="105193" cy="86044"/>
          </a:xfrm>
          <a:prstGeom prst="hexagon">
            <a:avLst/>
          </a:prstGeom>
          <a:solidFill>
            <a:schemeClr val="accent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5E1A297-43E6-97F2-C5C1-30D4E31F10B8}"/>
              </a:ext>
            </a:extLst>
          </p:cNvPr>
          <p:cNvSpPr txBox="1"/>
          <p:nvPr/>
        </p:nvSpPr>
        <p:spPr>
          <a:xfrm>
            <a:off x="7635482" y="-36848"/>
            <a:ext cx="4765016" cy="461665"/>
          </a:xfrm>
          <a:prstGeom prst="rect">
            <a:avLst/>
          </a:prstGeom>
          <a:noFill/>
        </p:spPr>
        <p:txBody>
          <a:bodyPr wrap="square">
            <a:spAutoFit/>
          </a:bodyPr>
          <a:lstStyle/>
          <a:p>
            <a:pPr lvl="0">
              <a:spcBef>
                <a:spcPct val="0"/>
              </a:spcBef>
              <a:defRPr/>
            </a:pPr>
            <a:r>
              <a:rPr lang="en-US" sz="1200" b="1">
                <a:latin typeface="Adobe Devanagari"/>
              </a:rPr>
              <a:t>POLYPHARMACY RISK SCORE SYSTEM BASED ON DRUG INTERACTION</a:t>
            </a:r>
          </a:p>
          <a:p>
            <a:endParaRPr lang="en-US" sz="1200"/>
          </a:p>
        </p:txBody>
      </p:sp>
    </p:spTree>
    <p:extLst>
      <p:ext uri="{BB962C8B-B14F-4D97-AF65-F5344CB8AC3E}">
        <p14:creationId xmlns:p14="http://schemas.microsoft.com/office/powerpoint/2010/main" val="1558703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2141-31C3-3A88-188C-FF34FA7133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97D864-340E-8E44-0378-49938C593066}"/>
              </a:ext>
            </a:extLst>
          </p:cNvPr>
          <p:cNvSpPr>
            <a:spLocks noGrp="1"/>
          </p:cNvSpPr>
          <p:nvPr>
            <p:ph idx="1"/>
          </p:nvPr>
        </p:nvSpPr>
        <p:spPr>
          <a:xfrm>
            <a:off x="391887" y="682171"/>
            <a:ext cx="11524342" cy="5765801"/>
          </a:xfrm>
        </p:spPr>
        <p:txBody>
          <a:bodyPr>
            <a:normAutofit fontScale="92500" lnSpcReduction="20000"/>
          </a:bodyPr>
          <a:lstStyle/>
          <a:p>
            <a:pPr marL="0" indent="0">
              <a:buNone/>
            </a:pPr>
            <a:endParaRPr lang="en-US" sz="2000" b="1"/>
          </a:p>
          <a:p>
            <a:r>
              <a:rPr lang="en-US" sz="2000" b="1"/>
              <a:t>Machine Learning &amp; AI</a:t>
            </a:r>
            <a:r>
              <a:rPr lang="en-US" sz="2000"/>
              <a:t> → To build a predictive model for polypharmacy risk using patient and DDI data.</a:t>
            </a:r>
          </a:p>
          <a:p>
            <a:r>
              <a:rPr lang="en-US" sz="2000" b="1"/>
              <a:t>Healthcare Informatics</a:t>
            </a:r>
            <a:r>
              <a:rPr lang="en-US" sz="2000"/>
              <a:t> → To manage patient records, drug data, and DDI knowledge bases.</a:t>
            </a:r>
          </a:p>
          <a:p>
            <a:r>
              <a:rPr lang="en-US" sz="2000" b="1"/>
              <a:t>Software Engineering</a:t>
            </a:r>
            <a:r>
              <a:rPr lang="en-US" sz="2000"/>
              <a:t> → To develop the risk scoring engine and dashboard for clinicians.</a:t>
            </a:r>
          </a:p>
          <a:p>
            <a:pPr marL="0" indent="0">
              <a:buNone/>
            </a:pPr>
            <a:endParaRPr lang="en-US" sz="2000"/>
          </a:p>
          <a:p>
            <a:pPr marL="0" indent="0">
              <a:buNone/>
            </a:pPr>
            <a:endParaRPr lang="en-US" sz="2000" b="1"/>
          </a:p>
          <a:p>
            <a:r>
              <a:rPr lang="en-US" sz="2000" b="1"/>
              <a:t>ML Tools</a:t>
            </a:r>
            <a:r>
              <a:rPr lang="en-US" sz="2000"/>
              <a:t> → </a:t>
            </a:r>
            <a:r>
              <a:rPr lang="en-US" sz="2000" err="1"/>
              <a:t>XGBoost</a:t>
            </a:r>
            <a:r>
              <a:rPr lang="en-US" sz="2000"/>
              <a:t> (for predictive modeling).</a:t>
            </a:r>
          </a:p>
          <a:p>
            <a:r>
              <a:rPr lang="en-US" sz="2000" b="1"/>
              <a:t>Data Sources</a:t>
            </a:r>
            <a:r>
              <a:rPr lang="en-US" sz="2000"/>
              <a:t> → Kaggle datasets (for drug–drug interactions &amp; patient data).</a:t>
            </a:r>
          </a:p>
          <a:p>
            <a:r>
              <a:rPr lang="en-US" sz="2000" b="1"/>
              <a:t>Implementation</a:t>
            </a:r>
            <a:r>
              <a:rPr lang="en-US" sz="2000"/>
              <a:t> → Python (ML) + Next stack (dashboard) + MongoDB(data storage).</a:t>
            </a:r>
          </a:p>
          <a:p>
            <a:endParaRPr lang="en-US" sz="2000"/>
          </a:p>
          <a:p>
            <a:pPr marL="0" indent="0">
              <a:buNone/>
            </a:pPr>
            <a:endParaRPr lang="en-US" sz="2000" b="1"/>
          </a:p>
          <a:p>
            <a:r>
              <a:rPr lang="en-US" sz="2000" b="1"/>
              <a:t>Accuracy Metrics </a:t>
            </a:r>
            <a:r>
              <a:rPr lang="en-US" sz="2000"/>
              <a:t>– measure sensitivity, specificity, precision, and recall against clinical standards.</a:t>
            </a:r>
          </a:p>
          <a:p>
            <a:r>
              <a:rPr lang="en-US" sz="2000" b="1"/>
              <a:t>Clinical Validation</a:t>
            </a:r>
            <a:r>
              <a:rPr lang="en-US" sz="2000"/>
              <a:t> → Compare system predictions with real-world ADE cases and pharmacist feedback.</a:t>
            </a:r>
          </a:p>
          <a:p>
            <a:r>
              <a:rPr lang="en-US" sz="2000" b="1"/>
              <a:t>User Feedback </a:t>
            </a:r>
            <a:r>
              <a:rPr lang="en-US" sz="2000"/>
              <a:t>– gather patient and provider input on feasibility, compliance, and satisfaction.</a:t>
            </a:r>
          </a:p>
          <a:p>
            <a:endParaRPr lang="en-US" sz="2000"/>
          </a:p>
          <a:p>
            <a:pPr marL="0" indent="0">
              <a:buNone/>
            </a:pPr>
            <a:br>
              <a:rPr lang="en-US" sz="2000"/>
            </a:br>
            <a:endParaRPr lang="en-US" sz="2000" b="1"/>
          </a:p>
          <a:p>
            <a:r>
              <a:rPr lang="en-US" sz="2000" b="1"/>
              <a:t>Data Sources</a:t>
            </a:r>
            <a:r>
              <a:rPr lang="en-US" sz="2000"/>
              <a:t> → Open datasets (</a:t>
            </a:r>
            <a:r>
              <a:rPr lang="en-US" sz="2000" err="1"/>
              <a:t>DrugBank</a:t>
            </a:r>
            <a:r>
              <a:rPr lang="en-US" sz="2000"/>
              <a:t>, Kaggle).</a:t>
            </a:r>
          </a:p>
          <a:p>
            <a:r>
              <a:rPr lang="en-US" sz="2000" b="1"/>
              <a:t>Ethics</a:t>
            </a:r>
            <a:r>
              <a:rPr lang="en-US" sz="2000"/>
              <a:t> → Use de-identified patient data to ensure privacy and ethical clearance.</a:t>
            </a:r>
          </a:p>
          <a:p>
            <a:endParaRPr lang="en-US" sz="2000"/>
          </a:p>
          <a:p>
            <a:endParaRPr lang="en-US"/>
          </a:p>
        </p:txBody>
      </p:sp>
      <p:sp>
        <p:nvSpPr>
          <p:cNvPr id="4" name="Flowchart: Alternate Process 3">
            <a:extLst>
              <a:ext uri="{FF2B5EF4-FFF2-40B4-BE49-F238E27FC236}">
                <a16:creationId xmlns:a16="http://schemas.microsoft.com/office/drawing/2014/main" id="{9890F07B-1A13-81A6-849A-66FD90955F22}"/>
              </a:ext>
            </a:extLst>
          </p:cNvPr>
          <p:cNvSpPr/>
          <p:nvPr/>
        </p:nvSpPr>
        <p:spPr>
          <a:xfrm>
            <a:off x="696687" y="410028"/>
            <a:ext cx="4876800" cy="420915"/>
          </a:xfrm>
          <a:prstGeom prst="flowChartAlternateProcess">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2400" b="1"/>
              <a:t>Key Domains of Knowledge Used</a:t>
            </a:r>
          </a:p>
        </p:txBody>
      </p:sp>
      <p:sp>
        <p:nvSpPr>
          <p:cNvPr id="5" name="Flowchart: Alternate Process 4">
            <a:extLst>
              <a:ext uri="{FF2B5EF4-FFF2-40B4-BE49-F238E27FC236}">
                <a16:creationId xmlns:a16="http://schemas.microsoft.com/office/drawing/2014/main" id="{123578AD-BB20-6A31-27A8-A0BA16D1D2F2}"/>
              </a:ext>
            </a:extLst>
          </p:cNvPr>
          <p:cNvSpPr/>
          <p:nvPr/>
        </p:nvSpPr>
        <p:spPr>
          <a:xfrm>
            <a:off x="696687" y="1919514"/>
            <a:ext cx="4876800" cy="420915"/>
          </a:xfrm>
          <a:prstGeom prst="flowChartAlternateProcess">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2400" b="1"/>
              <a:t>Technologies Utilized</a:t>
            </a:r>
          </a:p>
        </p:txBody>
      </p:sp>
      <p:sp>
        <p:nvSpPr>
          <p:cNvPr id="6" name="Flowchart: Alternate Process 5">
            <a:extLst>
              <a:ext uri="{FF2B5EF4-FFF2-40B4-BE49-F238E27FC236}">
                <a16:creationId xmlns:a16="http://schemas.microsoft.com/office/drawing/2014/main" id="{FEF8EE06-9741-53AD-4529-22E8BAE5A2AB}"/>
              </a:ext>
            </a:extLst>
          </p:cNvPr>
          <p:cNvSpPr/>
          <p:nvPr/>
        </p:nvSpPr>
        <p:spPr>
          <a:xfrm>
            <a:off x="696687" y="3354613"/>
            <a:ext cx="4876800" cy="420915"/>
          </a:xfrm>
          <a:prstGeom prst="flowChartAlternateProcess">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2400" b="1"/>
              <a:t>Evaluation &amp; Success Criteria</a:t>
            </a:r>
          </a:p>
        </p:txBody>
      </p:sp>
      <p:sp>
        <p:nvSpPr>
          <p:cNvPr id="7" name="Flowchart: Alternate Process 6">
            <a:extLst>
              <a:ext uri="{FF2B5EF4-FFF2-40B4-BE49-F238E27FC236}">
                <a16:creationId xmlns:a16="http://schemas.microsoft.com/office/drawing/2014/main" id="{426D18EA-FCDD-ACF8-37D6-FDD66597439D}"/>
              </a:ext>
            </a:extLst>
          </p:cNvPr>
          <p:cNvSpPr/>
          <p:nvPr/>
        </p:nvSpPr>
        <p:spPr>
          <a:xfrm>
            <a:off x="696687" y="4901292"/>
            <a:ext cx="4876800" cy="420915"/>
          </a:xfrm>
          <a:prstGeom prst="flowChartAlternateProcess">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2400" b="1"/>
              <a:t>Data Availability &amp; Ethics</a:t>
            </a:r>
          </a:p>
        </p:txBody>
      </p:sp>
      <p:sp>
        <p:nvSpPr>
          <p:cNvPr id="2" name="TextBox 1">
            <a:extLst>
              <a:ext uri="{FF2B5EF4-FFF2-40B4-BE49-F238E27FC236}">
                <a16:creationId xmlns:a16="http://schemas.microsoft.com/office/drawing/2014/main" id="{15EE3D58-4323-E84A-90E6-7653DA8130B3}"/>
              </a:ext>
            </a:extLst>
          </p:cNvPr>
          <p:cNvSpPr txBox="1"/>
          <p:nvPr/>
        </p:nvSpPr>
        <p:spPr>
          <a:xfrm>
            <a:off x="7635482" y="-36848"/>
            <a:ext cx="4765016" cy="461665"/>
          </a:xfrm>
          <a:prstGeom prst="rect">
            <a:avLst/>
          </a:prstGeom>
          <a:noFill/>
        </p:spPr>
        <p:txBody>
          <a:bodyPr wrap="square">
            <a:spAutoFit/>
          </a:bodyPr>
          <a:lstStyle/>
          <a:p>
            <a:pPr lvl="0">
              <a:spcBef>
                <a:spcPct val="0"/>
              </a:spcBef>
              <a:defRPr/>
            </a:pPr>
            <a:r>
              <a:rPr lang="en-US" sz="1200" b="1">
                <a:latin typeface="Adobe Devanagari"/>
              </a:rPr>
              <a:t>POLYPHARMACY RISK SCORE SYSTEM BASED ON DRUG INTERACTION</a:t>
            </a:r>
          </a:p>
          <a:p>
            <a:endParaRPr lang="en-US" sz="1200"/>
          </a:p>
        </p:txBody>
      </p:sp>
      <p:sp>
        <p:nvSpPr>
          <p:cNvPr id="8" name="Rectangle 7">
            <a:extLst>
              <a:ext uri="{FF2B5EF4-FFF2-40B4-BE49-F238E27FC236}">
                <a16:creationId xmlns:a16="http://schemas.microsoft.com/office/drawing/2014/main" id="{2064D6A6-219C-1940-1233-22CCAD1A6170}"/>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chemeClr val="tx1"/>
                </a:solidFill>
              </a:rPr>
              <a:t>IT22591098</a:t>
            </a:r>
            <a:r>
              <a:rPr lang="en-US">
                <a:solidFill>
                  <a:schemeClr val="tx1"/>
                </a:solidFill>
              </a:rPr>
              <a:t>   |   </a:t>
            </a:r>
            <a:r>
              <a:rPr lang="en-US" b="1">
                <a:solidFill>
                  <a:schemeClr val="tx1"/>
                </a:solidFill>
              </a:rPr>
              <a:t>Jayalath J.P.R.J   </a:t>
            </a:r>
            <a:r>
              <a:rPr lang="en-US">
                <a:solidFill>
                  <a:schemeClr val="tx1"/>
                </a:solidFill>
              </a:rPr>
              <a:t>|   25-26J-368</a:t>
            </a:r>
          </a:p>
        </p:txBody>
      </p:sp>
    </p:spTree>
    <p:extLst>
      <p:ext uri="{BB962C8B-B14F-4D97-AF65-F5344CB8AC3E}">
        <p14:creationId xmlns:p14="http://schemas.microsoft.com/office/powerpoint/2010/main" val="13583794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BDCD7-96F1-5D0A-11F5-73E0B8CAE9A6}"/>
              </a:ext>
            </a:extLst>
          </p:cNvPr>
          <p:cNvSpPr>
            <a:spLocks noGrp="1"/>
          </p:cNvSpPr>
          <p:nvPr>
            <p:ph type="title"/>
          </p:nvPr>
        </p:nvSpPr>
        <p:spPr/>
        <p:txBody>
          <a:bodyPr/>
          <a:lstStyle/>
          <a:p>
            <a:r>
              <a:rPr lang="en-US" b="1">
                <a:solidFill>
                  <a:schemeClr val="accent1">
                    <a:lumMod val="50000"/>
                  </a:schemeClr>
                </a:solidFill>
              </a:rPr>
              <a:t>SYSTEM OVERVIEW DIAGRAM</a:t>
            </a:r>
            <a:endParaRPr lang="en-US"/>
          </a:p>
        </p:txBody>
      </p:sp>
      <p:pic>
        <p:nvPicPr>
          <p:cNvPr id="5" name="Content Placeholder 4" descr="A diagram of a computer process&#10;&#10;AI-generated content may be incorrect.">
            <a:extLst>
              <a:ext uri="{FF2B5EF4-FFF2-40B4-BE49-F238E27FC236}">
                <a16:creationId xmlns:a16="http://schemas.microsoft.com/office/drawing/2014/main" id="{97703158-E7F8-5534-700C-DD443819D3A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0680"/>
          <a:stretch>
            <a:fillRect/>
          </a:stretch>
        </p:blipFill>
        <p:spPr>
          <a:xfrm>
            <a:off x="1021830" y="1238528"/>
            <a:ext cx="10148340" cy="4039237"/>
          </a:xfrm>
        </p:spPr>
      </p:pic>
      <p:sp>
        <p:nvSpPr>
          <p:cNvPr id="6" name="Hexagon 5">
            <a:extLst>
              <a:ext uri="{FF2B5EF4-FFF2-40B4-BE49-F238E27FC236}">
                <a16:creationId xmlns:a16="http://schemas.microsoft.com/office/drawing/2014/main" id="{17DC9821-FBAA-1612-B3C2-1F1DB596B878}"/>
              </a:ext>
            </a:extLst>
          </p:cNvPr>
          <p:cNvSpPr/>
          <p:nvPr/>
        </p:nvSpPr>
        <p:spPr>
          <a:xfrm>
            <a:off x="939074" y="193033"/>
            <a:ext cx="972824" cy="844194"/>
          </a:xfrm>
          <a:prstGeom prst="hexagon">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exagon 6">
            <a:extLst>
              <a:ext uri="{FF2B5EF4-FFF2-40B4-BE49-F238E27FC236}">
                <a16:creationId xmlns:a16="http://schemas.microsoft.com/office/drawing/2014/main" id="{8C2C148D-8D1E-F379-EFB6-35B6B3CFF696}"/>
              </a:ext>
            </a:extLst>
          </p:cNvPr>
          <p:cNvSpPr/>
          <p:nvPr/>
        </p:nvSpPr>
        <p:spPr>
          <a:xfrm>
            <a:off x="308082" y="843695"/>
            <a:ext cx="558390" cy="478408"/>
          </a:xfrm>
          <a:prstGeom prst="hexagon">
            <a:avLst/>
          </a:prstGeom>
          <a:solidFill>
            <a:schemeClr val="accent1">
              <a:lumMod val="5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exagon 7">
            <a:extLst>
              <a:ext uri="{FF2B5EF4-FFF2-40B4-BE49-F238E27FC236}">
                <a16:creationId xmlns:a16="http://schemas.microsoft.com/office/drawing/2014/main" id="{2CB2C904-6F41-F12D-C368-5A37529DE702}"/>
              </a:ext>
            </a:extLst>
          </p:cNvPr>
          <p:cNvSpPr/>
          <p:nvPr/>
        </p:nvSpPr>
        <p:spPr>
          <a:xfrm>
            <a:off x="480938" y="348712"/>
            <a:ext cx="225022" cy="200632"/>
          </a:xfrm>
          <a:prstGeom prst="hexagon">
            <a:avLst/>
          </a:prstGeom>
          <a:solidFill>
            <a:schemeClr val="accent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Hexagon 8">
            <a:extLst>
              <a:ext uri="{FF2B5EF4-FFF2-40B4-BE49-F238E27FC236}">
                <a16:creationId xmlns:a16="http://schemas.microsoft.com/office/drawing/2014/main" id="{F7C520DE-2CDE-2570-E152-700BF770FA45}"/>
              </a:ext>
            </a:extLst>
          </p:cNvPr>
          <p:cNvSpPr/>
          <p:nvPr/>
        </p:nvSpPr>
        <p:spPr>
          <a:xfrm>
            <a:off x="986432" y="1152484"/>
            <a:ext cx="105193" cy="86044"/>
          </a:xfrm>
          <a:prstGeom prst="hexagon">
            <a:avLst/>
          </a:prstGeom>
          <a:solidFill>
            <a:schemeClr val="accent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79C6867-F2E9-C241-7089-5CA277AF6A4E}"/>
              </a:ext>
            </a:extLst>
          </p:cNvPr>
          <p:cNvSpPr txBox="1"/>
          <p:nvPr/>
        </p:nvSpPr>
        <p:spPr>
          <a:xfrm>
            <a:off x="1242227" y="5277765"/>
            <a:ext cx="8569429" cy="646331"/>
          </a:xfrm>
          <a:prstGeom prst="rect">
            <a:avLst/>
          </a:prstGeom>
          <a:noFill/>
        </p:spPr>
        <p:txBody>
          <a:bodyPr wrap="square">
            <a:spAutoFit/>
          </a:bodyPr>
          <a:lstStyle/>
          <a:p>
            <a:pPr>
              <a:buNone/>
            </a:pPr>
            <a:r>
              <a:rPr lang="en-US" b="1"/>
              <a:t>Real-world Use</a:t>
            </a:r>
            <a:endParaRPr lang="en-US"/>
          </a:p>
          <a:p>
            <a:pPr>
              <a:buFont typeface="Arial" panose="020B0604020202020204" pitchFamily="34" charset="0"/>
              <a:buChar char="•"/>
            </a:pPr>
            <a:r>
              <a:rPr lang="en-US"/>
              <a:t>Clinicians get </a:t>
            </a:r>
            <a:r>
              <a:rPr lang="en-US" b="1"/>
              <a:t>visual risk scores, warnings, and alternatives</a:t>
            </a:r>
            <a:r>
              <a:rPr lang="en-US"/>
              <a:t> during prescribing.</a:t>
            </a:r>
          </a:p>
        </p:txBody>
      </p:sp>
      <p:sp>
        <p:nvSpPr>
          <p:cNvPr id="3" name="TextBox 2">
            <a:extLst>
              <a:ext uri="{FF2B5EF4-FFF2-40B4-BE49-F238E27FC236}">
                <a16:creationId xmlns:a16="http://schemas.microsoft.com/office/drawing/2014/main" id="{4F2BA9A6-99E4-8478-7511-03AFD133D16B}"/>
              </a:ext>
            </a:extLst>
          </p:cNvPr>
          <p:cNvSpPr txBox="1"/>
          <p:nvPr/>
        </p:nvSpPr>
        <p:spPr>
          <a:xfrm>
            <a:off x="7635482" y="-36848"/>
            <a:ext cx="4765016" cy="461665"/>
          </a:xfrm>
          <a:prstGeom prst="rect">
            <a:avLst/>
          </a:prstGeom>
          <a:noFill/>
        </p:spPr>
        <p:txBody>
          <a:bodyPr wrap="square">
            <a:spAutoFit/>
          </a:bodyPr>
          <a:lstStyle/>
          <a:p>
            <a:pPr lvl="0">
              <a:spcBef>
                <a:spcPct val="0"/>
              </a:spcBef>
              <a:defRPr/>
            </a:pPr>
            <a:r>
              <a:rPr lang="en-US" sz="1200" b="1">
                <a:latin typeface="Adobe Devanagari"/>
              </a:rPr>
              <a:t>POLYPHARMACY RISK SCORE SYSTEM BASED ON DRUG INTERACTION</a:t>
            </a:r>
          </a:p>
          <a:p>
            <a:endParaRPr lang="en-US" sz="1200"/>
          </a:p>
        </p:txBody>
      </p:sp>
      <p:sp>
        <p:nvSpPr>
          <p:cNvPr id="4" name="Rectangle 3">
            <a:extLst>
              <a:ext uri="{FF2B5EF4-FFF2-40B4-BE49-F238E27FC236}">
                <a16:creationId xmlns:a16="http://schemas.microsoft.com/office/drawing/2014/main" id="{C68216EB-2139-B38E-6DFF-5FDB5C3CA600}"/>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chemeClr val="tx1"/>
                </a:solidFill>
              </a:rPr>
              <a:t>IT22591098</a:t>
            </a:r>
            <a:r>
              <a:rPr lang="en-US">
                <a:solidFill>
                  <a:schemeClr val="tx1"/>
                </a:solidFill>
              </a:rPr>
              <a:t>   |   </a:t>
            </a:r>
            <a:r>
              <a:rPr lang="en-US" b="1">
                <a:solidFill>
                  <a:schemeClr val="tx1"/>
                </a:solidFill>
              </a:rPr>
              <a:t>Jayalath J.P.R.J   </a:t>
            </a:r>
            <a:r>
              <a:rPr lang="en-US">
                <a:solidFill>
                  <a:schemeClr val="tx1"/>
                </a:solidFill>
              </a:rPr>
              <a:t>|   25-26J-368</a:t>
            </a:r>
          </a:p>
        </p:txBody>
      </p:sp>
    </p:spTree>
    <p:extLst>
      <p:ext uri="{BB962C8B-B14F-4D97-AF65-F5344CB8AC3E}">
        <p14:creationId xmlns:p14="http://schemas.microsoft.com/office/powerpoint/2010/main" val="40292075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5CC5231-CA3C-9394-013F-CF9EE62DCA41}"/>
              </a:ext>
            </a:extLst>
          </p:cNvPr>
          <p:cNvSpPr txBox="1">
            <a:spLocks/>
          </p:cNvSpPr>
          <p:nvPr/>
        </p:nvSpPr>
        <p:spPr>
          <a:xfrm>
            <a:off x="304800" y="304800"/>
            <a:ext cx="11684000" cy="792162"/>
          </a:xfrm>
          <a:prstGeom prst="rect">
            <a:avLst/>
          </a:prstGeom>
        </p:spPr>
        <p:txBody>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r>
              <a:rPr lang="en-US" b="1">
                <a:solidFill>
                  <a:schemeClr val="accent1">
                    <a:lumMod val="50000"/>
                  </a:schemeClr>
                </a:solidFill>
              </a:rPr>
              <a:t>WORK BREAKDOWN STRUCTURE</a:t>
            </a:r>
            <a:endParaRPr lang="en-US"/>
          </a:p>
        </p:txBody>
      </p:sp>
      <p:pic>
        <p:nvPicPr>
          <p:cNvPr id="6" name="Picture 5" descr="A diagram of a computer&#10;&#10;AI-generated content may be incorrect.">
            <a:extLst>
              <a:ext uri="{FF2B5EF4-FFF2-40B4-BE49-F238E27FC236}">
                <a16:creationId xmlns:a16="http://schemas.microsoft.com/office/drawing/2014/main" id="{F5877D1E-CC29-7C30-E60D-CDE89549DE05}"/>
              </a:ext>
            </a:extLst>
          </p:cNvPr>
          <p:cNvPicPr>
            <a:picLocks noChangeAspect="1"/>
          </p:cNvPicPr>
          <p:nvPr/>
        </p:nvPicPr>
        <p:blipFill rotWithShape="1">
          <a:blip r:embed="rId2">
            <a:extLst>
              <a:ext uri="{28A0092B-C50C-407E-A947-70E740481C1C}">
                <a14:useLocalDpi xmlns:a14="http://schemas.microsoft.com/office/drawing/2010/main" val="0"/>
              </a:ext>
            </a:extLst>
          </a:blip>
          <a:srcRect b="6037"/>
          <a:stretch/>
        </p:blipFill>
        <p:spPr>
          <a:xfrm>
            <a:off x="714531" y="1195506"/>
            <a:ext cx="10762937" cy="5126857"/>
          </a:xfrm>
          <a:prstGeom prst="rect">
            <a:avLst/>
          </a:prstGeom>
        </p:spPr>
      </p:pic>
      <p:sp>
        <p:nvSpPr>
          <p:cNvPr id="7" name="Hexagon 6">
            <a:extLst>
              <a:ext uri="{FF2B5EF4-FFF2-40B4-BE49-F238E27FC236}">
                <a16:creationId xmlns:a16="http://schemas.microsoft.com/office/drawing/2014/main" id="{605E42DF-AF2C-CF1C-638F-B47AD4BB0AC8}"/>
              </a:ext>
            </a:extLst>
          </p:cNvPr>
          <p:cNvSpPr/>
          <p:nvPr/>
        </p:nvSpPr>
        <p:spPr>
          <a:xfrm>
            <a:off x="939074" y="193033"/>
            <a:ext cx="972824" cy="844194"/>
          </a:xfrm>
          <a:prstGeom prst="hexagon">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exagon 7">
            <a:extLst>
              <a:ext uri="{FF2B5EF4-FFF2-40B4-BE49-F238E27FC236}">
                <a16:creationId xmlns:a16="http://schemas.microsoft.com/office/drawing/2014/main" id="{ECB1B0DF-E3EA-BE59-A66E-E794402B2AF8}"/>
              </a:ext>
            </a:extLst>
          </p:cNvPr>
          <p:cNvSpPr/>
          <p:nvPr/>
        </p:nvSpPr>
        <p:spPr>
          <a:xfrm>
            <a:off x="308082" y="843695"/>
            <a:ext cx="558390" cy="478408"/>
          </a:xfrm>
          <a:prstGeom prst="hexagon">
            <a:avLst/>
          </a:prstGeom>
          <a:solidFill>
            <a:schemeClr val="accent1">
              <a:lumMod val="5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Hexagon 8">
            <a:extLst>
              <a:ext uri="{FF2B5EF4-FFF2-40B4-BE49-F238E27FC236}">
                <a16:creationId xmlns:a16="http://schemas.microsoft.com/office/drawing/2014/main" id="{EB8DDB63-ABBF-A9D7-7365-B630FD839FA8}"/>
              </a:ext>
            </a:extLst>
          </p:cNvPr>
          <p:cNvSpPr/>
          <p:nvPr/>
        </p:nvSpPr>
        <p:spPr>
          <a:xfrm>
            <a:off x="480938" y="348712"/>
            <a:ext cx="225022" cy="200632"/>
          </a:xfrm>
          <a:prstGeom prst="hexagon">
            <a:avLst/>
          </a:prstGeom>
          <a:solidFill>
            <a:schemeClr val="accent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exagon 9">
            <a:extLst>
              <a:ext uri="{FF2B5EF4-FFF2-40B4-BE49-F238E27FC236}">
                <a16:creationId xmlns:a16="http://schemas.microsoft.com/office/drawing/2014/main" id="{375A2FBB-2247-EA0C-B8DA-AC4D989E6EB9}"/>
              </a:ext>
            </a:extLst>
          </p:cNvPr>
          <p:cNvSpPr/>
          <p:nvPr/>
        </p:nvSpPr>
        <p:spPr>
          <a:xfrm>
            <a:off x="986432" y="1152484"/>
            <a:ext cx="105193" cy="86044"/>
          </a:xfrm>
          <a:prstGeom prst="hexagon">
            <a:avLst/>
          </a:prstGeom>
          <a:solidFill>
            <a:schemeClr val="accent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22C5899-1674-0019-385D-273140A5F87C}"/>
              </a:ext>
            </a:extLst>
          </p:cNvPr>
          <p:cNvSpPr txBox="1"/>
          <p:nvPr/>
        </p:nvSpPr>
        <p:spPr>
          <a:xfrm>
            <a:off x="7635482" y="-36848"/>
            <a:ext cx="4765016" cy="461665"/>
          </a:xfrm>
          <a:prstGeom prst="rect">
            <a:avLst/>
          </a:prstGeom>
          <a:noFill/>
        </p:spPr>
        <p:txBody>
          <a:bodyPr wrap="square">
            <a:spAutoFit/>
          </a:bodyPr>
          <a:lstStyle/>
          <a:p>
            <a:pPr lvl="0">
              <a:spcBef>
                <a:spcPct val="0"/>
              </a:spcBef>
              <a:defRPr/>
            </a:pPr>
            <a:r>
              <a:rPr lang="en-US" sz="1200" b="1">
                <a:latin typeface="Adobe Devanagari"/>
              </a:rPr>
              <a:t>POLYPHARMACY RISK SCORE SYSTEM BASED ON DRUG INTERACTION</a:t>
            </a:r>
          </a:p>
          <a:p>
            <a:endParaRPr lang="en-US" sz="1200"/>
          </a:p>
        </p:txBody>
      </p:sp>
      <p:sp>
        <p:nvSpPr>
          <p:cNvPr id="3" name="Rectangle 2">
            <a:extLst>
              <a:ext uri="{FF2B5EF4-FFF2-40B4-BE49-F238E27FC236}">
                <a16:creationId xmlns:a16="http://schemas.microsoft.com/office/drawing/2014/main" id="{A6F3BE04-9F65-D1FB-6C78-1344895E96E5}"/>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chemeClr val="tx1"/>
                </a:solidFill>
              </a:rPr>
              <a:t>IT22591098</a:t>
            </a:r>
            <a:r>
              <a:rPr lang="en-US">
                <a:solidFill>
                  <a:schemeClr val="tx1"/>
                </a:solidFill>
              </a:rPr>
              <a:t>   |   </a:t>
            </a:r>
            <a:r>
              <a:rPr lang="en-US" b="1">
                <a:solidFill>
                  <a:schemeClr val="tx1"/>
                </a:solidFill>
              </a:rPr>
              <a:t>Jayalath J.P.R.J   </a:t>
            </a:r>
            <a:r>
              <a:rPr lang="en-US">
                <a:solidFill>
                  <a:schemeClr val="tx1"/>
                </a:solidFill>
              </a:rPr>
              <a:t>|   25-26J-368</a:t>
            </a:r>
          </a:p>
        </p:txBody>
      </p:sp>
    </p:spTree>
    <p:extLst>
      <p:ext uri="{BB962C8B-B14F-4D97-AF65-F5344CB8AC3E}">
        <p14:creationId xmlns:p14="http://schemas.microsoft.com/office/powerpoint/2010/main" val="19165237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a:xfrm>
            <a:off x="963084" y="4657901"/>
            <a:ext cx="10363200" cy="816863"/>
          </a:xfrm>
        </p:spPr>
        <p:txBody>
          <a:bodyPr/>
          <a:lstStyle/>
          <a:p>
            <a:r>
              <a:rPr lang="en-US"/>
              <a:t>It22600516 | Tharaka B W P</a:t>
            </a:r>
          </a:p>
        </p:txBody>
      </p:sp>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a:xfrm>
            <a:off x="963084" y="5212080"/>
            <a:ext cx="10363200" cy="525368"/>
          </a:xfrm>
        </p:spPr>
        <p:txBody>
          <a:bodyPr/>
          <a:lstStyle/>
          <a:p>
            <a:r>
              <a:rPr lang="en-US" b="1">
                <a:solidFill>
                  <a:schemeClr val="tx1"/>
                </a:solidFill>
              </a:rPr>
              <a:t>Specialization : Information Technology</a:t>
            </a:r>
          </a:p>
        </p:txBody>
      </p:sp>
      <p:sp>
        <p:nvSpPr>
          <p:cNvPr id="4" name="Rectangle 3">
            <a:extLst>
              <a:ext uri="{FF2B5EF4-FFF2-40B4-BE49-F238E27FC236}">
                <a16:creationId xmlns:a16="http://schemas.microsoft.com/office/drawing/2014/main" id="{5FB98E66-DBD5-4B29-AC68-A58A70C64231}"/>
              </a:ext>
            </a:extLst>
          </p:cNvPr>
          <p:cNvSpPr/>
          <p:nvPr/>
        </p:nvSpPr>
        <p:spPr>
          <a:xfrm>
            <a:off x="2632435" y="6496050"/>
            <a:ext cx="6816365" cy="36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tx1"/>
                </a:solidFill>
                <a:effectLst/>
                <a:uLnTx/>
                <a:uFillTx/>
                <a:latin typeface="Cambria"/>
                <a:ea typeface="+mn-ea"/>
                <a:cs typeface="+mn-cs"/>
              </a:rPr>
              <a:t>IT22600516</a:t>
            </a:r>
            <a:r>
              <a:rPr kumimoji="0" lang="en-US" sz="1800" b="0" i="0" u="none" strike="noStrike" kern="1200" cap="none" spc="0" normalizeH="0" baseline="0" noProof="0">
                <a:ln>
                  <a:noFill/>
                </a:ln>
                <a:solidFill>
                  <a:schemeClr val="tx1"/>
                </a:solidFill>
                <a:effectLst/>
                <a:uLnTx/>
                <a:uFillTx/>
                <a:latin typeface="Cambria"/>
                <a:ea typeface="+mn-ea"/>
                <a:cs typeface="+mn-cs"/>
              </a:rPr>
              <a:t>   |   </a:t>
            </a:r>
            <a:r>
              <a:rPr kumimoji="0" lang="en-US" sz="1800" b="1" i="0" u="none" strike="noStrike" kern="1200" cap="none" spc="0" normalizeH="0" baseline="0" noProof="0">
                <a:ln>
                  <a:noFill/>
                </a:ln>
                <a:solidFill>
                  <a:schemeClr val="tx1"/>
                </a:solidFill>
                <a:effectLst/>
                <a:uLnTx/>
                <a:uFillTx/>
                <a:latin typeface="Cambria"/>
                <a:ea typeface="+mn-ea"/>
                <a:cs typeface="+mn-cs"/>
              </a:rPr>
              <a:t>Tharaka B.W.P   </a:t>
            </a:r>
            <a:r>
              <a:rPr kumimoji="0" lang="en-US" sz="1800" b="0" i="0" u="none" strike="noStrike" kern="1200" cap="none" spc="0" normalizeH="0" baseline="0" noProof="0">
                <a:ln>
                  <a:noFill/>
                </a:ln>
                <a:solidFill>
                  <a:schemeClr val="tx1"/>
                </a:solidFill>
                <a:effectLst/>
                <a:uLnTx/>
                <a:uFillTx/>
                <a:latin typeface="Cambria"/>
                <a:ea typeface="+mn-ea"/>
                <a:cs typeface="+mn-cs"/>
              </a:rPr>
              <a:t>|   25-26J-368</a:t>
            </a:r>
          </a:p>
        </p:txBody>
      </p:sp>
      <p:sp>
        <p:nvSpPr>
          <p:cNvPr id="7" name="TextBox 6">
            <a:extLst>
              <a:ext uri="{FF2B5EF4-FFF2-40B4-BE49-F238E27FC236}">
                <a16:creationId xmlns:a16="http://schemas.microsoft.com/office/drawing/2014/main" id="{ACF5844C-A4EE-5BEE-2502-838903FF7DB7}"/>
              </a:ext>
            </a:extLst>
          </p:cNvPr>
          <p:cNvSpPr txBox="1"/>
          <p:nvPr/>
        </p:nvSpPr>
        <p:spPr>
          <a:xfrm>
            <a:off x="963084" y="1256003"/>
            <a:ext cx="10226026" cy="1938992"/>
          </a:xfrm>
          <a:prstGeom prst="rect">
            <a:avLst/>
          </a:prstGeom>
          <a:noFill/>
        </p:spPr>
        <p:txBody>
          <a:bodyPr wrap="square">
            <a:sp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a:ln>
                  <a:noFill/>
                </a:ln>
                <a:effectLst/>
                <a:uLnTx/>
                <a:uFillTx/>
                <a:latin typeface="Adobe Devanagari"/>
                <a:ea typeface="+mj-ea"/>
                <a:cs typeface="Times New Roman"/>
              </a:rPr>
              <a:t>PERSONALIZED MENTAL HEALTH </a:t>
            </a:r>
          </a:p>
          <a:p>
            <a:pPr marL="0" marR="0" lvl="0" indent="0"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a:ln>
                  <a:noFill/>
                </a:ln>
                <a:effectLst/>
                <a:uLnTx/>
                <a:uFillTx/>
                <a:latin typeface="Adobe Devanagari"/>
                <a:ea typeface="+mj-ea"/>
                <a:cs typeface="Times New Roman"/>
              </a:rPr>
              <a:t>AND LIFESTYLE ADVISORY SYSTEM </a:t>
            </a:r>
          </a:p>
          <a:p>
            <a:pPr marL="0" marR="0" lvl="0" indent="0"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a:ln>
                  <a:noFill/>
                </a:ln>
                <a:effectLst/>
                <a:uLnTx/>
                <a:uFillTx/>
                <a:latin typeface="Adobe Devanagari"/>
                <a:ea typeface="+mj-ea"/>
                <a:cs typeface="Times New Roman"/>
              </a:rPr>
              <a:t>FOR GERIATRIC PATIENTS</a:t>
            </a:r>
            <a:endParaRPr kumimoji="0" lang="en-US" sz="4000" b="0" i="0" u="none" strike="noStrike" kern="1200" cap="none" spc="0" normalizeH="0" baseline="0" noProof="0">
              <a:ln>
                <a:noFill/>
              </a:ln>
              <a:effectLst/>
              <a:uLnTx/>
              <a:uFillTx/>
              <a:latin typeface="Adobe Devanagari"/>
              <a:ea typeface="+mj-ea"/>
              <a:cs typeface="Adobe Devanagari" pitchFamily="18" charset="0"/>
            </a:endParaRPr>
          </a:p>
        </p:txBody>
      </p:sp>
      <p:grpSp>
        <p:nvGrpSpPr>
          <p:cNvPr id="20" name="Group 19">
            <a:extLst>
              <a:ext uri="{FF2B5EF4-FFF2-40B4-BE49-F238E27FC236}">
                <a16:creationId xmlns:a16="http://schemas.microsoft.com/office/drawing/2014/main" id="{22284048-6AD8-27A3-7CC9-EA0EE6979853}"/>
              </a:ext>
            </a:extLst>
          </p:cNvPr>
          <p:cNvGrpSpPr/>
          <p:nvPr/>
        </p:nvGrpSpPr>
        <p:grpSpPr>
          <a:xfrm>
            <a:off x="0" y="-1"/>
            <a:ext cx="11573481" cy="6131850"/>
            <a:chOff x="0" y="-1"/>
            <a:chExt cx="11573481" cy="6131850"/>
          </a:xfrm>
        </p:grpSpPr>
        <p:sp>
          <p:nvSpPr>
            <p:cNvPr id="19" name="Half Frame 18">
              <a:extLst>
                <a:ext uri="{FF2B5EF4-FFF2-40B4-BE49-F238E27FC236}">
                  <a16:creationId xmlns:a16="http://schemas.microsoft.com/office/drawing/2014/main" id="{0963BD8A-13AF-AA05-48F9-FCB538BC7685}"/>
                </a:ext>
              </a:extLst>
            </p:cNvPr>
            <p:cNvSpPr/>
            <p:nvPr/>
          </p:nvSpPr>
          <p:spPr>
            <a:xfrm>
              <a:off x="0" y="-1"/>
              <a:ext cx="2891908" cy="1727765"/>
            </a:xfrm>
            <a:prstGeom prst="halfFrame">
              <a:avLst>
                <a:gd name="adj1" fmla="val 36142"/>
                <a:gd name="adj2" fmla="val 33333"/>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 name="Group 1">
              <a:extLst>
                <a:ext uri="{FF2B5EF4-FFF2-40B4-BE49-F238E27FC236}">
                  <a16:creationId xmlns:a16="http://schemas.microsoft.com/office/drawing/2014/main" id="{0E97330E-954A-5564-C0DE-3930CB963EC0}"/>
                </a:ext>
              </a:extLst>
            </p:cNvPr>
            <p:cNvGrpSpPr/>
            <p:nvPr/>
          </p:nvGrpSpPr>
          <p:grpSpPr>
            <a:xfrm>
              <a:off x="9368879" y="4211402"/>
              <a:ext cx="2204602" cy="1920447"/>
              <a:chOff x="9368879" y="4211402"/>
              <a:chExt cx="2204602" cy="1920447"/>
            </a:xfrm>
          </p:grpSpPr>
          <p:sp>
            <p:nvSpPr>
              <p:cNvPr id="15" name="Flowchart: Connector 14">
                <a:extLst>
                  <a:ext uri="{FF2B5EF4-FFF2-40B4-BE49-F238E27FC236}">
                    <a16:creationId xmlns:a16="http://schemas.microsoft.com/office/drawing/2014/main" id="{F7883A7D-D772-4DF8-DC4F-CB35E76A6B94}"/>
                  </a:ext>
                </a:extLst>
              </p:cNvPr>
              <p:cNvSpPr/>
              <p:nvPr/>
            </p:nvSpPr>
            <p:spPr>
              <a:xfrm>
                <a:off x="10446436" y="4368578"/>
                <a:ext cx="1127045" cy="1152961"/>
              </a:xfrm>
              <a:prstGeom prst="flowChartConnector">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6" name="Flowchart: Connector 15">
                <a:extLst>
                  <a:ext uri="{FF2B5EF4-FFF2-40B4-BE49-F238E27FC236}">
                    <a16:creationId xmlns:a16="http://schemas.microsoft.com/office/drawing/2014/main" id="{60A2D914-E1A8-3D96-CBFD-4A36BE471260}"/>
                  </a:ext>
                </a:extLst>
              </p:cNvPr>
              <p:cNvSpPr/>
              <p:nvPr/>
            </p:nvSpPr>
            <p:spPr>
              <a:xfrm>
                <a:off x="10066066" y="5454208"/>
                <a:ext cx="658021" cy="677641"/>
              </a:xfrm>
              <a:prstGeom prst="flowChartConnector">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7" name="Flowchart: Connector 16">
                <a:extLst>
                  <a:ext uri="{FF2B5EF4-FFF2-40B4-BE49-F238E27FC236}">
                    <a16:creationId xmlns:a16="http://schemas.microsoft.com/office/drawing/2014/main" id="{DC63FCB4-0C76-CA45-0602-6956DF777C99}"/>
                  </a:ext>
                </a:extLst>
              </p:cNvPr>
              <p:cNvSpPr/>
              <p:nvPr/>
            </p:nvSpPr>
            <p:spPr>
              <a:xfrm>
                <a:off x="9368879" y="4678037"/>
                <a:ext cx="810703" cy="814141"/>
              </a:xfrm>
              <a:prstGeom prst="flowChartConnector">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8" name="Flowchart: Connector 17">
                <a:extLst>
                  <a:ext uri="{FF2B5EF4-FFF2-40B4-BE49-F238E27FC236}">
                    <a16:creationId xmlns:a16="http://schemas.microsoft.com/office/drawing/2014/main" id="{F516CC92-23BF-6C12-7825-D68BCADBE775}"/>
                  </a:ext>
                </a:extLst>
              </p:cNvPr>
              <p:cNvSpPr/>
              <p:nvPr/>
            </p:nvSpPr>
            <p:spPr>
              <a:xfrm>
                <a:off x="10110704" y="4211402"/>
                <a:ext cx="335732" cy="338820"/>
              </a:xfrm>
              <a:prstGeom prst="flowChartConnector">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grpSp>
      </p:grpSp>
      <p:pic>
        <p:nvPicPr>
          <p:cNvPr id="12" name="Picture 11">
            <a:extLst>
              <a:ext uri="{FF2B5EF4-FFF2-40B4-BE49-F238E27FC236}">
                <a16:creationId xmlns:a16="http://schemas.microsoft.com/office/drawing/2014/main" id="{379C63E3-A324-5A8C-6F90-BB53D9D1C1D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184" t="2084" r="9485" b="9100"/>
          <a:stretch/>
        </p:blipFill>
        <p:spPr>
          <a:xfrm>
            <a:off x="10064848" y="130175"/>
            <a:ext cx="2063906" cy="2330450"/>
          </a:xfrm>
          <a:prstGeom prst="rect">
            <a:avLst/>
          </a:prstGeom>
          <a:effectLst/>
        </p:spPr>
      </p:pic>
    </p:spTree>
    <p:extLst>
      <p:ext uri="{BB962C8B-B14F-4D97-AF65-F5344CB8AC3E}">
        <p14:creationId xmlns:p14="http://schemas.microsoft.com/office/powerpoint/2010/main" val="14545071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Block Arc 28">
            <a:extLst>
              <a:ext uri="{FF2B5EF4-FFF2-40B4-BE49-F238E27FC236}">
                <a16:creationId xmlns:a16="http://schemas.microsoft.com/office/drawing/2014/main" id="{02BB7077-CDBC-EBF2-4229-DCD350330100}"/>
              </a:ext>
            </a:extLst>
          </p:cNvPr>
          <p:cNvSpPr/>
          <p:nvPr/>
        </p:nvSpPr>
        <p:spPr>
          <a:xfrm rot="5400000">
            <a:off x="2697042" y="2132734"/>
            <a:ext cx="3954564" cy="4094637"/>
          </a:xfrm>
          <a:prstGeom prst="blockArc">
            <a:avLst>
              <a:gd name="adj1" fmla="val 10800004"/>
              <a:gd name="adj2" fmla="val 21562532"/>
              <a:gd name="adj3" fmla="val 10039"/>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5" name="Picture 4">
            <a:extLst>
              <a:ext uri="{FF2B5EF4-FFF2-40B4-BE49-F238E27FC236}">
                <a16:creationId xmlns:a16="http://schemas.microsoft.com/office/drawing/2014/main" id="{95D175AA-4A3C-6EC9-6FA4-DF6C7FE4DF79}"/>
              </a:ext>
            </a:extLst>
          </p:cNvPr>
          <p:cNvPicPr>
            <a:picLocks noChangeAspect="1"/>
          </p:cNvPicPr>
          <p:nvPr/>
        </p:nvPicPr>
        <p:blipFill rotWithShape="1">
          <a:blip r:embed="rId3"/>
          <a:srcRect l="11221"/>
          <a:stretch/>
        </p:blipFill>
        <p:spPr>
          <a:xfrm>
            <a:off x="511276" y="491599"/>
            <a:ext cx="4231459" cy="5666919"/>
          </a:xfrm>
          <a:prstGeom prst="rect">
            <a:avLst/>
          </a:prstGeom>
          <a:blipFill>
            <a:blip r:embed="rId4">
              <a:extLst>
                <a:ext uri="{96DAC541-7B7A-43D3-8B79-37D633B846F1}">
                  <asvg:svgBlip xmlns:asvg="http://schemas.microsoft.com/office/drawing/2016/SVG/main" r:embed="rId5"/>
                </a:ext>
              </a:extLst>
            </a:blip>
            <a:stretch>
              <a:fillRect/>
            </a:stretch>
          </a:blipFill>
        </p:spPr>
      </p:pic>
      <p:sp>
        <p:nvSpPr>
          <p:cNvPr id="2" name="Rectangle 1">
            <a:extLst>
              <a:ext uri="{FF2B5EF4-FFF2-40B4-BE49-F238E27FC236}">
                <a16:creationId xmlns:a16="http://schemas.microsoft.com/office/drawing/2014/main" id="{DFE4EC63-6770-820F-FD41-58020C3333AA}"/>
              </a:ext>
            </a:extLst>
          </p:cNvPr>
          <p:cNvSpPr/>
          <p:nvPr/>
        </p:nvSpPr>
        <p:spPr>
          <a:xfrm>
            <a:off x="2687817" y="6492875"/>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IT22600516</a:t>
            </a:r>
            <a:r>
              <a:rPr lang="en-US" sz="1800">
                <a:solidFill>
                  <a:schemeClr val="tx1"/>
                </a:solidFill>
              </a:rPr>
              <a:t>   |   </a:t>
            </a:r>
            <a:r>
              <a:rPr lang="en-US" b="1">
                <a:solidFill>
                  <a:schemeClr val="tx1"/>
                </a:solidFill>
              </a:rPr>
              <a:t>Tharaka B.W.P</a:t>
            </a:r>
            <a:r>
              <a:rPr lang="en-US" sz="1800" b="1">
                <a:solidFill>
                  <a:schemeClr val="tx1"/>
                </a:solidFill>
              </a:rPr>
              <a:t>   </a:t>
            </a:r>
            <a:r>
              <a:rPr lang="en-US" sz="1800">
                <a:solidFill>
                  <a:schemeClr val="tx1"/>
                </a:solidFill>
              </a:rPr>
              <a:t>|   </a:t>
            </a:r>
            <a:r>
              <a:rPr lang="en-US">
                <a:solidFill>
                  <a:schemeClr val="tx1"/>
                </a:solidFill>
              </a:rPr>
              <a:t>25-26J-368</a:t>
            </a:r>
            <a:endParaRPr lang="en-US" sz="1800" b="0">
              <a:solidFill>
                <a:schemeClr val="tx1"/>
              </a:solidFill>
            </a:endParaRPr>
          </a:p>
        </p:txBody>
      </p:sp>
      <p:grpSp>
        <p:nvGrpSpPr>
          <p:cNvPr id="24" name="Group 23">
            <a:extLst>
              <a:ext uri="{FF2B5EF4-FFF2-40B4-BE49-F238E27FC236}">
                <a16:creationId xmlns:a16="http://schemas.microsoft.com/office/drawing/2014/main" id="{5728FCCB-5485-81DF-2655-1BE6648F37C6}"/>
              </a:ext>
            </a:extLst>
          </p:cNvPr>
          <p:cNvGrpSpPr/>
          <p:nvPr/>
        </p:nvGrpSpPr>
        <p:grpSpPr>
          <a:xfrm rot="10166651">
            <a:off x="208686" y="238506"/>
            <a:ext cx="1079334" cy="921953"/>
            <a:chOff x="9591465" y="240644"/>
            <a:chExt cx="1406194" cy="1061238"/>
          </a:xfrm>
        </p:grpSpPr>
        <p:sp>
          <p:nvSpPr>
            <p:cNvPr id="25" name="Hexagon 24">
              <a:extLst>
                <a:ext uri="{FF2B5EF4-FFF2-40B4-BE49-F238E27FC236}">
                  <a16:creationId xmlns:a16="http://schemas.microsoft.com/office/drawing/2014/main" id="{C86FC041-6CDE-0C7C-C100-97B8200AC6EA}"/>
                </a:ext>
              </a:extLst>
            </p:cNvPr>
            <p:cNvSpPr/>
            <p:nvPr/>
          </p:nvSpPr>
          <p:spPr>
            <a:xfrm rot="717601">
              <a:off x="9591465" y="812469"/>
              <a:ext cx="558390" cy="478408"/>
            </a:xfrm>
            <a:prstGeom prst="hexagon">
              <a:avLst/>
            </a:prstGeom>
            <a:solidFill>
              <a:schemeClr val="tx2">
                <a:lumMod val="5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Hexagon 25">
              <a:extLst>
                <a:ext uri="{FF2B5EF4-FFF2-40B4-BE49-F238E27FC236}">
                  <a16:creationId xmlns:a16="http://schemas.microsoft.com/office/drawing/2014/main" id="{1BD275D4-DAA2-13AE-C6D7-A81AA54EA1D3}"/>
                </a:ext>
              </a:extLst>
            </p:cNvPr>
            <p:cNvSpPr/>
            <p:nvPr/>
          </p:nvSpPr>
          <p:spPr>
            <a:xfrm rot="666809">
              <a:off x="10185090" y="532441"/>
              <a:ext cx="812569" cy="769441"/>
            </a:xfrm>
            <a:prstGeom prst="hexagon">
              <a:avLst/>
            </a:prstGeom>
            <a:solidFill>
              <a:schemeClr val="bg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 name="Hexagon 26">
              <a:extLst>
                <a:ext uri="{FF2B5EF4-FFF2-40B4-BE49-F238E27FC236}">
                  <a16:creationId xmlns:a16="http://schemas.microsoft.com/office/drawing/2014/main" id="{797117A6-42FA-10DB-CE96-BACC79052A9E}"/>
                </a:ext>
              </a:extLst>
            </p:cNvPr>
            <p:cNvSpPr/>
            <p:nvPr/>
          </p:nvSpPr>
          <p:spPr>
            <a:xfrm rot="741985">
              <a:off x="9717373" y="240644"/>
              <a:ext cx="558390" cy="478408"/>
            </a:xfrm>
            <a:prstGeom prst="hexagon">
              <a:avLst/>
            </a:prstGeom>
            <a:solidFill>
              <a:schemeClr val="tx2">
                <a:lumMod val="5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Oval 27">
            <a:extLst>
              <a:ext uri="{FF2B5EF4-FFF2-40B4-BE49-F238E27FC236}">
                <a16:creationId xmlns:a16="http://schemas.microsoft.com/office/drawing/2014/main" id="{BDAD9078-5618-9E0C-696D-D3F5AC77D3F6}"/>
              </a:ext>
            </a:extLst>
          </p:cNvPr>
          <p:cNvSpPr/>
          <p:nvPr/>
        </p:nvSpPr>
        <p:spPr>
          <a:xfrm>
            <a:off x="2922882" y="2728066"/>
            <a:ext cx="3173117" cy="2903974"/>
          </a:xfrm>
          <a:prstGeom prst="ellipse">
            <a:avLst/>
          </a:prstGeom>
          <a:solidFill>
            <a:schemeClr val="accent2">
              <a:lumMod val="75000"/>
            </a:schemeClr>
          </a:solidFill>
          <a:ln w="762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p:txBody>
      </p:sp>
      <p:pic>
        <p:nvPicPr>
          <p:cNvPr id="30" name="Picture 29" descr="A black background with a black square&#10;&#10;Description automatically generated with medium confidence">
            <a:extLst>
              <a:ext uri="{FF2B5EF4-FFF2-40B4-BE49-F238E27FC236}">
                <a16:creationId xmlns:a16="http://schemas.microsoft.com/office/drawing/2014/main" id="{0589C34D-CD8A-8B52-D8BE-897091D9FB9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28181" y="2624618"/>
            <a:ext cx="612567" cy="612567"/>
          </a:xfrm>
          <a:prstGeom prst="rect">
            <a:avLst/>
          </a:prstGeom>
        </p:spPr>
      </p:pic>
      <p:pic>
        <p:nvPicPr>
          <p:cNvPr id="31" name="Picture 30" descr="A black background with a black square&#10;&#10;Description automatically generated with medium confidence">
            <a:extLst>
              <a:ext uri="{FF2B5EF4-FFF2-40B4-BE49-F238E27FC236}">
                <a16:creationId xmlns:a16="http://schemas.microsoft.com/office/drawing/2014/main" id="{6B680036-9C6C-26C2-5D76-9AD3CA39B07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217465" y="3873768"/>
            <a:ext cx="612567" cy="612567"/>
          </a:xfrm>
          <a:prstGeom prst="rect">
            <a:avLst/>
          </a:prstGeom>
        </p:spPr>
      </p:pic>
      <p:pic>
        <p:nvPicPr>
          <p:cNvPr id="32" name="Picture 31" descr="A black background with a black square&#10;&#10;Description automatically generated with medium confidence">
            <a:extLst>
              <a:ext uri="{FF2B5EF4-FFF2-40B4-BE49-F238E27FC236}">
                <a16:creationId xmlns:a16="http://schemas.microsoft.com/office/drawing/2014/main" id="{BA4C2883-A5C3-A1F8-C3FF-86A961AA634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28181" y="5122917"/>
            <a:ext cx="612567" cy="612567"/>
          </a:xfrm>
          <a:prstGeom prst="rect">
            <a:avLst/>
          </a:prstGeom>
        </p:spPr>
      </p:pic>
      <p:sp>
        <p:nvSpPr>
          <p:cNvPr id="34" name="TextBox 33">
            <a:extLst>
              <a:ext uri="{FF2B5EF4-FFF2-40B4-BE49-F238E27FC236}">
                <a16:creationId xmlns:a16="http://schemas.microsoft.com/office/drawing/2014/main" id="{33705CAA-3DFF-3CB6-C5B8-115C4608DB5B}"/>
              </a:ext>
            </a:extLst>
          </p:cNvPr>
          <p:cNvSpPr txBox="1"/>
          <p:nvPr/>
        </p:nvSpPr>
        <p:spPr>
          <a:xfrm>
            <a:off x="7830032" y="3837673"/>
            <a:ext cx="4038600" cy="707886"/>
          </a:xfrm>
          <a:prstGeom prst="rect">
            <a:avLst/>
          </a:prstGeom>
          <a:noFill/>
        </p:spPr>
        <p:txBody>
          <a:bodyPr wrap="square" rtlCol="0">
            <a:spAutoFit/>
          </a:bodyPr>
          <a:lstStyle/>
          <a:p>
            <a:r>
              <a:rPr lang="en-US" sz="2000">
                <a:latin typeface="Adobe Devanagari"/>
              </a:rPr>
              <a:t>Integrating the polypharmacy risk score for advice</a:t>
            </a:r>
          </a:p>
        </p:txBody>
      </p:sp>
      <p:sp>
        <p:nvSpPr>
          <p:cNvPr id="35" name="TextBox 34">
            <a:extLst>
              <a:ext uri="{FF2B5EF4-FFF2-40B4-BE49-F238E27FC236}">
                <a16:creationId xmlns:a16="http://schemas.microsoft.com/office/drawing/2014/main" id="{C3B74E22-601D-B3CC-002D-219D5F003170}"/>
              </a:ext>
            </a:extLst>
          </p:cNvPr>
          <p:cNvSpPr txBox="1"/>
          <p:nvPr/>
        </p:nvSpPr>
        <p:spPr>
          <a:xfrm>
            <a:off x="7523748" y="5052939"/>
            <a:ext cx="4038600" cy="707886"/>
          </a:xfrm>
          <a:prstGeom prst="rect">
            <a:avLst/>
          </a:prstGeom>
          <a:noFill/>
        </p:spPr>
        <p:txBody>
          <a:bodyPr wrap="square" rtlCol="0">
            <a:spAutoFit/>
          </a:bodyPr>
          <a:lstStyle/>
          <a:p>
            <a:r>
              <a:rPr lang="en-US" sz="2000">
                <a:latin typeface="Aptos" panose="020B0004020202020204" pitchFamily="34" charset="0"/>
              </a:rPr>
              <a:t>Drug free personalized guidance for improve lifestyle</a:t>
            </a:r>
          </a:p>
        </p:txBody>
      </p:sp>
      <p:sp>
        <p:nvSpPr>
          <p:cNvPr id="36" name="TextBox 35">
            <a:extLst>
              <a:ext uri="{FF2B5EF4-FFF2-40B4-BE49-F238E27FC236}">
                <a16:creationId xmlns:a16="http://schemas.microsoft.com/office/drawing/2014/main" id="{C1DF58B2-8B2E-BEE9-32D2-27B88622943C}"/>
              </a:ext>
            </a:extLst>
          </p:cNvPr>
          <p:cNvSpPr txBox="1"/>
          <p:nvPr/>
        </p:nvSpPr>
        <p:spPr>
          <a:xfrm>
            <a:off x="7347286" y="2507138"/>
            <a:ext cx="4038600" cy="707886"/>
          </a:xfrm>
          <a:prstGeom prst="rect">
            <a:avLst/>
          </a:prstGeom>
          <a:noFill/>
        </p:spPr>
        <p:txBody>
          <a:bodyPr wrap="square" rtlCol="0">
            <a:spAutoFit/>
          </a:bodyPr>
          <a:lstStyle/>
          <a:p>
            <a:r>
              <a:rPr lang="en-US" sz="2000">
                <a:latin typeface="Adobe Devanagari"/>
              </a:rPr>
              <a:t>Mental health and facial expressions</a:t>
            </a:r>
          </a:p>
          <a:p>
            <a:r>
              <a:rPr lang="en-US" sz="2000">
                <a:latin typeface="Adobe Devanagari"/>
              </a:rPr>
              <a:t>checking for advice</a:t>
            </a:r>
          </a:p>
        </p:txBody>
      </p:sp>
      <p:sp>
        <p:nvSpPr>
          <p:cNvPr id="9" name="TextBox 8">
            <a:extLst>
              <a:ext uri="{FF2B5EF4-FFF2-40B4-BE49-F238E27FC236}">
                <a16:creationId xmlns:a16="http://schemas.microsoft.com/office/drawing/2014/main" id="{4E04F294-1093-9383-689A-4CC33BF25A4B}"/>
              </a:ext>
            </a:extLst>
          </p:cNvPr>
          <p:cNvSpPr txBox="1"/>
          <p:nvPr/>
        </p:nvSpPr>
        <p:spPr>
          <a:xfrm>
            <a:off x="5067927" y="267085"/>
            <a:ext cx="7251891" cy="1323439"/>
          </a:xfrm>
          <a:prstGeom prst="rect">
            <a:avLst/>
          </a:prstGeom>
          <a:noFill/>
        </p:spPr>
        <p:txBody>
          <a:bodyPr wrap="square">
            <a:spAutoFit/>
          </a:bodyPr>
          <a:lstStyle/>
          <a:p>
            <a:r>
              <a:rPr kumimoji="0" lang="en-US" sz="4000" b="1" i="0" u="none" strike="noStrike" kern="1200" cap="none" spc="0" normalizeH="0" baseline="0" noProof="0">
                <a:ln>
                  <a:noFill/>
                </a:ln>
                <a:solidFill>
                  <a:srgbClr val="0F6FC6">
                    <a:lumMod val="50000"/>
                  </a:srgbClr>
                </a:solidFill>
                <a:effectLst/>
                <a:uLnTx/>
                <a:uFillTx/>
                <a:ea typeface="+mj-ea"/>
              </a:rPr>
              <a:t>Introduction &amp; Background</a:t>
            </a:r>
            <a:br>
              <a:rPr kumimoji="0" lang="en-US" sz="4000" b="1" i="0" u="none" strike="noStrike" kern="1200" cap="none" spc="0" normalizeH="0" baseline="0" noProof="0">
                <a:ln>
                  <a:noFill/>
                </a:ln>
                <a:solidFill>
                  <a:srgbClr val="0F6FC6">
                    <a:lumMod val="50000"/>
                  </a:srgbClr>
                </a:solidFill>
                <a:effectLst/>
                <a:uLnTx/>
                <a:uFillTx/>
                <a:ea typeface="+mj-ea"/>
              </a:rPr>
            </a:br>
            <a:endParaRPr lang="en-US" sz="4000"/>
          </a:p>
        </p:txBody>
      </p:sp>
      <p:sp>
        <p:nvSpPr>
          <p:cNvPr id="3" name="TextBox 2">
            <a:extLst>
              <a:ext uri="{FF2B5EF4-FFF2-40B4-BE49-F238E27FC236}">
                <a16:creationId xmlns:a16="http://schemas.microsoft.com/office/drawing/2014/main" id="{3C0D7652-3AA6-711B-F933-9F054B9287FA}"/>
              </a:ext>
            </a:extLst>
          </p:cNvPr>
          <p:cNvSpPr txBox="1"/>
          <p:nvPr/>
        </p:nvSpPr>
        <p:spPr>
          <a:xfrm>
            <a:off x="4939787" y="996138"/>
            <a:ext cx="6816365" cy="923330"/>
          </a:xfrm>
          <a:prstGeom prst="rect">
            <a:avLst/>
          </a:prstGeom>
          <a:noFill/>
        </p:spPr>
        <p:txBody>
          <a:bodyPr wrap="square">
            <a:spAutoFit/>
          </a:bodyPr>
          <a:lstStyle/>
          <a:p>
            <a:pPr algn="ctr"/>
            <a:r>
              <a:rPr lang="en-US">
                <a:latin typeface="Aptos" panose="020B0004020202020204" pitchFamily="34" charset="0"/>
              </a:rPr>
              <a:t>The AI Lifestyle &amp; Mental Wellness Companion is designed to support elderly patients managing polypharmacy by providing drug free, personalized guidance for mental health and daily living. </a:t>
            </a:r>
          </a:p>
        </p:txBody>
      </p:sp>
      <p:sp>
        <p:nvSpPr>
          <p:cNvPr id="44" name="TextBox 43">
            <a:extLst>
              <a:ext uri="{FF2B5EF4-FFF2-40B4-BE49-F238E27FC236}">
                <a16:creationId xmlns:a16="http://schemas.microsoft.com/office/drawing/2014/main" id="{3A47F4DB-5CC6-F36B-43B4-59626F047E4B}"/>
              </a:ext>
            </a:extLst>
          </p:cNvPr>
          <p:cNvSpPr txBox="1"/>
          <p:nvPr/>
        </p:nvSpPr>
        <p:spPr>
          <a:xfrm>
            <a:off x="3079056" y="3169913"/>
            <a:ext cx="2860768" cy="2308324"/>
          </a:xfrm>
          <a:prstGeom prst="rect">
            <a:avLst/>
          </a:prstGeom>
          <a:noFill/>
        </p:spPr>
        <p:txBody>
          <a:bodyPr wrap="square" rtlCol="0">
            <a:spAutoFit/>
          </a:bodyPr>
          <a:lstStyle/>
          <a:p>
            <a:pPr algn="ct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How can an AI companion support geriatric patients at risk of polypharmacy in managing well-being alongside medical </a:t>
            </a:r>
          </a:p>
          <a:p>
            <a:pPr algn="ctr"/>
            <a:r>
              <a:rPr kumimoji="0" lang="en-US" sz="1800" b="1" i="0" u="none" strike="noStrike" kern="1200" cap="none" spc="0" normalizeH="0" baseline="0" noProof="0">
                <a:ln>
                  <a:noFill/>
                </a:ln>
                <a:solidFill>
                  <a:prstClr val="white"/>
                </a:solidFill>
                <a:effectLst/>
                <a:uLnTx/>
                <a:uFillTx/>
                <a:latin typeface="Aptos" panose="020B0004020202020204" pitchFamily="34" charset="0"/>
                <a:ea typeface="+mn-ea"/>
                <a:cs typeface="+mn-cs"/>
              </a:rPr>
              <a:t>care</a:t>
            </a:r>
            <a:endParaRPr lang="en-US" sz="1800"/>
          </a:p>
          <a:p>
            <a:pPr algn="ctr"/>
            <a:endParaRPr lang="en-US"/>
          </a:p>
        </p:txBody>
      </p:sp>
    </p:spTree>
    <p:extLst>
      <p:ext uri="{BB962C8B-B14F-4D97-AF65-F5344CB8AC3E}">
        <p14:creationId xmlns:p14="http://schemas.microsoft.com/office/powerpoint/2010/main" val="949048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oals Concept Vector Illustration Stock Vector - Illustration of ...">
            <a:extLst>
              <a:ext uri="{FF2B5EF4-FFF2-40B4-BE49-F238E27FC236}">
                <a16:creationId xmlns:a16="http://schemas.microsoft.com/office/drawing/2014/main" id="{497A5087-891D-CC01-698C-F671F90DA9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5239" b="9411"/>
          <a:stretch/>
        </p:blipFill>
        <p:spPr bwMode="auto">
          <a:xfrm>
            <a:off x="8445905" y="3722348"/>
            <a:ext cx="3746095" cy="267244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AFC7978-7392-D2CE-50EC-EDDB8446B7B8}"/>
              </a:ext>
            </a:extLst>
          </p:cNvPr>
          <p:cNvSpPr txBox="1"/>
          <p:nvPr/>
        </p:nvSpPr>
        <p:spPr>
          <a:xfrm>
            <a:off x="202873" y="2690335"/>
            <a:ext cx="4251141" cy="1477328"/>
          </a:xfrm>
          <a:prstGeom prst="rect">
            <a:avLst/>
          </a:prstGeom>
          <a:noFill/>
        </p:spPr>
        <p:txBody>
          <a:bodyPr wrap="square">
            <a:spAutoFit/>
          </a:bodyPr>
          <a:lstStyle/>
          <a:p>
            <a:pPr marL="0" indent="0" algn="ctr">
              <a:buNone/>
            </a:pPr>
            <a:r>
              <a:rPr lang="en-US" sz="1800"/>
              <a:t>To design and develop an AI-based Lifestyle &amp; Mental Wellness Companion that provides drug-free, personalized guidance for geriatric patients, especially those with polypharmacy risks.</a:t>
            </a:r>
          </a:p>
        </p:txBody>
      </p:sp>
      <p:sp>
        <p:nvSpPr>
          <p:cNvPr id="5" name="TextBox 4">
            <a:extLst>
              <a:ext uri="{FF2B5EF4-FFF2-40B4-BE49-F238E27FC236}">
                <a16:creationId xmlns:a16="http://schemas.microsoft.com/office/drawing/2014/main" id="{C1847687-9892-AA67-DFB2-F063ABDF19B5}"/>
              </a:ext>
            </a:extLst>
          </p:cNvPr>
          <p:cNvSpPr txBox="1"/>
          <p:nvPr/>
        </p:nvSpPr>
        <p:spPr>
          <a:xfrm>
            <a:off x="6456182" y="2207387"/>
            <a:ext cx="6096000" cy="2585323"/>
          </a:xfrm>
          <a:prstGeom prst="rect">
            <a:avLst/>
          </a:prstGeom>
          <a:noFill/>
        </p:spPr>
        <p:txBody>
          <a:bodyPr wrap="square">
            <a:spAutoFit/>
          </a:bodyPr>
          <a:lstStyle/>
          <a:p>
            <a:pPr marL="285750" indent="-285750">
              <a:buClr>
                <a:schemeClr val="accent1">
                  <a:lumMod val="50000"/>
                </a:schemeClr>
              </a:buClr>
              <a:buFont typeface="Wingdings" panose="05000000000000000000" pitchFamily="2" charset="2"/>
              <a:buChar char="q"/>
            </a:pPr>
            <a:r>
              <a:rPr lang="en-US" sz="1800"/>
              <a:t>Integrate polypharmacy risk scores </a:t>
            </a:r>
          </a:p>
          <a:p>
            <a:pPr marL="285750" indent="-285750">
              <a:buClr>
                <a:schemeClr val="accent1">
                  <a:lumMod val="50000"/>
                </a:schemeClr>
              </a:buClr>
              <a:buFont typeface="Wingdings" panose="05000000000000000000" pitchFamily="2" charset="2"/>
              <a:buChar char="q"/>
            </a:pPr>
            <a:endParaRPr lang="en-US" sz="1800"/>
          </a:p>
          <a:p>
            <a:pPr marL="285750" indent="-285750">
              <a:buClr>
                <a:schemeClr val="accent1">
                  <a:lumMod val="50000"/>
                </a:schemeClr>
              </a:buClr>
              <a:buFont typeface="Wingdings" panose="05000000000000000000" pitchFamily="2" charset="2"/>
              <a:buChar char="q"/>
            </a:pPr>
            <a:r>
              <a:rPr lang="en-US" sz="1800"/>
              <a:t>Collect and analyze patient-reported data </a:t>
            </a:r>
          </a:p>
          <a:p>
            <a:pPr marL="285750" indent="-285750">
              <a:buClr>
                <a:schemeClr val="accent1">
                  <a:lumMod val="50000"/>
                </a:schemeClr>
              </a:buClr>
              <a:buFont typeface="Wingdings" panose="05000000000000000000" pitchFamily="2" charset="2"/>
              <a:buChar char="q"/>
            </a:pPr>
            <a:endParaRPr lang="en-US" sz="1800"/>
          </a:p>
          <a:p>
            <a:pPr marL="285750" indent="-285750">
              <a:buClr>
                <a:schemeClr val="accent1">
                  <a:lumMod val="50000"/>
                </a:schemeClr>
              </a:buClr>
              <a:buFont typeface="Wingdings" panose="05000000000000000000" pitchFamily="2" charset="2"/>
              <a:buChar char="q"/>
            </a:pPr>
            <a:r>
              <a:rPr lang="en-US" sz="1800"/>
              <a:t>Personalized lifestyle recommendations </a:t>
            </a:r>
          </a:p>
          <a:p>
            <a:pPr marL="285750" indent="-285750">
              <a:buClr>
                <a:schemeClr val="accent1">
                  <a:lumMod val="50000"/>
                </a:schemeClr>
              </a:buClr>
              <a:buFont typeface="Wingdings" panose="05000000000000000000" pitchFamily="2" charset="2"/>
              <a:buChar char="q"/>
            </a:pPr>
            <a:endParaRPr lang="en-US" sz="1800"/>
          </a:p>
          <a:p>
            <a:pPr marL="285750" indent="-285750">
              <a:buClr>
                <a:schemeClr val="accent1">
                  <a:lumMod val="50000"/>
                </a:schemeClr>
              </a:buClr>
              <a:buFont typeface="Wingdings" panose="05000000000000000000" pitchFamily="2" charset="2"/>
              <a:buChar char="q"/>
            </a:pPr>
            <a:r>
              <a:rPr lang="en-US" sz="1800"/>
              <a:t>Drug-free mental health support</a:t>
            </a:r>
          </a:p>
          <a:p>
            <a:pPr marL="285750" indent="-285750">
              <a:buClr>
                <a:schemeClr val="accent1">
                  <a:lumMod val="50000"/>
                </a:schemeClr>
              </a:buClr>
              <a:buFont typeface="Wingdings" panose="05000000000000000000" pitchFamily="2" charset="2"/>
              <a:buChar char="q"/>
            </a:pPr>
            <a:endParaRPr lang="en-US" sz="1800"/>
          </a:p>
          <a:p>
            <a:pPr marL="285750" indent="-285750">
              <a:buClr>
                <a:schemeClr val="accent1">
                  <a:lumMod val="50000"/>
                </a:schemeClr>
              </a:buClr>
              <a:buFont typeface="Wingdings" panose="05000000000000000000" pitchFamily="2" charset="2"/>
              <a:buChar char="q"/>
            </a:pPr>
            <a:r>
              <a:rPr lang="en-US" sz="1800"/>
              <a:t>Maily motivational check-ins</a:t>
            </a:r>
            <a:endParaRPr lang="en-US"/>
          </a:p>
        </p:txBody>
      </p:sp>
      <p:sp>
        <p:nvSpPr>
          <p:cNvPr id="2" name="Rectangle 1">
            <a:extLst>
              <a:ext uri="{FF2B5EF4-FFF2-40B4-BE49-F238E27FC236}">
                <a16:creationId xmlns:a16="http://schemas.microsoft.com/office/drawing/2014/main" id="{DE8648F6-30CF-6113-F935-CB60ACED82FA}"/>
              </a:ext>
            </a:extLst>
          </p:cNvPr>
          <p:cNvSpPr/>
          <p:nvPr/>
        </p:nvSpPr>
        <p:spPr>
          <a:xfrm>
            <a:off x="2687817" y="6492875"/>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IT22600516</a:t>
            </a:r>
            <a:r>
              <a:rPr lang="en-US" sz="1800">
                <a:solidFill>
                  <a:schemeClr val="tx1"/>
                </a:solidFill>
              </a:rPr>
              <a:t>   |   </a:t>
            </a:r>
            <a:r>
              <a:rPr lang="en-US" b="1">
                <a:solidFill>
                  <a:schemeClr val="tx1"/>
                </a:solidFill>
              </a:rPr>
              <a:t>Tharaka B.W.P</a:t>
            </a:r>
            <a:r>
              <a:rPr lang="en-US" sz="1800" b="1">
                <a:solidFill>
                  <a:schemeClr val="tx1"/>
                </a:solidFill>
              </a:rPr>
              <a:t>   </a:t>
            </a:r>
            <a:r>
              <a:rPr lang="en-US" sz="1800">
                <a:solidFill>
                  <a:schemeClr val="tx1"/>
                </a:solidFill>
              </a:rPr>
              <a:t>|   </a:t>
            </a:r>
            <a:r>
              <a:rPr lang="en-US">
                <a:solidFill>
                  <a:schemeClr val="tx1"/>
                </a:solidFill>
              </a:rPr>
              <a:t>25-26J-368</a:t>
            </a:r>
            <a:endParaRPr lang="en-US" sz="1800" b="0">
              <a:solidFill>
                <a:schemeClr val="tx1"/>
              </a:solidFill>
            </a:endParaRPr>
          </a:p>
        </p:txBody>
      </p:sp>
      <p:pic>
        <p:nvPicPr>
          <p:cNvPr id="4" name="Picture 3" descr="A blue and green arrows on a black background&#10;&#10;Description automatically generated">
            <a:extLst>
              <a:ext uri="{FF2B5EF4-FFF2-40B4-BE49-F238E27FC236}">
                <a16:creationId xmlns:a16="http://schemas.microsoft.com/office/drawing/2014/main" id="{FCCDFAAE-89CA-3834-6E32-B329CF4418BF}"/>
              </a:ext>
            </a:extLst>
          </p:cNvPr>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4765746" y="2860392"/>
            <a:ext cx="1137215" cy="1137215"/>
          </a:xfrm>
          <a:prstGeom prst="rect">
            <a:avLst/>
          </a:prstGeom>
        </p:spPr>
      </p:pic>
      <p:sp>
        <p:nvSpPr>
          <p:cNvPr id="7" name="TextBox 6">
            <a:extLst>
              <a:ext uri="{FF2B5EF4-FFF2-40B4-BE49-F238E27FC236}">
                <a16:creationId xmlns:a16="http://schemas.microsoft.com/office/drawing/2014/main" id="{1878CB15-3B80-130C-9AD1-3C2EEFB00745}"/>
              </a:ext>
            </a:extLst>
          </p:cNvPr>
          <p:cNvSpPr txBox="1"/>
          <p:nvPr/>
        </p:nvSpPr>
        <p:spPr>
          <a:xfrm>
            <a:off x="7049728" y="1560518"/>
            <a:ext cx="6194322" cy="461665"/>
          </a:xfrm>
          <a:prstGeom prst="rect">
            <a:avLst/>
          </a:prstGeom>
          <a:noFill/>
        </p:spPr>
        <p:txBody>
          <a:bodyPr wrap="square">
            <a:spAutoFit/>
          </a:bodyPr>
          <a:lstStyle/>
          <a:p>
            <a:pPr marL="0" indent="0">
              <a:buNone/>
            </a:pPr>
            <a:r>
              <a:rPr lang="en-US" sz="2400" b="1"/>
              <a:t>Specific Objectives</a:t>
            </a:r>
            <a:endParaRPr lang="en-US" sz="2400"/>
          </a:p>
        </p:txBody>
      </p:sp>
      <p:sp>
        <p:nvSpPr>
          <p:cNvPr id="9" name="TextBox 8">
            <a:extLst>
              <a:ext uri="{FF2B5EF4-FFF2-40B4-BE49-F238E27FC236}">
                <a16:creationId xmlns:a16="http://schemas.microsoft.com/office/drawing/2014/main" id="{D764D368-1FB1-5DA3-F596-1C1B913A2193}"/>
              </a:ext>
            </a:extLst>
          </p:cNvPr>
          <p:cNvSpPr txBox="1"/>
          <p:nvPr/>
        </p:nvSpPr>
        <p:spPr>
          <a:xfrm>
            <a:off x="1167580" y="2022183"/>
            <a:ext cx="2745658" cy="523220"/>
          </a:xfrm>
          <a:prstGeom prst="rect">
            <a:avLst/>
          </a:prstGeom>
          <a:noFill/>
        </p:spPr>
        <p:txBody>
          <a:bodyPr wrap="square">
            <a:spAutoFit/>
          </a:bodyPr>
          <a:lstStyle/>
          <a:p>
            <a:pPr marL="0" indent="0">
              <a:buNone/>
            </a:pPr>
            <a:r>
              <a:rPr lang="en-US" sz="2800" b="1"/>
              <a:t>Main Objective</a:t>
            </a:r>
            <a:endParaRPr lang="en-US" sz="2800"/>
          </a:p>
        </p:txBody>
      </p:sp>
      <p:sp>
        <p:nvSpPr>
          <p:cNvPr id="11" name="TextBox 10">
            <a:extLst>
              <a:ext uri="{FF2B5EF4-FFF2-40B4-BE49-F238E27FC236}">
                <a16:creationId xmlns:a16="http://schemas.microsoft.com/office/drawing/2014/main" id="{4F730223-7131-C672-2CC6-ABF1D849F6A0}"/>
              </a:ext>
            </a:extLst>
          </p:cNvPr>
          <p:cNvSpPr txBox="1"/>
          <p:nvPr/>
        </p:nvSpPr>
        <p:spPr>
          <a:xfrm>
            <a:off x="4071701" y="506458"/>
            <a:ext cx="2978027" cy="769441"/>
          </a:xfrm>
          <a:prstGeom prst="rect">
            <a:avLst/>
          </a:prstGeom>
          <a:noFill/>
        </p:spPr>
        <p:txBody>
          <a:bodyPr wrap="square">
            <a:spAutoFit/>
          </a:bodyPr>
          <a:lstStyle/>
          <a:p>
            <a:r>
              <a:rPr lang="en-US" sz="4400" b="1">
                <a:solidFill>
                  <a:schemeClr val="accent1">
                    <a:lumMod val="50000"/>
                  </a:schemeClr>
                </a:solidFill>
              </a:rPr>
              <a:t>Objectives</a:t>
            </a:r>
            <a:endParaRPr lang="en-US" sz="4400">
              <a:solidFill>
                <a:schemeClr val="accent1">
                  <a:lumMod val="50000"/>
                </a:schemeClr>
              </a:solidFill>
            </a:endParaRPr>
          </a:p>
        </p:txBody>
      </p:sp>
      <p:pic>
        <p:nvPicPr>
          <p:cNvPr id="16" name="Picture 15">
            <a:extLst>
              <a:ext uri="{FF2B5EF4-FFF2-40B4-BE49-F238E27FC236}">
                <a16:creationId xmlns:a16="http://schemas.microsoft.com/office/drawing/2014/main" id="{E56BC666-B502-758F-64B5-3AA95661522D}"/>
              </a:ext>
            </a:extLst>
          </p:cNvPr>
          <p:cNvPicPr>
            <a:picLocks noChangeAspect="1"/>
          </p:cNvPicPr>
          <p:nvPr/>
        </p:nvPicPr>
        <p:blipFill>
          <a:blip r:embed="rId4"/>
          <a:stretch>
            <a:fillRect/>
          </a:stretch>
        </p:blipFill>
        <p:spPr>
          <a:xfrm>
            <a:off x="1628937" y="430354"/>
            <a:ext cx="1658256" cy="1097375"/>
          </a:xfrm>
          <a:prstGeom prst="rect">
            <a:avLst/>
          </a:prstGeom>
        </p:spPr>
      </p:pic>
      <p:pic>
        <p:nvPicPr>
          <p:cNvPr id="17" name="Picture 16" descr="A blue and green dart in a circle&#10;&#10;Description automatically generated">
            <a:extLst>
              <a:ext uri="{FF2B5EF4-FFF2-40B4-BE49-F238E27FC236}">
                <a16:creationId xmlns:a16="http://schemas.microsoft.com/office/drawing/2014/main" id="{88FDEF7D-A160-3D90-11B0-8A99AD941D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58065" y="564046"/>
            <a:ext cx="591063" cy="591063"/>
          </a:xfrm>
          <a:prstGeom prst="rect">
            <a:avLst/>
          </a:prstGeom>
        </p:spPr>
      </p:pic>
    </p:spTree>
    <p:extLst>
      <p:ext uri="{BB962C8B-B14F-4D97-AF65-F5344CB8AC3E}">
        <p14:creationId xmlns:p14="http://schemas.microsoft.com/office/powerpoint/2010/main" val="30653019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925815F-A00C-C8C9-E983-02C08CD5175A}"/>
              </a:ext>
            </a:extLst>
          </p:cNvPr>
          <p:cNvGrpSpPr/>
          <p:nvPr/>
        </p:nvGrpSpPr>
        <p:grpSpPr>
          <a:xfrm>
            <a:off x="9951913" y="191296"/>
            <a:ext cx="1406194" cy="1061238"/>
            <a:chOff x="9591465" y="240644"/>
            <a:chExt cx="1406194" cy="1061238"/>
          </a:xfrm>
        </p:grpSpPr>
        <p:sp>
          <p:nvSpPr>
            <p:cNvPr id="48" name="Hexagon 47">
              <a:extLst>
                <a:ext uri="{FF2B5EF4-FFF2-40B4-BE49-F238E27FC236}">
                  <a16:creationId xmlns:a16="http://schemas.microsoft.com/office/drawing/2014/main" id="{383CFFDD-F379-67C8-19C3-843ACCDEE6A4}"/>
                </a:ext>
              </a:extLst>
            </p:cNvPr>
            <p:cNvSpPr/>
            <p:nvPr/>
          </p:nvSpPr>
          <p:spPr>
            <a:xfrm rot="717601">
              <a:off x="9591465" y="812469"/>
              <a:ext cx="558390" cy="478408"/>
            </a:xfrm>
            <a:prstGeom prst="hexagon">
              <a:avLst/>
            </a:prstGeom>
            <a:solidFill>
              <a:schemeClr val="tx2">
                <a:lumMod val="5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Hexagon 46">
              <a:extLst>
                <a:ext uri="{FF2B5EF4-FFF2-40B4-BE49-F238E27FC236}">
                  <a16:creationId xmlns:a16="http://schemas.microsoft.com/office/drawing/2014/main" id="{D2B51AF1-75D2-9CAB-FC46-CA37B6F7E899}"/>
                </a:ext>
              </a:extLst>
            </p:cNvPr>
            <p:cNvSpPr/>
            <p:nvPr/>
          </p:nvSpPr>
          <p:spPr>
            <a:xfrm rot="666809">
              <a:off x="10185090" y="532441"/>
              <a:ext cx="812569" cy="769441"/>
            </a:xfrm>
            <a:prstGeom prst="hexagon">
              <a:avLst/>
            </a:prstGeom>
            <a:solidFill>
              <a:schemeClr val="bg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9" name="Hexagon 48">
              <a:extLst>
                <a:ext uri="{FF2B5EF4-FFF2-40B4-BE49-F238E27FC236}">
                  <a16:creationId xmlns:a16="http://schemas.microsoft.com/office/drawing/2014/main" id="{FD37E8CA-76A9-B31D-EA66-170F8E10F3D7}"/>
                </a:ext>
              </a:extLst>
            </p:cNvPr>
            <p:cNvSpPr/>
            <p:nvPr/>
          </p:nvSpPr>
          <p:spPr>
            <a:xfrm rot="741985">
              <a:off x="9717373" y="240644"/>
              <a:ext cx="558390" cy="478408"/>
            </a:xfrm>
            <a:prstGeom prst="hexagon">
              <a:avLst/>
            </a:prstGeom>
            <a:solidFill>
              <a:schemeClr val="tx2">
                <a:lumMod val="5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TextBox 33">
            <a:extLst>
              <a:ext uri="{FF2B5EF4-FFF2-40B4-BE49-F238E27FC236}">
                <a16:creationId xmlns:a16="http://schemas.microsoft.com/office/drawing/2014/main" id="{41600899-458D-45B5-46BF-1659BABA0B63}"/>
              </a:ext>
            </a:extLst>
          </p:cNvPr>
          <p:cNvSpPr txBox="1"/>
          <p:nvPr/>
        </p:nvSpPr>
        <p:spPr>
          <a:xfrm>
            <a:off x="1197973" y="180630"/>
            <a:ext cx="6096000" cy="769441"/>
          </a:xfrm>
          <a:prstGeom prst="rect">
            <a:avLst/>
          </a:prstGeom>
          <a:noFill/>
        </p:spPr>
        <p:txBody>
          <a:bodyPr wrap="square">
            <a:spAutoFit/>
          </a:bodyPr>
          <a:lstStyle/>
          <a:p>
            <a:r>
              <a:rPr lang="en-US" sz="4400" b="1">
                <a:solidFill>
                  <a:schemeClr val="accent1">
                    <a:lumMod val="50000"/>
                  </a:schemeClr>
                </a:solidFill>
              </a:rPr>
              <a:t>System Comparison</a:t>
            </a:r>
            <a:endParaRPr lang="en-US" sz="4400">
              <a:solidFill>
                <a:schemeClr val="accent1">
                  <a:lumMod val="50000"/>
                </a:schemeClr>
              </a:solidFill>
            </a:endParaRPr>
          </a:p>
        </p:txBody>
      </p:sp>
      <p:sp>
        <p:nvSpPr>
          <p:cNvPr id="35" name="Hexagon 34">
            <a:extLst>
              <a:ext uri="{FF2B5EF4-FFF2-40B4-BE49-F238E27FC236}">
                <a16:creationId xmlns:a16="http://schemas.microsoft.com/office/drawing/2014/main" id="{B873BB7D-965A-E7C4-58DF-F6951E99D1C2}"/>
              </a:ext>
            </a:extLst>
          </p:cNvPr>
          <p:cNvSpPr/>
          <p:nvPr/>
        </p:nvSpPr>
        <p:spPr>
          <a:xfrm>
            <a:off x="198994" y="1224358"/>
            <a:ext cx="558390" cy="478408"/>
          </a:xfrm>
          <a:prstGeom prst="hexagon">
            <a:avLst/>
          </a:prstGeom>
          <a:solidFill>
            <a:schemeClr val="tx2">
              <a:lumMod val="5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Hexagon 35">
            <a:extLst>
              <a:ext uri="{FF2B5EF4-FFF2-40B4-BE49-F238E27FC236}">
                <a16:creationId xmlns:a16="http://schemas.microsoft.com/office/drawing/2014/main" id="{2BC3FE95-0F89-162C-5E24-F0BB56B78EFA}"/>
              </a:ext>
            </a:extLst>
          </p:cNvPr>
          <p:cNvSpPr/>
          <p:nvPr/>
        </p:nvSpPr>
        <p:spPr>
          <a:xfrm>
            <a:off x="-326810" y="827804"/>
            <a:ext cx="558390" cy="478408"/>
          </a:xfrm>
          <a:prstGeom prst="hexagon">
            <a:avLst/>
          </a:prstGeom>
          <a:solidFill>
            <a:schemeClr val="tx2">
              <a:lumMod val="5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Hexagon 36">
            <a:extLst>
              <a:ext uri="{FF2B5EF4-FFF2-40B4-BE49-F238E27FC236}">
                <a16:creationId xmlns:a16="http://schemas.microsoft.com/office/drawing/2014/main" id="{18AF5918-2569-B18D-9709-AB7D8BBB0AEE}"/>
              </a:ext>
            </a:extLst>
          </p:cNvPr>
          <p:cNvSpPr/>
          <p:nvPr/>
        </p:nvSpPr>
        <p:spPr>
          <a:xfrm>
            <a:off x="231580" y="282231"/>
            <a:ext cx="820549" cy="769441"/>
          </a:xfrm>
          <a:prstGeom prst="hexagon">
            <a:avLst/>
          </a:prstGeom>
          <a:solidFill>
            <a:schemeClr val="bg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0" name="Hexagon 49">
            <a:extLst>
              <a:ext uri="{FF2B5EF4-FFF2-40B4-BE49-F238E27FC236}">
                <a16:creationId xmlns:a16="http://schemas.microsoft.com/office/drawing/2014/main" id="{5FEC9405-5670-B99A-8D76-C0E6E82090D4}"/>
              </a:ext>
            </a:extLst>
          </p:cNvPr>
          <p:cNvSpPr/>
          <p:nvPr/>
        </p:nvSpPr>
        <p:spPr>
          <a:xfrm>
            <a:off x="-343103" y="1566572"/>
            <a:ext cx="558390" cy="478408"/>
          </a:xfrm>
          <a:prstGeom prst="hexagon">
            <a:avLst/>
          </a:prstGeom>
          <a:solidFill>
            <a:schemeClr val="tx2">
              <a:lumMod val="5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3928A4FD-844D-EC79-A1C9-8CEFA05C438B}"/>
              </a:ext>
            </a:extLst>
          </p:cNvPr>
          <p:cNvSpPr/>
          <p:nvPr/>
        </p:nvSpPr>
        <p:spPr>
          <a:xfrm>
            <a:off x="2658886" y="6492875"/>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IT22600516</a:t>
            </a:r>
            <a:r>
              <a:rPr lang="en-US" sz="1800">
                <a:solidFill>
                  <a:schemeClr val="tx1"/>
                </a:solidFill>
              </a:rPr>
              <a:t>   |   </a:t>
            </a:r>
            <a:r>
              <a:rPr lang="en-US" b="1">
                <a:solidFill>
                  <a:schemeClr val="tx1"/>
                </a:solidFill>
              </a:rPr>
              <a:t>Tharaka B.W.P</a:t>
            </a:r>
            <a:r>
              <a:rPr lang="en-US" sz="1800" b="1">
                <a:solidFill>
                  <a:schemeClr val="tx1"/>
                </a:solidFill>
              </a:rPr>
              <a:t>   </a:t>
            </a:r>
            <a:r>
              <a:rPr lang="en-US" sz="1800">
                <a:solidFill>
                  <a:schemeClr val="tx1"/>
                </a:solidFill>
              </a:rPr>
              <a:t>|   </a:t>
            </a:r>
            <a:r>
              <a:rPr lang="en-US">
                <a:solidFill>
                  <a:schemeClr val="tx1"/>
                </a:solidFill>
              </a:rPr>
              <a:t>25-26J-368</a:t>
            </a:r>
            <a:endParaRPr lang="en-US" sz="1800" b="0">
              <a:solidFill>
                <a:schemeClr val="tx1"/>
              </a:solidFill>
            </a:endParaRPr>
          </a:p>
        </p:txBody>
      </p:sp>
      <p:graphicFrame>
        <p:nvGraphicFramePr>
          <p:cNvPr id="21" name="Table 20">
            <a:extLst>
              <a:ext uri="{FF2B5EF4-FFF2-40B4-BE49-F238E27FC236}">
                <a16:creationId xmlns:a16="http://schemas.microsoft.com/office/drawing/2014/main" id="{E4CD12EF-21AD-B51D-1A08-45DF0836B4D1}"/>
              </a:ext>
            </a:extLst>
          </p:cNvPr>
          <p:cNvGraphicFramePr>
            <a:graphicFrameLocks noGrp="1"/>
          </p:cNvGraphicFramePr>
          <p:nvPr>
            <p:extLst>
              <p:ext uri="{D42A27DB-BD31-4B8C-83A1-F6EECF244321}">
                <p14:modId xmlns:p14="http://schemas.microsoft.com/office/powerpoint/2010/main" val="1358281726"/>
              </p:ext>
            </p:extLst>
          </p:nvPr>
        </p:nvGraphicFramePr>
        <p:xfrm>
          <a:off x="1127803" y="1155532"/>
          <a:ext cx="10084460" cy="4860431"/>
        </p:xfrm>
        <a:graphic>
          <a:graphicData uri="http://schemas.openxmlformats.org/drawingml/2006/table">
            <a:tbl>
              <a:tblPr firstRow="1" bandRow="1">
                <a:tableStyleId>{5C22544A-7EE6-4342-B048-85BDC9FD1C3A}</a:tableStyleId>
              </a:tblPr>
              <a:tblGrid>
                <a:gridCol w="4083890">
                  <a:extLst>
                    <a:ext uri="{9D8B030D-6E8A-4147-A177-3AD203B41FA5}">
                      <a16:colId xmlns:a16="http://schemas.microsoft.com/office/drawing/2014/main" val="1099848573"/>
                    </a:ext>
                  </a:extLst>
                </a:gridCol>
                <a:gridCol w="1686947">
                  <a:extLst>
                    <a:ext uri="{9D8B030D-6E8A-4147-A177-3AD203B41FA5}">
                      <a16:colId xmlns:a16="http://schemas.microsoft.com/office/drawing/2014/main" val="3613942180"/>
                    </a:ext>
                  </a:extLst>
                </a:gridCol>
                <a:gridCol w="1430902">
                  <a:extLst>
                    <a:ext uri="{9D8B030D-6E8A-4147-A177-3AD203B41FA5}">
                      <a16:colId xmlns:a16="http://schemas.microsoft.com/office/drawing/2014/main" val="108159593"/>
                    </a:ext>
                  </a:extLst>
                </a:gridCol>
                <a:gridCol w="1183360">
                  <a:extLst>
                    <a:ext uri="{9D8B030D-6E8A-4147-A177-3AD203B41FA5}">
                      <a16:colId xmlns:a16="http://schemas.microsoft.com/office/drawing/2014/main" val="1166145961"/>
                    </a:ext>
                  </a:extLst>
                </a:gridCol>
                <a:gridCol w="1699361">
                  <a:extLst>
                    <a:ext uri="{9D8B030D-6E8A-4147-A177-3AD203B41FA5}">
                      <a16:colId xmlns:a16="http://schemas.microsoft.com/office/drawing/2014/main" val="77554312"/>
                    </a:ext>
                  </a:extLst>
                </a:gridCol>
              </a:tblGrid>
              <a:tr h="597149">
                <a:tc>
                  <a:txBody>
                    <a:bodyPr/>
                    <a:lstStyle/>
                    <a:p>
                      <a:pPr algn="ctr"/>
                      <a:endParaRPr lang="en-US"/>
                    </a:p>
                    <a:p>
                      <a:pPr algn="ctr"/>
                      <a:r>
                        <a:rPr lang="en-US"/>
                        <a:t>Features</a:t>
                      </a:r>
                    </a:p>
                  </a:txBody>
                  <a:tcPr/>
                </a:tc>
                <a:tc>
                  <a:txBody>
                    <a:bodyPr/>
                    <a:lstStyle/>
                    <a:p>
                      <a:pPr algn="ctr"/>
                      <a:r>
                        <a:rPr lang="en-US"/>
                        <a:t>Drug Interaction / Polypharmacy Risk[1] </a:t>
                      </a:r>
                    </a:p>
                  </a:txBody>
                  <a:tcPr/>
                </a:tc>
                <a:tc>
                  <a:txBody>
                    <a:bodyPr/>
                    <a:lstStyle/>
                    <a:p>
                      <a:pPr algn="ctr"/>
                      <a:r>
                        <a:rPr lang="en-US"/>
                        <a:t>Health care system</a:t>
                      </a:r>
                    </a:p>
                    <a:p>
                      <a:pPr algn="ctr"/>
                      <a:r>
                        <a:rPr lang="en-US"/>
                        <a:t>[2]</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Mental Health Chatbots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t>[3]</a:t>
                      </a:r>
                    </a:p>
                  </a:txBody>
                  <a:tcPr/>
                </a:tc>
                <a:tc>
                  <a:txBody>
                    <a:bodyPr/>
                    <a:lstStyle/>
                    <a:p>
                      <a:pPr algn="ctr"/>
                      <a:endParaRPr lang="en-US"/>
                    </a:p>
                    <a:p>
                      <a:pPr algn="ctr"/>
                      <a:r>
                        <a:rPr lang="en-US"/>
                        <a:t>Proposed</a:t>
                      </a:r>
                      <a:br>
                        <a:rPr lang="en-US"/>
                      </a:br>
                      <a:r>
                        <a:rPr lang="en-US"/>
                        <a:t>Solution</a:t>
                      </a:r>
                    </a:p>
                  </a:txBody>
                  <a:tcPr/>
                </a:tc>
                <a:extLst>
                  <a:ext uri="{0D108BD9-81ED-4DB2-BD59-A6C34878D82A}">
                    <a16:rowId xmlns:a16="http://schemas.microsoft.com/office/drawing/2014/main" val="1374390694"/>
                  </a:ext>
                </a:extLst>
              </a:tr>
              <a:tr h="641665">
                <a:tc>
                  <a:txBody>
                    <a:bodyPr/>
                    <a:lstStyle/>
                    <a:p>
                      <a:r>
                        <a:rPr lang="en-US" sz="1800" b="0">
                          <a:latin typeface="+mn-lt"/>
                        </a:rPr>
                        <a:t>Integrates polypharmacy risk score into advice</a:t>
                      </a:r>
                    </a:p>
                  </a:txBody>
                  <a:tcPr/>
                </a:tc>
                <a:tc>
                  <a:txBody>
                    <a:bodyPr/>
                    <a:lstStyle/>
                    <a:p>
                      <a:pPr algn="ctr"/>
                      <a:r>
                        <a:rPr lang="en-US"/>
                        <a:t>No</a:t>
                      </a:r>
                    </a:p>
                  </a:txBody>
                  <a:tcPr/>
                </a:tc>
                <a:tc>
                  <a:txBody>
                    <a:bodyPr/>
                    <a:lstStyle/>
                    <a:p>
                      <a:pPr algn="ctr"/>
                      <a:r>
                        <a:rPr lang="en-US"/>
                        <a:t>No</a:t>
                      </a:r>
                    </a:p>
                  </a:txBody>
                  <a:tcPr/>
                </a:tc>
                <a:tc>
                  <a:txBody>
                    <a:bodyPr/>
                    <a:lstStyle/>
                    <a:p>
                      <a:pPr algn="ctr"/>
                      <a:r>
                        <a:rPr lang="en-US"/>
                        <a:t>No</a:t>
                      </a:r>
                    </a:p>
                  </a:txBody>
                  <a:tcPr/>
                </a:tc>
                <a:tc>
                  <a:txBody>
                    <a:bodyPr/>
                    <a:lstStyle/>
                    <a:p>
                      <a:pPr algn="ctr"/>
                      <a:r>
                        <a:rPr lang="en-US"/>
                        <a:t>Yes</a:t>
                      </a:r>
                    </a:p>
                  </a:txBody>
                  <a:tcPr/>
                </a:tc>
                <a:extLst>
                  <a:ext uri="{0D108BD9-81ED-4DB2-BD59-A6C34878D82A}">
                    <a16:rowId xmlns:a16="http://schemas.microsoft.com/office/drawing/2014/main" val="2850929305"/>
                  </a:ext>
                </a:extLst>
              </a:tr>
              <a:tr h="0">
                <a:tc>
                  <a:txBody>
                    <a:bodyPr/>
                    <a:lstStyle/>
                    <a:p>
                      <a:r>
                        <a:rPr lang="en-US"/>
                        <a:t>Uses patient reported + facial expression data for emotion</a:t>
                      </a:r>
                    </a:p>
                  </a:txBody>
                  <a:tcPr/>
                </a:tc>
                <a:tc>
                  <a:txBody>
                    <a:bodyPr/>
                    <a:lstStyle/>
                    <a:p>
                      <a:pPr algn="ctr"/>
                      <a:r>
                        <a:rPr lang="en-US"/>
                        <a:t>No</a:t>
                      </a:r>
                    </a:p>
                  </a:txBody>
                  <a:tcPr/>
                </a:tc>
                <a:tc>
                  <a:txBody>
                    <a:bodyPr/>
                    <a:lstStyle/>
                    <a:p>
                      <a:pPr algn="ctr"/>
                      <a:r>
                        <a:rPr lang="en-US"/>
                        <a:t>Yes</a:t>
                      </a:r>
                    </a:p>
                  </a:txBody>
                  <a:tcPr/>
                </a:tc>
                <a:tc>
                  <a:txBody>
                    <a:bodyPr/>
                    <a:lstStyle/>
                    <a:p>
                      <a:pPr algn="ctr"/>
                      <a:r>
                        <a:rPr lang="en-US"/>
                        <a:t>No</a:t>
                      </a:r>
                    </a:p>
                  </a:txBody>
                  <a:tcPr/>
                </a:tc>
                <a:tc>
                  <a:txBody>
                    <a:bodyPr/>
                    <a:lstStyle/>
                    <a:p>
                      <a:pPr algn="ctr"/>
                      <a:r>
                        <a:rPr lang="en-US"/>
                        <a:t>Yes</a:t>
                      </a:r>
                    </a:p>
                  </a:txBody>
                  <a:tcPr/>
                </a:tc>
                <a:extLst>
                  <a:ext uri="{0D108BD9-81ED-4DB2-BD59-A6C34878D82A}">
                    <a16:rowId xmlns:a16="http://schemas.microsoft.com/office/drawing/2014/main" val="3928910184"/>
                  </a:ext>
                </a:extLst>
              </a:tr>
              <a:tr h="965668">
                <a:tc>
                  <a:txBody>
                    <a:bodyPr/>
                    <a:lstStyle/>
                    <a:p>
                      <a:r>
                        <a:rPr lang="en-US" b="0"/>
                        <a:t>Drug-free mental wellness interventions (mindfulness, breathing, journaling)</a:t>
                      </a:r>
                    </a:p>
                  </a:txBody>
                  <a:tcPr/>
                </a:tc>
                <a:tc>
                  <a:txBody>
                    <a:bodyPr/>
                    <a:lstStyle/>
                    <a:p>
                      <a:pPr algn="ctr"/>
                      <a:endParaRPr lang="en-US"/>
                    </a:p>
                    <a:p>
                      <a:pPr algn="ctr"/>
                      <a:r>
                        <a:rPr lang="en-US"/>
                        <a:t>No</a:t>
                      </a:r>
                    </a:p>
                  </a:txBody>
                  <a:tcPr/>
                </a:tc>
                <a:tc>
                  <a:txBody>
                    <a:bodyPr/>
                    <a:lstStyle/>
                    <a:p>
                      <a:pPr algn="ctr"/>
                      <a:endParaRPr lang="en-US"/>
                    </a:p>
                    <a:p>
                      <a:pPr algn="ctr"/>
                      <a:r>
                        <a:rPr lang="en-US"/>
                        <a:t>No</a:t>
                      </a:r>
                    </a:p>
                  </a:txBody>
                  <a:tcPr/>
                </a:tc>
                <a:tc>
                  <a:txBody>
                    <a:bodyPr/>
                    <a:lstStyle/>
                    <a:p>
                      <a:pPr algn="ctr"/>
                      <a:endParaRPr lang="en-US"/>
                    </a:p>
                    <a:p>
                      <a:pPr algn="ctr"/>
                      <a:r>
                        <a:rPr lang="en-US"/>
                        <a:t>No</a:t>
                      </a:r>
                    </a:p>
                  </a:txBody>
                  <a:tcPr/>
                </a:tc>
                <a:tc>
                  <a:txBody>
                    <a:bodyPr/>
                    <a:lstStyle/>
                    <a:p>
                      <a:pPr algn="ctr"/>
                      <a:endParaRPr lang="en-US"/>
                    </a:p>
                    <a:p>
                      <a:pPr algn="ctr"/>
                      <a:r>
                        <a:rPr lang="en-US"/>
                        <a:t>Yes</a:t>
                      </a:r>
                    </a:p>
                  </a:txBody>
                  <a:tcPr/>
                </a:tc>
                <a:extLst>
                  <a:ext uri="{0D108BD9-81ED-4DB2-BD59-A6C34878D82A}">
                    <a16:rowId xmlns:a16="http://schemas.microsoft.com/office/drawing/2014/main" val="3397355705"/>
                  </a:ext>
                </a:extLst>
              </a:tr>
              <a:tr h="697640">
                <a:tc>
                  <a:txBody>
                    <a:bodyPr/>
                    <a:lstStyle/>
                    <a:p>
                      <a:r>
                        <a:rPr lang="en-US" b="0"/>
                        <a:t>Personalized lifestyle guidance (sleep, activity, routine)</a:t>
                      </a:r>
                    </a:p>
                  </a:txBody>
                  <a:tcPr/>
                </a:tc>
                <a:tc>
                  <a:txBody>
                    <a:bodyPr/>
                    <a:lstStyle/>
                    <a:p>
                      <a:pPr algn="ctr"/>
                      <a:r>
                        <a:rPr lang="en-US"/>
                        <a:t>No</a:t>
                      </a:r>
                    </a:p>
                  </a:txBody>
                  <a:tcPr/>
                </a:tc>
                <a:tc>
                  <a:txBody>
                    <a:bodyPr/>
                    <a:lstStyle/>
                    <a:p>
                      <a:pPr algn="ctr"/>
                      <a:r>
                        <a:rPr lang="en-US"/>
                        <a:t>Yes</a:t>
                      </a:r>
                    </a:p>
                  </a:txBody>
                  <a:tcPr/>
                </a:tc>
                <a:tc>
                  <a:txBody>
                    <a:bodyPr/>
                    <a:lstStyle/>
                    <a:p>
                      <a:pPr algn="ctr"/>
                      <a:r>
                        <a:rPr lang="en-US"/>
                        <a:t>Yes</a:t>
                      </a:r>
                    </a:p>
                  </a:txBody>
                  <a:tcPr/>
                </a:tc>
                <a:tc>
                  <a:txBody>
                    <a:bodyPr/>
                    <a:lstStyle/>
                    <a:p>
                      <a:pPr algn="ctr"/>
                      <a:r>
                        <a:rPr lang="en-US"/>
                        <a:t>Yes</a:t>
                      </a:r>
                    </a:p>
                  </a:txBody>
                  <a:tcPr/>
                </a:tc>
                <a:extLst>
                  <a:ext uri="{0D108BD9-81ED-4DB2-BD59-A6C34878D82A}">
                    <a16:rowId xmlns:a16="http://schemas.microsoft.com/office/drawing/2014/main" val="4118118218"/>
                  </a:ext>
                </a:extLst>
              </a:tr>
              <a:tr h="726658">
                <a:tc>
                  <a:txBody>
                    <a:bodyPr/>
                    <a:lstStyle/>
                    <a:p>
                      <a:r>
                        <a:rPr lang="en-US" b="0"/>
                        <a:t>Single integrated platform (polypharmacy + emotion + lifestyle)</a:t>
                      </a:r>
                    </a:p>
                  </a:txBody>
                  <a:tcPr/>
                </a:tc>
                <a:tc>
                  <a:txBody>
                    <a:bodyPr/>
                    <a:lstStyle/>
                    <a:p>
                      <a:pPr algn="ctr"/>
                      <a:endParaRPr lang="en-US"/>
                    </a:p>
                    <a:p>
                      <a:pPr algn="ctr"/>
                      <a:r>
                        <a:rPr lang="en-US"/>
                        <a:t>No</a:t>
                      </a:r>
                    </a:p>
                  </a:txBody>
                  <a:tcPr/>
                </a:tc>
                <a:tc>
                  <a:txBody>
                    <a:bodyPr/>
                    <a:lstStyle/>
                    <a:p>
                      <a:pPr algn="ctr"/>
                      <a:endParaRPr lang="en-US"/>
                    </a:p>
                    <a:p>
                      <a:pPr algn="ctr"/>
                      <a:r>
                        <a:rPr lang="en-US"/>
                        <a:t>No</a:t>
                      </a:r>
                    </a:p>
                  </a:txBody>
                  <a:tcPr/>
                </a:tc>
                <a:tc>
                  <a:txBody>
                    <a:bodyPr/>
                    <a:lstStyle/>
                    <a:p>
                      <a:pPr algn="ctr"/>
                      <a:endParaRPr lang="en-US"/>
                    </a:p>
                    <a:p>
                      <a:pPr algn="ctr"/>
                      <a:r>
                        <a:rPr lang="en-US"/>
                        <a:t>No</a:t>
                      </a:r>
                    </a:p>
                  </a:txBody>
                  <a:tcPr/>
                </a:tc>
                <a:tc>
                  <a:txBody>
                    <a:bodyPr/>
                    <a:lstStyle/>
                    <a:p>
                      <a:pPr algn="ctr"/>
                      <a:endParaRPr lang="en-US"/>
                    </a:p>
                    <a:p>
                      <a:pPr algn="ctr"/>
                      <a:r>
                        <a:rPr lang="en-US"/>
                        <a:t>Yes</a:t>
                      </a:r>
                    </a:p>
                  </a:txBody>
                  <a:tcPr/>
                </a:tc>
                <a:extLst>
                  <a:ext uri="{0D108BD9-81ED-4DB2-BD59-A6C34878D82A}">
                    <a16:rowId xmlns:a16="http://schemas.microsoft.com/office/drawing/2014/main" val="357382250"/>
                  </a:ext>
                </a:extLst>
              </a:tr>
            </a:tbl>
          </a:graphicData>
        </a:graphic>
      </p:graphicFrame>
    </p:spTree>
    <p:extLst>
      <p:ext uri="{BB962C8B-B14F-4D97-AF65-F5344CB8AC3E}">
        <p14:creationId xmlns:p14="http://schemas.microsoft.com/office/powerpoint/2010/main" val="302400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1419063-7DA0-80A9-AF33-1A722EC44B5E}"/>
              </a:ext>
            </a:extLst>
          </p:cNvPr>
          <p:cNvGrpSpPr/>
          <p:nvPr/>
        </p:nvGrpSpPr>
        <p:grpSpPr>
          <a:xfrm>
            <a:off x="2560030" y="295691"/>
            <a:ext cx="1293270" cy="818727"/>
            <a:chOff x="308082" y="193033"/>
            <a:chExt cx="1603816" cy="1129070"/>
          </a:xfrm>
        </p:grpSpPr>
        <p:sp>
          <p:nvSpPr>
            <p:cNvPr id="4" name="Hexagon 3">
              <a:extLst>
                <a:ext uri="{FF2B5EF4-FFF2-40B4-BE49-F238E27FC236}">
                  <a16:creationId xmlns:a16="http://schemas.microsoft.com/office/drawing/2014/main" id="{9B21A475-4A90-6D5F-6E9C-1A7385F38E55}"/>
                </a:ext>
              </a:extLst>
            </p:cNvPr>
            <p:cNvSpPr/>
            <p:nvPr/>
          </p:nvSpPr>
          <p:spPr>
            <a:xfrm>
              <a:off x="939074" y="193033"/>
              <a:ext cx="972824" cy="844194"/>
            </a:xfrm>
            <a:prstGeom prst="hexagon">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Hexagon 5">
              <a:extLst>
                <a:ext uri="{FF2B5EF4-FFF2-40B4-BE49-F238E27FC236}">
                  <a16:creationId xmlns:a16="http://schemas.microsoft.com/office/drawing/2014/main" id="{28E5177B-B6FD-ECFF-66DF-E23ED2D4F62C}"/>
                </a:ext>
              </a:extLst>
            </p:cNvPr>
            <p:cNvSpPr/>
            <p:nvPr/>
          </p:nvSpPr>
          <p:spPr>
            <a:xfrm>
              <a:off x="308082" y="843695"/>
              <a:ext cx="558390" cy="478408"/>
            </a:xfrm>
            <a:prstGeom prst="hexagon">
              <a:avLst/>
            </a:prstGeom>
            <a:solidFill>
              <a:schemeClr val="accent1">
                <a:lumMod val="5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exagon 6">
              <a:extLst>
                <a:ext uri="{FF2B5EF4-FFF2-40B4-BE49-F238E27FC236}">
                  <a16:creationId xmlns:a16="http://schemas.microsoft.com/office/drawing/2014/main" id="{17D49F01-AFC5-730D-9B4B-F3BCCBC05D36}"/>
                </a:ext>
              </a:extLst>
            </p:cNvPr>
            <p:cNvSpPr/>
            <p:nvPr/>
          </p:nvSpPr>
          <p:spPr>
            <a:xfrm>
              <a:off x="480938" y="348712"/>
              <a:ext cx="225022" cy="200632"/>
            </a:xfrm>
            <a:prstGeom prst="hexagon">
              <a:avLst/>
            </a:prstGeom>
            <a:solidFill>
              <a:schemeClr val="accent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exagon 7">
              <a:extLst>
                <a:ext uri="{FF2B5EF4-FFF2-40B4-BE49-F238E27FC236}">
                  <a16:creationId xmlns:a16="http://schemas.microsoft.com/office/drawing/2014/main" id="{15699916-9918-EAC2-4633-82D86C8676BA}"/>
                </a:ext>
              </a:extLst>
            </p:cNvPr>
            <p:cNvSpPr/>
            <p:nvPr/>
          </p:nvSpPr>
          <p:spPr>
            <a:xfrm>
              <a:off x="986432" y="1152484"/>
              <a:ext cx="105193" cy="86044"/>
            </a:xfrm>
            <a:prstGeom prst="hexagon">
              <a:avLst/>
            </a:prstGeom>
            <a:solidFill>
              <a:schemeClr val="accent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itle 4">
            <a:extLst>
              <a:ext uri="{FF2B5EF4-FFF2-40B4-BE49-F238E27FC236}">
                <a16:creationId xmlns:a16="http://schemas.microsoft.com/office/drawing/2014/main" id="{22F6FBBB-4C77-4A4B-BE54-96D3B0DF3BB7}"/>
              </a:ext>
            </a:extLst>
          </p:cNvPr>
          <p:cNvSpPr>
            <a:spLocks noGrp="1"/>
          </p:cNvSpPr>
          <p:nvPr>
            <p:ph type="title"/>
          </p:nvPr>
        </p:nvSpPr>
        <p:spPr>
          <a:xfrm>
            <a:off x="0" y="238969"/>
            <a:ext cx="11684000" cy="792162"/>
          </a:xfrm>
        </p:spPr>
        <p:txBody>
          <a:bodyPr>
            <a:normAutofit/>
          </a:bodyPr>
          <a:lstStyle/>
          <a:p>
            <a:r>
              <a:rPr lang="en-US" b="1">
                <a:solidFill>
                  <a:schemeClr val="accent1">
                    <a:lumMod val="50000"/>
                  </a:schemeClr>
                </a:solidFill>
                <a:latin typeface="+mn-lt"/>
              </a:rPr>
              <a:t>Methodology</a:t>
            </a:r>
          </a:p>
        </p:txBody>
      </p:sp>
      <p:sp>
        <p:nvSpPr>
          <p:cNvPr id="2" name="Rectangle 1">
            <a:extLst>
              <a:ext uri="{FF2B5EF4-FFF2-40B4-BE49-F238E27FC236}">
                <a16:creationId xmlns:a16="http://schemas.microsoft.com/office/drawing/2014/main" id="{AE280246-2ED9-3B09-3DCF-15DEAEECA9CA}"/>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IT22600516</a:t>
            </a:r>
            <a:r>
              <a:rPr lang="en-US" sz="1800">
                <a:solidFill>
                  <a:schemeClr val="tx1"/>
                </a:solidFill>
              </a:rPr>
              <a:t>   |   </a:t>
            </a:r>
            <a:r>
              <a:rPr lang="en-US" b="1">
                <a:solidFill>
                  <a:schemeClr val="tx1"/>
                </a:solidFill>
              </a:rPr>
              <a:t>Tharaka B.W.P</a:t>
            </a:r>
            <a:r>
              <a:rPr lang="en-US" sz="1800" b="1">
                <a:solidFill>
                  <a:schemeClr val="tx1"/>
                </a:solidFill>
              </a:rPr>
              <a:t>   </a:t>
            </a:r>
            <a:r>
              <a:rPr lang="en-US" sz="1800">
                <a:solidFill>
                  <a:schemeClr val="tx1"/>
                </a:solidFill>
              </a:rPr>
              <a:t>|   </a:t>
            </a:r>
            <a:r>
              <a:rPr lang="en-US">
                <a:solidFill>
                  <a:schemeClr val="tx1"/>
                </a:solidFill>
              </a:rPr>
              <a:t>25-26J-368</a:t>
            </a:r>
            <a:endParaRPr lang="en-US" sz="1800" b="0">
              <a:solidFill>
                <a:schemeClr val="tx1"/>
              </a:solidFill>
            </a:endParaRPr>
          </a:p>
        </p:txBody>
      </p:sp>
      <p:sp>
        <p:nvSpPr>
          <p:cNvPr id="11" name="TextBox 10">
            <a:extLst>
              <a:ext uri="{FF2B5EF4-FFF2-40B4-BE49-F238E27FC236}">
                <a16:creationId xmlns:a16="http://schemas.microsoft.com/office/drawing/2014/main" id="{40E80224-6E99-15D9-9063-AABAD7D7D802}"/>
              </a:ext>
            </a:extLst>
          </p:cNvPr>
          <p:cNvSpPr txBox="1"/>
          <p:nvPr/>
        </p:nvSpPr>
        <p:spPr>
          <a:xfrm>
            <a:off x="683342" y="1283461"/>
            <a:ext cx="10825316" cy="2954655"/>
          </a:xfrm>
          <a:prstGeom prst="rect">
            <a:avLst/>
          </a:prstGeom>
          <a:noFill/>
        </p:spPr>
        <p:txBody>
          <a:bodyPr wrap="square">
            <a:spAutoFit/>
          </a:bodyPr>
          <a:lstStyle/>
          <a:p>
            <a:r>
              <a:rPr lang="en-US" sz="2400" b="1">
                <a:solidFill>
                  <a:schemeClr val="accent1">
                    <a:lumMod val="75000"/>
                  </a:schemeClr>
                </a:solidFill>
              </a:rPr>
              <a:t>Modular &amp; Iterative Development Stages</a:t>
            </a:r>
          </a:p>
          <a:p>
            <a:endParaRPr lang="en-US" b="1"/>
          </a:p>
          <a:p>
            <a:r>
              <a:rPr lang="en-US" b="1"/>
              <a:t>Data Collection : </a:t>
            </a:r>
            <a:r>
              <a:rPr lang="en-US"/>
              <a:t>Patient reported inputs (stress, sleep quality, daily routines)</a:t>
            </a:r>
          </a:p>
          <a:p>
            <a:r>
              <a:rPr lang="en-US"/>
              <a:t>                                   polypharmacy risk score</a:t>
            </a:r>
          </a:p>
          <a:p>
            <a:r>
              <a:rPr lang="en-US"/>
              <a:t>	                 facial expression data (via webcam)</a:t>
            </a:r>
          </a:p>
          <a:p>
            <a:endParaRPr lang="en-US"/>
          </a:p>
          <a:p>
            <a:r>
              <a:rPr lang="en-US" b="1"/>
              <a:t>Model Development :</a:t>
            </a:r>
            <a:r>
              <a:rPr lang="en-US"/>
              <a:t> </a:t>
            </a:r>
            <a:r>
              <a:rPr lang="en-US" b="1"/>
              <a:t>Emotion Detection :</a:t>
            </a:r>
            <a:r>
              <a:rPr lang="en-US"/>
              <a:t> CNN model </a:t>
            </a:r>
          </a:p>
          <a:p>
            <a:r>
              <a:rPr lang="en-US" b="1"/>
              <a:t>		         Mental Health :</a:t>
            </a:r>
            <a:r>
              <a:rPr lang="en-US"/>
              <a:t> Random Forest Classifier </a:t>
            </a:r>
          </a:p>
          <a:p>
            <a:pPr lvl="5"/>
            <a:r>
              <a:rPr lang="en-US" b="1"/>
              <a:t>Polypharmacy Risk Score Integration</a:t>
            </a:r>
          </a:p>
          <a:p>
            <a:pPr lvl="5"/>
            <a:r>
              <a:rPr lang="en-US" b="1"/>
              <a:t>Advice Mapping:</a:t>
            </a:r>
            <a:r>
              <a:rPr lang="en-US"/>
              <a:t> </a:t>
            </a:r>
            <a:r>
              <a:rPr lang="en-US" sz="1600"/>
              <a:t>Rule-based + decision-tree</a:t>
            </a:r>
          </a:p>
        </p:txBody>
      </p:sp>
      <p:pic>
        <p:nvPicPr>
          <p:cNvPr id="1026" name="Picture 2" descr="Machine Learning Operations or MLOps Workflow Process Tiny Person ...">
            <a:extLst>
              <a:ext uri="{FF2B5EF4-FFF2-40B4-BE49-F238E27FC236}">
                <a16:creationId xmlns:a16="http://schemas.microsoft.com/office/drawing/2014/main" id="{5C18E2F3-558D-570B-9B46-3146E70675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516" r="13354" b="10543"/>
          <a:stretch/>
        </p:blipFill>
        <p:spPr bwMode="auto">
          <a:xfrm>
            <a:off x="8364061" y="1994275"/>
            <a:ext cx="3827939" cy="3415925"/>
          </a:xfrm>
          <a:prstGeom prst="rect">
            <a:avLst/>
          </a:prstGeom>
          <a:noFill/>
          <a:extLst>
            <a:ext uri="{909E8E84-426E-40DD-AFC4-6F175D3DCCD1}">
              <a14:hiddenFill xmlns:a14="http://schemas.microsoft.com/office/drawing/2010/main">
                <a:solidFill>
                  <a:srgbClr val="FFFFFF"/>
                </a:solidFill>
              </a14:hiddenFill>
            </a:ext>
          </a:extLst>
        </p:spPr>
      </p:pic>
      <p:pic>
        <p:nvPicPr>
          <p:cNvPr id="15" name="Graphic 14" descr="Ui Ux with solid fill">
            <a:extLst>
              <a:ext uri="{FF2B5EF4-FFF2-40B4-BE49-F238E27FC236}">
                <a16:creationId xmlns:a16="http://schemas.microsoft.com/office/drawing/2014/main" id="{95677321-50AF-7719-32E0-7864DD2488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68401" y="365003"/>
            <a:ext cx="542842" cy="542842"/>
          </a:xfrm>
          <a:prstGeom prst="rect">
            <a:avLst/>
          </a:prstGeom>
        </p:spPr>
      </p:pic>
      <p:sp>
        <p:nvSpPr>
          <p:cNvPr id="17" name="Rectangle 4">
            <a:extLst>
              <a:ext uri="{FF2B5EF4-FFF2-40B4-BE49-F238E27FC236}">
                <a16:creationId xmlns:a16="http://schemas.microsoft.com/office/drawing/2014/main" id="{8A2F3D3A-D1A7-FD07-5E7B-5B27EC0FD932}"/>
              </a:ext>
            </a:extLst>
          </p:cNvPr>
          <p:cNvSpPr>
            <a:spLocks noChangeArrowheads="1"/>
          </p:cNvSpPr>
          <p:nvPr/>
        </p:nvSpPr>
        <p:spPr bwMode="auto">
          <a:xfrm>
            <a:off x="683342" y="4458063"/>
            <a:ext cx="799810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System Integration</a:t>
            </a: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 Polypharmacy risk score, emotion detection, and self-reports 		    to generate  lifestyle advice.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Testing &amp; Validation</a:t>
            </a: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 Evaluate accuracy, usability, and reliability with simulated 		       and real-world data.</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Deployment</a:t>
            </a: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a:t>
            </a: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Host web platform and make it accessible to patients and caregivers.</a:t>
            </a:r>
          </a:p>
        </p:txBody>
      </p:sp>
    </p:spTree>
    <p:extLst>
      <p:ext uri="{BB962C8B-B14F-4D97-AF65-F5344CB8AC3E}">
        <p14:creationId xmlns:p14="http://schemas.microsoft.com/office/powerpoint/2010/main" val="23059004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A20BD9B2-ACE6-89EB-C86B-EF5C65C0A26A}"/>
              </a:ext>
            </a:extLst>
          </p:cNvPr>
          <p:cNvPicPr>
            <a:picLocks noChangeAspect="1"/>
          </p:cNvPicPr>
          <p:nvPr/>
        </p:nvPicPr>
        <p:blipFill>
          <a:blip r:embed="rId2"/>
          <a:stretch>
            <a:fillRect/>
          </a:stretch>
        </p:blipFill>
        <p:spPr>
          <a:xfrm>
            <a:off x="4173028" y="2800713"/>
            <a:ext cx="3536861" cy="2357907"/>
          </a:xfrm>
          <a:prstGeom prst="rect">
            <a:avLst/>
          </a:prstGeom>
        </p:spPr>
      </p:pic>
      <p:sp>
        <p:nvSpPr>
          <p:cNvPr id="18" name="Rectangle: Rounded Corners 17">
            <a:extLst>
              <a:ext uri="{FF2B5EF4-FFF2-40B4-BE49-F238E27FC236}">
                <a16:creationId xmlns:a16="http://schemas.microsoft.com/office/drawing/2014/main" id="{5EFA83B3-0838-C794-A966-035BA930C539}"/>
              </a:ext>
            </a:extLst>
          </p:cNvPr>
          <p:cNvSpPr/>
          <p:nvPr/>
        </p:nvSpPr>
        <p:spPr>
          <a:xfrm>
            <a:off x="6587613" y="4130858"/>
            <a:ext cx="4945626" cy="2092961"/>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AFD269CB-03B4-EE11-A811-A96972DAB7B7}"/>
              </a:ext>
            </a:extLst>
          </p:cNvPr>
          <p:cNvSpPr/>
          <p:nvPr/>
        </p:nvSpPr>
        <p:spPr>
          <a:xfrm>
            <a:off x="6794150" y="1493210"/>
            <a:ext cx="5053723" cy="1840255"/>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D88084DE-A6E9-004B-99EE-ACA81F16947E}"/>
              </a:ext>
            </a:extLst>
          </p:cNvPr>
          <p:cNvSpPr/>
          <p:nvPr/>
        </p:nvSpPr>
        <p:spPr>
          <a:xfrm>
            <a:off x="1179871" y="4303597"/>
            <a:ext cx="3411794" cy="1734837"/>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F8C45554-F234-6680-4A5C-7B50976347C3}"/>
              </a:ext>
            </a:extLst>
          </p:cNvPr>
          <p:cNvSpPr/>
          <p:nvPr/>
        </p:nvSpPr>
        <p:spPr>
          <a:xfrm>
            <a:off x="349043" y="1503042"/>
            <a:ext cx="5112719" cy="199234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8">
            <a:extLst>
              <a:ext uri="{FF2B5EF4-FFF2-40B4-BE49-F238E27FC236}">
                <a16:creationId xmlns:a16="http://schemas.microsoft.com/office/drawing/2014/main" id="{C5C31603-A747-F64B-FA14-32103F937828}"/>
              </a:ext>
            </a:extLst>
          </p:cNvPr>
          <p:cNvSpPr txBox="1"/>
          <p:nvPr/>
        </p:nvSpPr>
        <p:spPr>
          <a:xfrm>
            <a:off x="1771147" y="872199"/>
            <a:ext cx="2140695" cy="564257"/>
          </a:xfrm>
          <a:prstGeom prst="rect">
            <a:avLst/>
          </a:prstGeom>
        </p:spPr>
        <p:txBody>
          <a:bodyPr wrap="square" lIns="0" tIns="0" rIns="0" bIns="0" rtlCol="0" anchor="t">
            <a:spAutoFit/>
          </a:bodyPr>
          <a:lstStyle/>
          <a:p>
            <a:pPr algn="ctr">
              <a:lnSpc>
                <a:spcPts val="2239"/>
              </a:lnSpc>
            </a:pPr>
            <a:r>
              <a:rPr lang="en-US" sz="2000" b="1">
                <a:solidFill>
                  <a:srgbClr val="3C4C59"/>
                </a:solidFill>
                <a:latin typeface="Canva Sans Bold"/>
                <a:ea typeface="Canva Sans Bold"/>
                <a:cs typeface="Canva Sans Bold"/>
                <a:sym typeface="Canva Sans Bold"/>
              </a:rPr>
              <a:t>Key Domains of Knowledge Used</a:t>
            </a:r>
          </a:p>
        </p:txBody>
      </p:sp>
      <p:sp>
        <p:nvSpPr>
          <p:cNvPr id="3" name="TextBox 8">
            <a:extLst>
              <a:ext uri="{FF2B5EF4-FFF2-40B4-BE49-F238E27FC236}">
                <a16:creationId xmlns:a16="http://schemas.microsoft.com/office/drawing/2014/main" id="{DCB80D34-8F4C-C76D-61D8-4054E7B2661C}"/>
              </a:ext>
            </a:extLst>
          </p:cNvPr>
          <p:cNvSpPr txBox="1"/>
          <p:nvPr/>
        </p:nvSpPr>
        <p:spPr>
          <a:xfrm>
            <a:off x="7796888" y="3762574"/>
            <a:ext cx="2800144" cy="282129"/>
          </a:xfrm>
          <a:prstGeom prst="rect">
            <a:avLst/>
          </a:prstGeom>
        </p:spPr>
        <p:txBody>
          <a:bodyPr wrap="square" lIns="0" tIns="0" rIns="0" bIns="0" rtlCol="0" anchor="t">
            <a:spAutoFit/>
          </a:bodyPr>
          <a:lstStyle/>
          <a:p>
            <a:pPr algn="ctr">
              <a:lnSpc>
                <a:spcPts val="2239"/>
              </a:lnSpc>
            </a:pPr>
            <a:r>
              <a:rPr lang="en-US" sz="2000" b="1">
                <a:solidFill>
                  <a:srgbClr val="3C4C59"/>
                </a:solidFill>
                <a:latin typeface="Canva Sans Bold"/>
                <a:ea typeface="Canva Sans Bold"/>
                <a:cs typeface="Canva Sans Bold"/>
                <a:sym typeface="Canva Sans Bold"/>
              </a:rPr>
              <a:t>Data Availability &amp; Ethics</a:t>
            </a:r>
          </a:p>
        </p:txBody>
      </p:sp>
      <p:sp>
        <p:nvSpPr>
          <p:cNvPr id="4" name="TextBox 8">
            <a:extLst>
              <a:ext uri="{FF2B5EF4-FFF2-40B4-BE49-F238E27FC236}">
                <a16:creationId xmlns:a16="http://schemas.microsoft.com/office/drawing/2014/main" id="{3A8BF718-ACB8-E983-98DB-48DF779B7E76}"/>
              </a:ext>
            </a:extLst>
          </p:cNvPr>
          <p:cNvSpPr txBox="1"/>
          <p:nvPr/>
        </p:nvSpPr>
        <p:spPr>
          <a:xfrm>
            <a:off x="1771147" y="3709465"/>
            <a:ext cx="2140695" cy="564257"/>
          </a:xfrm>
          <a:prstGeom prst="rect">
            <a:avLst/>
          </a:prstGeom>
        </p:spPr>
        <p:txBody>
          <a:bodyPr lIns="0" tIns="0" rIns="0" bIns="0" rtlCol="0" anchor="t">
            <a:spAutoFit/>
          </a:bodyPr>
          <a:lstStyle/>
          <a:p>
            <a:pPr algn="ctr">
              <a:lnSpc>
                <a:spcPts val="2239"/>
              </a:lnSpc>
            </a:pPr>
            <a:r>
              <a:rPr lang="en-US" sz="2000" b="1">
                <a:solidFill>
                  <a:srgbClr val="3C4C59"/>
                </a:solidFill>
                <a:latin typeface="Canva Sans Bold"/>
                <a:ea typeface="Canva Sans Bold"/>
                <a:cs typeface="Canva Sans Bold"/>
                <a:sym typeface="Canva Sans Bold"/>
              </a:rPr>
              <a:t>Evaluation &amp; Success Criteria</a:t>
            </a:r>
          </a:p>
        </p:txBody>
      </p:sp>
      <p:sp>
        <p:nvSpPr>
          <p:cNvPr id="5" name="TextBox 8">
            <a:extLst>
              <a:ext uri="{FF2B5EF4-FFF2-40B4-BE49-F238E27FC236}">
                <a16:creationId xmlns:a16="http://schemas.microsoft.com/office/drawing/2014/main" id="{63A3D9A6-6207-EE58-89E8-124C5702A39B}"/>
              </a:ext>
            </a:extLst>
          </p:cNvPr>
          <p:cNvSpPr txBox="1"/>
          <p:nvPr/>
        </p:nvSpPr>
        <p:spPr>
          <a:xfrm>
            <a:off x="7902902" y="1082686"/>
            <a:ext cx="2588117" cy="282129"/>
          </a:xfrm>
          <a:prstGeom prst="rect">
            <a:avLst/>
          </a:prstGeom>
        </p:spPr>
        <p:txBody>
          <a:bodyPr wrap="square" lIns="0" tIns="0" rIns="0" bIns="0" rtlCol="0" anchor="t">
            <a:spAutoFit/>
          </a:bodyPr>
          <a:lstStyle/>
          <a:p>
            <a:pPr algn="ctr">
              <a:lnSpc>
                <a:spcPts val="2239"/>
              </a:lnSpc>
            </a:pPr>
            <a:r>
              <a:rPr lang="en-US" sz="2000" b="1">
                <a:solidFill>
                  <a:srgbClr val="3C4C59"/>
                </a:solidFill>
                <a:latin typeface="Canva Sans Bold"/>
                <a:ea typeface="Canva Sans Bold"/>
                <a:cs typeface="Canva Sans Bold"/>
                <a:sym typeface="Canva Sans Bold"/>
              </a:rPr>
              <a:t>Technologies Utilized</a:t>
            </a:r>
          </a:p>
        </p:txBody>
      </p:sp>
      <p:sp>
        <p:nvSpPr>
          <p:cNvPr id="6" name="TextBox 5">
            <a:extLst>
              <a:ext uri="{FF2B5EF4-FFF2-40B4-BE49-F238E27FC236}">
                <a16:creationId xmlns:a16="http://schemas.microsoft.com/office/drawing/2014/main" id="{4D21EFA2-7471-C37B-E92C-932AA85288E0}"/>
              </a:ext>
            </a:extLst>
          </p:cNvPr>
          <p:cNvSpPr txBox="1"/>
          <p:nvPr/>
        </p:nvSpPr>
        <p:spPr>
          <a:xfrm>
            <a:off x="4168878" y="92191"/>
            <a:ext cx="6096000" cy="707886"/>
          </a:xfrm>
          <a:prstGeom prst="rect">
            <a:avLst/>
          </a:prstGeom>
          <a:noFill/>
        </p:spPr>
        <p:txBody>
          <a:bodyPr wrap="square">
            <a:spAutoFit/>
          </a:bodyPr>
          <a:lstStyle/>
          <a:p>
            <a:r>
              <a:rPr lang="en-US" sz="4000" b="1">
                <a:solidFill>
                  <a:schemeClr val="accent1">
                    <a:lumMod val="50000"/>
                  </a:schemeClr>
                </a:solidFill>
                <a:latin typeface="+mn-lt"/>
              </a:rPr>
              <a:t>Methodology</a:t>
            </a:r>
            <a:endParaRPr lang="en-US" sz="4000"/>
          </a:p>
        </p:txBody>
      </p:sp>
      <p:sp>
        <p:nvSpPr>
          <p:cNvPr id="8" name="TextBox 7">
            <a:extLst>
              <a:ext uri="{FF2B5EF4-FFF2-40B4-BE49-F238E27FC236}">
                <a16:creationId xmlns:a16="http://schemas.microsoft.com/office/drawing/2014/main" id="{6419E678-8119-3FAF-8657-FFD36FAFD55C}"/>
              </a:ext>
            </a:extLst>
          </p:cNvPr>
          <p:cNvSpPr txBox="1"/>
          <p:nvPr/>
        </p:nvSpPr>
        <p:spPr>
          <a:xfrm>
            <a:off x="476866" y="1596972"/>
            <a:ext cx="4984896" cy="1754326"/>
          </a:xfrm>
          <a:prstGeom prst="rect">
            <a:avLst/>
          </a:prstGeom>
          <a:noFill/>
        </p:spPr>
        <p:txBody>
          <a:bodyPr wrap="square">
            <a:spAutoFit/>
          </a:bodyPr>
          <a:lstStyle/>
          <a:p>
            <a:r>
              <a:rPr lang="en-US" sz="1800" b="1"/>
              <a:t>Artificial Intelligence &amp; Machine Learning - </a:t>
            </a:r>
            <a:r>
              <a:rPr lang="en-US" sz="1800"/>
              <a:t>mental health and facial expressions detection</a:t>
            </a:r>
          </a:p>
          <a:p>
            <a:r>
              <a:rPr lang="en-US" sz="1800" b="1"/>
              <a:t>Affective Computing &amp; Human–Computer Interaction </a:t>
            </a:r>
          </a:p>
          <a:p>
            <a:r>
              <a:rPr lang="en-US" sz="1800" b="1"/>
              <a:t>Data Science &amp; Behavioral Analytics – </a:t>
            </a:r>
            <a:r>
              <a:rPr lang="en-US" sz="1800"/>
              <a:t>Analysis of daily lifestyle patterns</a:t>
            </a:r>
          </a:p>
        </p:txBody>
      </p:sp>
      <p:sp>
        <p:nvSpPr>
          <p:cNvPr id="10" name="TextBox 9">
            <a:extLst>
              <a:ext uri="{FF2B5EF4-FFF2-40B4-BE49-F238E27FC236}">
                <a16:creationId xmlns:a16="http://schemas.microsoft.com/office/drawing/2014/main" id="{99F58F24-88E4-9F74-2876-A60FB3766FF6}"/>
              </a:ext>
            </a:extLst>
          </p:cNvPr>
          <p:cNvSpPr txBox="1"/>
          <p:nvPr/>
        </p:nvSpPr>
        <p:spPr>
          <a:xfrm>
            <a:off x="7167717" y="1674674"/>
            <a:ext cx="4854902" cy="1477328"/>
          </a:xfrm>
          <a:prstGeom prst="rect">
            <a:avLst/>
          </a:prstGeom>
          <a:noFill/>
        </p:spPr>
        <p:txBody>
          <a:bodyPr wrap="square">
            <a:spAutoFit/>
          </a:bodyPr>
          <a:lstStyle/>
          <a:p>
            <a:r>
              <a:rPr lang="en-US" sz="1800" b="1"/>
              <a:t>ML Tools</a:t>
            </a:r>
            <a:r>
              <a:rPr lang="en-US" sz="1800"/>
              <a:t> : Scikit-learn, TensorFlow</a:t>
            </a:r>
          </a:p>
          <a:p>
            <a:r>
              <a:rPr lang="en-US" sz="1800" b="1"/>
              <a:t>Data Sources</a:t>
            </a:r>
            <a:r>
              <a:rPr lang="en-US" sz="1800"/>
              <a:t> : Kaggle datasets (Life style 		            </a:t>
            </a:r>
            <a:r>
              <a:rPr lang="en-US" sz="1800" err="1"/>
              <a:t>guidence</a:t>
            </a:r>
            <a:r>
              <a:rPr lang="en-US" sz="1800"/>
              <a:t>).</a:t>
            </a:r>
          </a:p>
          <a:p>
            <a:r>
              <a:rPr lang="en-US" sz="1800" b="1"/>
              <a:t>Implementation</a:t>
            </a:r>
            <a:r>
              <a:rPr lang="en-US" sz="1800"/>
              <a:t> : Python (ML) + Next stack (dashboard) + MongoDB(data storage).</a:t>
            </a:r>
          </a:p>
        </p:txBody>
      </p:sp>
      <p:sp>
        <p:nvSpPr>
          <p:cNvPr id="12" name="TextBox 11">
            <a:extLst>
              <a:ext uri="{FF2B5EF4-FFF2-40B4-BE49-F238E27FC236}">
                <a16:creationId xmlns:a16="http://schemas.microsoft.com/office/drawing/2014/main" id="{32B2035C-AD62-ED57-1A87-BBBFFB6987D0}"/>
              </a:ext>
            </a:extLst>
          </p:cNvPr>
          <p:cNvSpPr txBox="1"/>
          <p:nvPr/>
        </p:nvSpPr>
        <p:spPr>
          <a:xfrm>
            <a:off x="1179871" y="4561106"/>
            <a:ext cx="3302242" cy="1477328"/>
          </a:xfrm>
          <a:prstGeom prst="rect">
            <a:avLst/>
          </a:prstGeom>
          <a:noFill/>
        </p:spPr>
        <p:txBody>
          <a:bodyPr wrap="square">
            <a:spAutoFit/>
          </a:bodyPr>
          <a:lstStyle/>
          <a:p>
            <a:pPr algn="ctr"/>
            <a:r>
              <a:rPr lang="en-US" sz="1800"/>
              <a:t>Model Performance Metrics</a:t>
            </a:r>
          </a:p>
          <a:p>
            <a:pPr algn="ctr"/>
            <a:r>
              <a:rPr lang="en-US" sz="1800"/>
              <a:t>User Testing</a:t>
            </a:r>
          </a:p>
          <a:p>
            <a:pPr algn="ctr"/>
            <a:r>
              <a:rPr lang="en-US" sz="1800"/>
              <a:t>Comparison</a:t>
            </a:r>
          </a:p>
          <a:p>
            <a:pPr algn="ctr"/>
            <a:r>
              <a:rPr lang="en-US" sz="1800"/>
              <a:t>Safety Evaluation</a:t>
            </a:r>
          </a:p>
          <a:p>
            <a:endParaRPr lang="en-US"/>
          </a:p>
        </p:txBody>
      </p:sp>
      <p:sp>
        <p:nvSpPr>
          <p:cNvPr id="14" name="TextBox 13">
            <a:extLst>
              <a:ext uri="{FF2B5EF4-FFF2-40B4-BE49-F238E27FC236}">
                <a16:creationId xmlns:a16="http://schemas.microsoft.com/office/drawing/2014/main" id="{E4B5EB11-1A56-2AC1-5470-8A920C02117E}"/>
              </a:ext>
            </a:extLst>
          </p:cNvPr>
          <p:cNvSpPr txBox="1"/>
          <p:nvPr/>
        </p:nvSpPr>
        <p:spPr>
          <a:xfrm>
            <a:off x="6901129" y="4249869"/>
            <a:ext cx="4464961" cy="1815882"/>
          </a:xfrm>
          <a:prstGeom prst="rect">
            <a:avLst/>
          </a:prstGeom>
          <a:noFill/>
        </p:spPr>
        <p:txBody>
          <a:bodyPr wrap="square">
            <a:spAutoFit/>
          </a:bodyPr>
          <a:lstStyle/>
          <a:p>
            <a:r>
              <a:rPr lang="en-US" sz="1600" b="1"/>
              <a:t>Data Sources</a:t>
            </a:r>
            <a:r>
              <a:rPr lang="en-US" sz="1600"/>
              <a:t> :     Open datasets, 		               Anonymized synthetic 	               	               patient data</a:t>
            </a:r>
          </a:p>
          <a:p>
            <a:r>
              <a:rPr lang="en-US" sz="1600" b="1"/>
              <a:t>Ethics</a:t>
            </a:r>
            <a:r>
              <a:rPr lang="en-US" sz="1600"/>
              <a:t> :      Ensure informed consent for data 	collection,</a:t>
            </a:r>
          </a:p>
          <a:p>
            <a:r>
              <a:rPr lang="en-US" sz="1600"/>
              <a:t>	Maintain strict data privacy , Clearly  	define boundaries</a:t>
            </a:r>
          </a:p>
        </p:txBody>
      </p:sp>
      <p:sp>
        <p:nvSpPr>
          <p:cNvPr id="19" name="Rectangle 18">
            <a:extLst>
              <a:ext uri="{FF2B5EF4-FFF2-40B4-BE49-F238E27FC236}">
                <a16:creationId xmlns:a16="http://schemas.microsoft.com/office/drawing/2014/main" id="{EEC33DA4-8B9A-387C-502A-6D1045F40685}"/>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IT22600516</a:t>
            </a:r>
            <a:r>
              <a:rPr lang="en-US" sz="1800">
                <a:solidFill>
                  <a:schemeClr val="tx1"/>
                </a:solidFill>
              </a:rPr>
              <a:t>   |   </a:t>
            </a:r>
            <a:r>
              <a:rPr lang="en-US" b="1">
                <a:solidFill>
                  <a:schemeClr val="tx1"/>
                </a:solidFill>
              </a:rPr>
              <a:t>Tharaka B.W.P</a:t>
            </a:r>
            <a:r>
              <a:rPr lang="en-US" sz="1800" b="1">
                <a:solidFill>
                  <a:schemeClr val="tx1"/>
                </a:solidFill>
              </a:rPr>
              <a:t>   </a:t>
            </a:r>
            <a:r>
              <a:rPr lang="en-US" sz="1800">
                <a:solidFill>
                  <a:schemeClr val="tx1"/>
                </a:solidFill>
              </a:rPr>
              <a:t>|   </a:t>
            </a:r>
            <a:r>
              <a:rPr lang="en-US">
                <a:solidFill>
                  <a:schemeClr val="tx1"/>
                </a:solidFill>
              </a:rPr>
              <a:t>25-26J-368</a:t>
            </a:r>
            <a:endParaRPr lang="en-US" sz="1800" b="0">
              <a:solidFill>
                <a:schemeClr val="tx1"/>
              </a:solidFill>
            </a:endParaRPr>
          </a:p>
        </p:txBody>
      </p:sp>
      <p:grpSp>
        <p:nvGrpSpPr>
          <p:cNvPr id="20" name="Group 19">
            <a:extLst>
              <a:ext uri="{FF2B5EF4-FFF2-40B4-BE49-F238E27FC236}">
                <a16:creationId xmlns:a16="http://schemas.microsoft.com/office/drawing/2014/main" id="{8419E7F4-A5BD-8707-4EE5-10CD388F8F81}"/>
              </a:ext>
            </a:extLst>
          </p:cNvPr>
          <p:cNvGrpSpPr/>
          <p:nvPr/>
        </p:nvGrpSpPr>
        <p:grpSpPr>
          <a:xfrm rot="1338831">
            <a:off x="285132" y="101743"/>
            <a:ext cx="1317525" cy="1118491"/>
            <a:chOff x="308082" y="193033"/>
            <a:chExt cx="1603816" cy="1129070"/>
          </a:xfrm>
        </p:grpSpPr>
        <p:sp>
          <p:nvSpPr>
            <p:cNvPr id="21" name="Hexagon 20">
              <a:extLst>
                <a:ext uri="{FF2B5EF4-FFF2-40B4-BE49-F238E27FC236}">
                  <a16:creationId xmlns:a16="http://schemas.microsoft.com/office/drawing/2014/main" id="{2B7F74F9-D18E-7547-248E-72FB661423A9}"/>
                </a:ext>
              </a:extLst>
            </p:cNvPr>
            <p:cNvSpPr/>
            <p:nvPr/>
          </p:nvSpPr>
          <p:spPr>
            <a:xfrm>
              <a:off x="939074" y="193033"/>
              <a:ext cx="972824" cy="844194"/>
            </a:xfrm>
            <a:prstGeom prst="hexagon">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Hexagon 21">
              <a:extLst>
                <a:ext uri="{FF2B5EF4-FFF2-40B4-BE49-F238E27FC236}">
                  <a16:creationId xmlns:a16="http://schemas.microsoft.com/office/drawing/2014/main" id="{01F19ACA-7B92-9422-B4C5-481C1C1C86EB}"/>
                </a:ext>
              </a:extLst>
            </p:cNvPr>
            <p:cNvSpPr/>
            <p:nvPr/>
          </p:nvSpPr>
          <p:spPr>
            <a:xfrm>
              <a:off x="308082" y="843695"/>
              <a:ext cx="558390" cy="478408"/>
            </a:xfrm>
            <a:prstGeom prst="hexagon">
              <a:avLst/>
            </a:prstGeom>
            <a:solidFill>
              <a:schemeClr val="accent1">
                <a:lumMod val="5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Hexagon 22">
              <a:extLst>
                <a:ext uri="{FF2B5EF4-FFF2-40B4-BE49-F238E27FC236}">
                  <a16:creationId xmlns:a16="http://schemas.microsoft.com/office/drawing/2014/main" id="{5D9BDA86-BA91-17FF-9789-1CE25EDC9862}"/>
                </a:ext>
              </a:extLst>
            </p:cNvPr>
            <p:cNvSpPr/>
            <p:nvPr/>
          </p:nvSpPr>
          <p:spPr>
            <a:xfrm>
              <a:off x="480938" y="348712"/>
              <a:ext cx="225022" cy="200632"/>
            </a:xfrm>
            <a:prstGeom prst="hexagon">
              <a:avLst/>
            </a:prstGeom>
            <a:solidFill>
              <a:schemeClr val="accent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Hexagon 23">
              <a:extLst>
                <a:ext uri="{FF2B5EF4-FFF2-40B4-BE49-F238E27FC236}">
                  <a16:creationId xmlns:a16="http://schemas.microsoft.com/office/drawing/2014/main" id="{5488972C-8BFA-440D-A408-001E48E45CEE}"/>
                </a:ext>
              </a:extLst>
            </p:cNvPr>
            <p:cNvSpPr/>
            <p:nvPr/>
          </p:nvSpPr>
          <p:spPr>
            <a:xfrm>
              <a:off x="986432" y="1152484"/>
              <a:ext cx="105193" cy="86044"/>
            </a:xfrm>
            <a:prstGeom prst="hexagon">
              <a:avLst/>
            </a:prstGeom>
            <a:solidFill>
              <a:schemeClr val="accent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238168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F6FBBB-4C77-4A4B-BE54-96D3B0DF3BB7}"/>
              </a:ext>
            </a:extLst>
          </p:cNvPr>
          <p:cNvSpPr>
            <a:spLocks noGrp="1"/>
          </p:cNvSpPr>
          <p:nvPr>
            <p:ph type="title"/>
          </p:nvPr>
        </p:nvSpPr>
        <p:spPr/>
        <p:txBody>
          <a:bodyPr>
            <a:normAutofit/>
          </a:bodyPr>
          <a:lstStyle/>
          <a:p>
            <a:r>
              <a:rPr lang="en-US" b="1">
                <a:solidFill>
                  <a:schemeClr val="accent1">
                    <a:lumMod val="50000"/>
                  </a:schemeClr>
                </a:solidFill>
                <a:latin typeface="+mn-lt"/>
              </a:rPr>
              <a:t>SYSTEM OVERVIEW DIAGRAM</a:t>
            </a:r>
          </a:p>
        </p:txBody>
      </p:sp>
      <p:sp>
        <p:nvSpPr>
          <p:cNvPr id="2" name="Rectangle 1">
            <a:extLst>
              <a:ext uri="{FF2B5EF4-FFF2-40B4-BE49-F238E27FC236}">
                <a16:creationId xmlns:a16="http://schemas.microsoft.com/office/drawing/2014/main" id="{3C1D11B4-3735-00D0-673D-55E79422A4A2}"/>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IT22600516</a:t>
            </a:r>
            <a:r>
              <a:rPr lang="en-US" sz="1800">
                <a:solidFill>
                  <a:schemeClr val="tx1"/>
                </a:solidFill>
              </a:rPr>
              <a:t>   |   </a:t>
            </a:r>
            <a:r>
              <a:rPr lang="en-US" b="1">
                <a:solidFill>
                  <a:schemeClr val="tx1"/>
                </a:solidFill>
              </a:rPr>
              <a:t>Tharaka B.W.P</a:t>
            </a:r>
            <a:r>
              <a:rPr lang="en-US" sz="1800" b="1">
                <a:solidFill>
                  <a:schemeClr val="tx1"/>
                </a:solidFill>
              </a:rPr>
              <a:t>   </a:t>
            </a:r>
            <a:r>
              <a:rPr lang="en-US" sz="1800">
                <a:solidFill>
                  <a:schemeClr val="tx1"/>
                </a:solidFill>
              </a:rPr>
              <a:t>|   </a:t>
            </a:r>
            <a:r>
              <a:rPr lang="en-US">
                <a:solidFill>
                  <a:schemeClr val="tx1"/>
                </a:solidFill>
              </a:rPr>
              <a:t>25-26J-368</a:t>
            </a:r>
            <a:endParaRPr lang="en-US" sz="1800" b="0">
              <a:solidFill>
                <a:schemeClr val="tx1"/>
              </a:solidFill>
            </a:endParaRPr>
          </a:p>
        </p:txBody>
      </p:sp>
      <p:pic>
        <p:nvPicPr>
          <p:cNvPr id="8" name="Picture 7" descr="A diagram of a computer system&#10;&#10;Description automatically generated">
            <a:extLst>
              <a:ext uri="{FF2B5EF4-FFF2-40B4-BE49-F238E27FC236}">
                <a16:creationId xmlns:a16="http://schemas.microsoft.com/office/drawing/2014/main" id="{239E00A7-0A7B-0372-8EFC-9B86D394C25E}"/>
              </a:ext>
            </a:extLst>
          </p:cNvPr>
          <p:cNvPicPr>
            <a:picLocks noChangeAspect="1"/>
          </p:cNvPicPr>
          <p:nvPr/>
        </p:nvPicPr>
        <p:blipFill rotWithShape="1">
          <a:blip r:embed="rId2">
            <a:extLst>
              <a:ext uri="{28A0092B-C50C-407E-A947-70E740481C1C}">
                <a14:useLocalDpi xmlns:a14="http://schemas.microsoft.com/office/drawing/2010/main" val="0"/>
              </a:ext>
            </a:extLst>
          </a:blip>
          <a:srcRect t="14571" b="23625"/>
          <a:stretch/>
        </p:blipFill>
        <p:spPr>
          <a:xfrm>
            <a:off x="645518" y="1056891"/>
            <a:ext cx="11002564" cy="5281630"/>
          </a:xfrm>
          <a:prstGeom prst="rect">
            <a:avLst/>
          </a:prstGeom>
        </p:spPr>
      </p:pic>
      <p:grpSp>
        <p:nvGrpSpPr>
          <p:cNvPr id="3" name="Group 2">
            <a:extLst>
              <a:ext uri="{FF2B5EF4-FFF2-40B4-BE49-F238E27FC236}">
                <a16:creationId xmlns:a16="http://schemas.microsoft.com/office/drawing/2014/main" id="{EDD50B7E-DB9D-4D0F-BE83-CFDB712EF0B3}"/>
              </a:ext>
            </a:extLst>
          </p:cNvPr>
          <p:cNvGrpSpPr/>
          <p:nvPr/>
        </p:nvGrpSpPr>
        <p:grpSpPr>
          <a:xfrm>
            <a:off x="430002" y="273930"/>
            <a:ext cx="1603816" cy="1129070"/>
            <a:chOff x="308082" y="193033"/>
            <a:chExt cx="1603816" cy="1129070"/>
          </a:xfrm>
        </p:grpSpPr>
        <p:sp>
          <p:nvSpPr>
            <p:cNvPr id="4" name="Hexagon 3">
              <a:extLst>
                <a:ext uri="{FF2B5EF4-FFF2-40B4-BE49-F238E27FC236}">
                  <a16:creationId xmlns:a16="http://schemas.microsoft.com/office/drawing/2014/main" id="{644F4EC2-17F2-AA53-9AA3-1493FAA1D932}"/>
                </a:ext>
              </a:extLst>
            </p:cNvPr>
            <p:cNvSpPr/>
            <p:nvPr/>
          </p:nvSpPr>
          <p:spPr>
            <a:xfrm>
              <a:off x="939074" y="193033"/>
              <a:ext cx="972824" cy="844194"/>
            </a:xfrm>
            <a:prstGeom prst="hexagon">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Hexagon 5">
              <a:extLst>
                <a:ext uri="{FF2B5EF4-FFF2-40B4-BE49-F238E27FC236}">
                  <a16:creationId xmlns:a16="http://schemas.microsoft.com/office/drawing/2014/main" id="{27E7579A-55A5-4819-8A25-41AD28D7AF68}"/>
                </a:ext>
              </a:extLst>
            </p:cNvPr>
            <p:cNvSpPr/>
            <p:nvPr/>
          </p:nvSpPr>
          <p:spPr>
            <a:xfrm>
              <a:off x="308082" y="843695"/>
              <a:ext cx="558390" cy="478408"/>
            </a:xfrm>
            <a:prstGeom prst="hexagon">
              <a:avLst/>
            </a:prstGeom>
            <a:solidFill>
              <a:schemeClr val="accent1">
                <a:lumMod val="5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exagon 6">
              <a:extLst>
                <a:ext uri="{FF2B5EF4-FFF2-40B4-BE49-F238E27FC236}">
                  <a16:creationId xmlns:a16="http://schemas.microsoft.com/office/drawing/2014/main" id="{C7299A18-218C-DF2B-6D23-6C8EEE8738BC}"/>
                </a:ext>
              </a:extLst>
            </p:cNvPr>
            <p:cNvSpPr/>
            <p:nvPr/>
          </p:nvSpPr>
          <p:spPr>
            <a:xfrm>
              <a:off x="480938" y="348712"/>
              <a:ext cx="225022" cy="200632"/>
            </a:xfrm>
            <a:prstGeom prst="hexagon">
              <a:avLst/>
            </a:prstGeom>
            <a:solidFill>
              <a:schemeClr val="accent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Hexagon 8">
              <a:extLst>
                <a:ext uri="{FF2B5EF4-FFF2-40B4-BE49-F238E27FC236}">
                  <a16:creationId xmlns:a16="http://schemas.microsoft.com/office/drawing/2014/main" id="{74D3DB45-5E67-F8F0-F0C8-75901898897A}"/>
                </a:ext>
              </a:extLst>
            </p:cNvPr>
            <p:cNvSpPr/>
            <p:nvPr/>
          </p:nvSpPr>
          <p:spPr>
            <a:xfrm>
              <a:off x="986432" y="1152484"/>
              <a:ext cx="105193" cy="86044"/>
            </a:xfrm>
            <a:prstGeom prst="hexagon">
              <a:avLst/>
            </a:prstGeom>
            <a:solidFill>
              <a:schemeClr val="accent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505738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74755C0-A5E6-E0A6-3774-E41A8D2F1C8B}"/>
              </a:ext>
            </a:extLst>
          </p:cNvPr>
          <p:cNvSpPr txBox="1"/>
          <p:nvPr/>
        </p:nvSpPr>
        <p:spPr>
          <a:xfrm>
            <a:off x="629920" y="226814"/>
            <a:ext cx="7508240" cy="707886"/>
          </a:xfrm>
          <a:prstGeom prst="rect">
            <a:avLst/>
          </a:prstGeom>
          <a:noFill/>
        </p:spPr>
        <p:txBody>
          <a:bodyPr wrap="square">
            <a:spAutoFit/>
          </a:bodyPr>
          <a:lstStyle/>
          <a:p>
            <a:r>
              <a:rPr lang="en-US" sz="4000" b="1">
                <a:solidFill>
                  <a:schemeClr val="accent1">
                    <a:lumMod val="50000"/>
                  </a:schemeClr>
                </a:solidFill>
              </a:rPr>
              <a:t>Work Breakdown Structure</a:t>
            </a:r>
            <a:endParaRPr lang="en-US" sz="4000"/>
          </a:p>
        </p:txBody>
      </p:sp>
      <p:sp>
        <p:nvSpPr>
          <p:cNvPr id="12" name="Rectangle 11">
            <a:extLst>
              <a:ext uri="{FF2B5EF4-FFF2-40B4-BE49-F238E27FC236}">
                <a16:creationId xmlns:a16="http://schemas.microsoft.com/office/drawing/2014/main" id="{39AAEC7F-29FD-99FA-253A-2E73A01B734F}"/>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IT22600516</a:t>
            </a:r>
            <a:r>
              <a:rPr lang="en-US" sz="1800">
                <a:solidFill>
                  <a:schemeClr val="tx1"/>
                </a:solidFill>
              </a:rPr>
              <a:t>   |   </a:t>
            </a:r>
            <a:r>
              <a:rPr lang="en-US" b="1">
                <a:solidFill>
                  <a:schemeClr val="tx1"/>
                </a:solidFill>
              </a:rPr>
              <a:t>Tharaka B.W.P</a:t>
            </a:r>
            <a:r>
              <a:rPr lang="en-US" sz="1800" b="1">
                <a:solidFill>
                  <a:schemeClr val="tx1"/>
                </a:solidFill>
              </a:rPr>
              <a:t>   </a:t>
            </a:r>
            <a:r>
              <a:rPr lang="en-US" sz="1800">
                <a:solidFill>
                  <a:schemeClr val="tx1"/>
                </a:solidFill>
              </a:rPr>
              <a:t>|   </a:t>
            </a:r>
            <a:r>
              <a:rPr lang="en-US">
                <a:solidFill>
                  <a:schemeClr val="tx1"/>
                </a:solidFill>
              </a:rPr>
              <a:t>25-26J-368</a:t>
            </a:r>
            <a:endParaRPr lang="en-US" sz="1800" b="0">
              <a:solidFill>
                <a:schemeClr val="tx1"/>
              </a:solidFill>
            </a:endParaRPr>
          </a:p>
        </p:txBody>
      </p:sp>
      <p:pic>
        <p:nvPicPr>
          <p:cNvPr id="4" name="Picture 3" descr="A diagram of a mental health system&#10;&#10;Description automatically generated">
            <a:extLst>
              <a:ext uri="{FF2B5EF4-FFF2-40B4-BE49-F238E27FC236}">
                <a16:creationId xmlns:a16="http://schemas.microsoft.com/office/drawing/2014/main" id="{145DAC14-56D3-462A-3645-5D048D87A8A9}"/>
              </a:ext>
            </a:extLst>
          </p:cNvPr>
          <p:cNvPicPr>
            <a:picLocks noChangeAspect="1"/>
          </p:cNvPicPr>
          <p:nvPr/>
        </p:nvPicPr>
        <p:blipFill rotWithShape="1">
          <a:blip r:embed="rId2">
            <a:extLst>
              <a:ext uri="{28A0092B-C50C-407E-A947-70E740481C1C}">
                <a14:useLocalDpi xmlns:a14="http://schemas.microsoft.com/office/drawing/2010/main" val="0"/>
              </a:ext>
            </a:extLst>
          </a:blip>
          <a:srcRect b="47670"/>
          <a:stretch/>
        </p:blipFill>
        <p:spPr>
          <a:xfrm>
            <a:off x="869879" y="1122669"/>
            <a:ext cx="10452239" cy="4619370"/>
          </a:xfrm>
          <a:prstGeom prst="rect">
            <a:avLst/>
          </a:prstGeom>
        </p:spPr>
      </p:pic>
    </p:spTree>
    <p:extLst>
      <p:ext uri="{BB962C8B-B14F-4D97-AF65-F5344CB8AC3E}">
        <p14:creationId xmlns:p14="http://schemas.microsoft.com/office/powerpoint/2010/main" val="21366761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57468" y="1905366"/>
            <a:ext cx="3174677" cy="1990590"/>
            <a:chOff x="0" y="0"/>
            <a:chExt cx="1811336" cy="1135747"/>
          </a:xfrm>
        </p:grpSpPr>
        <p:sp>
          <p:nvSpPr>
            <p:cNvPr id="4" name="Freeform 4"/>
            <p:cNvSpPr/>
            <p:nvPr/>
          </p:nvSpPr>
          <p:spPr>
            <a:xfrm>
              <a:off x="0" y="0"/>
              <a:ext cx="1811336" cy="1135747"/>
            </a:xfrm>
            <a:custGeom>
              <a:avLst/>
              <a:gdLst/>
              <a:ahLst/>
              <a:cxnLst/>
              <a:rect l="l" t="t" r="r" b="b"/>
              <a:pathLst>
                <a:path w="1811336" h="1135747">
                  <a:moveTo>
                    <a:pt x="1686876" y="1135746"/>
                  </a:moveTo>
                  <a:lnTo>
                    <a:pt x="124460" y="1135746"/>
                  </a:lnTo>
                  <a:cubicBezTo>
                    <a:pt x="55880" y="1135746"/>
                    <a:pt x="0" y="1079867"/>
                    <a:pt x="0" y="1011286"/>
                  </a:cubicBezTo>
                  <a:lnTo>
                    <a:pt x="0" y="124460"/>
                  </a:lnTo>
                  <a:cubicBezTo>
                    <a:pt x="0" y="55880"/>
                    <a:pt x="55880" y="0"/>
                    <a:pt x="124460" y="0"/>
                  </a:cubicBezTo>
                  <a:lnTo>
                    <a:pt x="1686876" y="0"/>
                  </a:lnTo>
                  <a:cubicBezTo>
                    <a:pt x="1755456" y="0"/>
                    <a:pt x="1811336" y="55880"/>
                    <a:pt x="1811336" y="124460"/>
                  </a:cubicBezTo>
                  <a:lnTo>
                    <a:pt x="1811336" y="1011287"/>
                  </a:lnTo>
                  <a:cubicBezTo>
                    <a:pt x="1811336" y="1079867"/>
                    <a:pt x="1755456" y="1135747"/>
                    <a:pt x="1686876" y="1135747"/>
                  </a:cubicBezTo>
                  <a:close/>
                </a:path>
              </a:pathLst>
            </a:custGeom>
            <a:solidFill>
              <a:srgbClr val="F2F1DC"/>
            </a:solidFill>
          </p:spPr>
          <p:txBody>
            <a:bodyPr/>
            <a:lstStyle/>
            <a:p>
              <a:endParaRPr lang="en-US"/>
            </a:p>
          </p:txBody>
        </p:sp>
      </p:grpSp>
      <p:grpSp>
        <p:nvGrpSpPr>
          <p:cNvPr id="5" name="Group 5"/>
          <p:cNvGrpSpPr/>
          <p:nvPr/>
        </p:nvGrpSpPr>
        <p:grpSpPr>
          <a:xfrm>
            <a:off x="8067894" y="1905366"/>
            <a:ext cx="3174677" cy="1990590"/>
            <a:chOff x="0" y="0"/>
            <a:chExt cx="1811336" cy="1135747"/>
          </a:xfrm>
        </p:grpSpPr>
        <p:sp>
          <p:nvSpPr>
            <p:cNvPr id="6" name="Freeform 6"/>
            <p:cNvSpPr/>
            <p:nvPr/>
          </p:nvSpPr>
          <p:spPr>
            <a:xfrm>
              <a:off x="0" y="0"/>
              <a:ext cx="1811336" cy="1135747"/>
            </a:xfrm>
            <a:custGeom>
              <a:avLst/>
              <a:gdLst/>
              <a:ahLst/>
              <a:cxnLst/>
              <a:rect l="l" t="t" r="r" b="b"/>
              <a:pathLst>
                <a:path w="1811336" h="1135747">
                  <a:moveTo>
                    <a:pt x="1686876" y="1135746"/>
                  </a:moveTo>
                  <a:lnTo>
                    <a:pt x="124460" y="1135746"/>
                  </a:lnTo>
                  <a:cubicBezTo>
                    <a:pt x="55880" y="1135746"/>
                    <a:pt x="0" y="1079867"/>
                    <a:pt x="0" y="1011286"/>
                  </a:cubicBezTo>
                  <a:lnTo>
                    <a:pt x="0" y="124460"/>
                  </a:lnTo>
                  <a:cubicBezTo>
                    <a:pt x="0" y="55880"/>
                    <a:pt x="55880" y="0"/>
                    <a:pt x="124460" y="0"/>
                  </a:cubicBezTo>
                  <a:lnTo>
                    <a:pt x="1686876" y="0"/>
                  </a:lnTo>
                  <a:cubicBezTo>
                    <a:pt x="1755456" y="0"/>
                    <a:pt x="1811336" y="55880"/>
                    <a:pt x="1811336" y="124460"/>
                  </a:cubicBezTo>
                  <a:lnTo>
                    <a:pt x="1811336" y="1011287"/>
                  </a:lnTo>
                  <a:cubicBezTo>
                    <a:pt x="1811336" y="1079867"/>
                    <a:pt x="1755456" y="1135747"/>
                    <a:pt x="1686876" y="1135747"/>
                  </a:cubicBezTo>
                  <a:close/>
                </a:path>
              </a:pathLst>
            </a:custGeom>
            <a:solidFill>
              <a:srgbClr val="F2F1DC"/>
            </a:solidFill>
          </p:spPr>
          <p:txBody>
            <a:bodyPr/>
            <a:lstStyle/>
            <a:p>
              <a:endParaRPr lang="en-US"/>
            </a:p>
          </p:txBody>
        </p:sp>
      </p:grpSp>
      <p:grpSp>
        <p:nvGrpSpPr>
          <p:cNvPr id="7" name="Group 7"/>
          <p:cNvGrpSpPr/>
          <p:nvPr/>
        </p:nvGrpSpPr>
        <p:grpSpPr>
          <a:xfrm>
            <a:off x="190431" y="1360772"/>
            <a:ext cx="3141715" cy="2387442"/>
            <a:chOff x="0" y="-38100"/>
            <a:chExt cx="6283429" cy="4774883"/>
          </a:xfrm>
        </p:grpSpPr>
        <p:sp>
          <p:nvSpPr>
            <p:cNvPr id="8" name="TextBox 8"/>
            <p:cNvSpPr txBox="1"/>
            <p:nvPr/>
          </p:nvSpPr>
          <p:spPr>
            <a:xfrm>
              <a:off x="1001020" y="-38100"/>
              <a:ext cx="4281389" cy="1080808"/>
            </a:xfrm>
            <a:prstGeom prst="rect">
              <a:avLst/>
            </a:prstGeom>
          </p:spPr>
          <p:txBody>
            <a:bodyPr lIns="0" tIns="0" rIns="0" bIns="0" rtlCol="0" anchor="t">
              <a:spAutoFit/>
            </a:bodyPr>
            <a:lstStyle/>
            <a:p>
              <a:pPr algn="ctr">
                <a:lnSpc>
                  <a:spcPts val="2239"/>
                </a:lnSpc>
              </a:pPr>
              <a:r>
                <a:rPr lang="en-US" sz="1600" b="1">
                  <a:solidFill>
                    <a:srgbClr val="3C4C59"/>
                  </a:solidFill>
                  <a:latin typeface="Canva Sans Bold"/>
                  <a:ea typeface="Canva Sans Bold"/>
                  <a:cs typeface="Canva Sans Bold"/>
                  <a:sym typeface="Canva Sans Bold"/>
                </a:rPr>
                <a:t>Ability of Commercialization</a:t>
              </a:r>
            </a:p>
          </p:txBody>
        </p:sp>
        <p:sp>
          <p:nvSpPr>
            <p:cNvPr id="9" name="TextBox 9"/>
            <p:cNvSpPr txBox="1"/>
            <p:nvPr/>
          </p:nvSpPr>
          <p:spPr>
            <a:xfrm>
              <a:off x="0" y="1369580"/>
              <a:ext cx="6283429" cy="3367203"/>
            </a:xfrm>
            <a:prstGeom prst="rect">
              <a:avLst/>
            </a:prstGeom>
          </p:spPr>
          <p:txBody>
            <a:bodyPr lIns="0" tIns="0" rIns="0" bIns="0" rtlCol="0" anchor="t">
              <a:spAutoFit/>
            </a:bodyPr>
            <a:lstStyle/>
            <a:p>
              <a:pPr marL="287879" lvl="1" indent="-143940" algn="just">
                <a:lnSpc>
                  <a:spcPts val="1866"/>
                </a:lnSpc>
                <a:buFont typeface="Arial"/>
                <a:buChar char="•"/>
              </a:pPr>
              <a:r>
                <a:rPr lang="en-US" sz="1333" b="1">
                  <a:solidFill>
                    <a:srgbClr val="63696F"/>
                  </a:solidFill>
                  <a:latin typeface="Canva Sans Bold"/>
                  <a:ea typeface="Canva Sans Bold"/>
                  <a:cs typeface="Canva Sans Bold"/>
                  <a:sym typeface="Canva Sans Bold"/>
                </a:rPr>
                <a:t>Offered as web app for hospitals, clinics, and users.</a:t>
              </a:r>
            </a:p>
            <a:p>
              <a:pPr marL="287879" lvl="1" indent="-143940" algn="just">
                <a:lnSpc>
                  <a:spcPts val="1866"/>
                </a:lnSpc>
                <a:buFont typeface="Arial"/>
                <a:buChar char="•"/>
              </a:pPr>
              <a:r>
                <a:rPr lang="en-US" sz="1333" b="1">
                  <a:solidFill>
                    <a:srgbClr val="63696F"/>
                  </a:solidFill>
                  <a:latin typeface="Canva Sans Bold"/>
                  <a:ea typeface="Canva Sans Bold"/>
                  <a:cs typeface="Canva Sans Bold"/>
                  <a:sym typeface="Canva Sans Bold"/>
                </a:rPr>
                <a:t>Subscription/licensing model for healthcare providers.</a:t>
              </a:r>
            </a:p>
            <a:p>
              <a:pPr marL="287879" lvl="1" indent="-143940" algn="just">
                <a:lnSpc>
                  <a:spcPts val="1866"/>
                </a:lnSpc>
                <a:buFont typeface="Arial"/>
                <a:buChar char="•"/>
              </a:pPr>
              <a:r>
                <a:rPr lang="en-US" sz="1333" b="1">
                  <a:solidFill>
                    <a:srgbClr val="63696F"/>
                  </a:solidFill>
                  <a:latin typeface="Canva Sans Bold"/>
                  <a:ea typeface="Canva Sans Bold"/>
                  <a:cs typeface="Canva Sans Bold"/>
                  <a:sym typeface="Canva Sans Bold"/>
                </a:rPr>
                <a:t>Integrates with existing health systems for wider adoption.</a:t>
              </a:r>
            </a:p>
            <a:p>
              <a:pPr marL="287879" lvl="1" indent="-143940" algn="just">
                <a:lnSpc>
                  <a:spcPts val="1866"/>
                </a:lnSpc>
                <a:buFont typeface="Arial"/>
                <a:buChar char="•"/>
              </a:pPr>
              <a:endParaRPr lang="en-US" sz="1333" b="1">
                <a:solidFill>
                  <a:srgbClr val="63696F"/>
                </a:solidFill>
                <a:latin typeface="Canva Sans Bold"/>
                <a:ea typeface="Canva Sans Bold"/>
                <a:cs typeface="Canva Sans Bold"/>
                <a:sym typeface="Canva Sans Bold"/>
              </a:endParaRPr>
            </a:p>
          </p:txBody>
        </p:sp>
      </p:grpSp>
      <p:grpSp>
        <p:nvGrpSpPr>
          <p:cNvPr id="10" name="Group 10"/>
          <p:cNvGrpSpPr/>
          <p:nvPr/>
        </p:nvGrpSpPr>
        <p:grpSpPr>
          <a:xfrm>
            <a:off x="3338495" y="1213553"/>
            <a:ext cx="768141" cy="76814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B5D9"/>
            </a:solidFill>
          </p:spPr>
          <p:txBody>
            <a:bodyPr/>
            <a:lstStyle/>
            <a:p>
              <a:endParaRPr lang="en-US"/>
            </a:p>
          </p:txBody>
        </p:sp>
        <p:sp>
          <p:nvSpPr>
            <p:cNvPr id="12" name="TextBox 12"/>
            <p:cNvSpPr txBox="1"/>
            <p:nvPr/>
          </p:nvSpPr>
          <p:spPr>
            <a:xfrm>
              <a:off x="76200" y="28575"/>
              <a:ext cx="660400" cy="708025"/>
            </a:xfrm>
            <a:prstGeom prst="rect">
              <a:avLst/>
            </a:prstGeom>
          </p:spPr>
          <p:txBody>
            <a:bodyPr lIns="33867" tIns="33867" rIns="33867" bIns="33867" rtlCol="0" anchor="ctr"/>
            <a:lstStyle/>
            <a:p>
              <a:pPr algn="ctr">
                <a:lnSpc>
                  <a:spcPts val="1867"/>
                </a:lnSpc>
              </a:pPr>
              <a:endParaRPr sz="1200"/>
            </a:p>
          </p:txBody>
        </p:sp>
      </p:grpSp>
      <p:grpSp>
        <p:nvGrpSpPr>
          <p:cNvPr id="13" name="Group 13"/>
          <p:cNvGrpSpPr/>
          <p:nvPr/>
        </p:nvGrpSpPr>
        <p:grpSpPr>
          <a:xfrm>
            <a:off x="10927974" y="1241888"/>
            <a:ext cx="663478" cy="663478"/>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7BB0F"/>
            </a:solidFill>
          </p:spPr>
          <p:txBody>
            <a:bodyPr/>
            <a:lstStyle/>
            <a:p>
              <a:endParaRPr lang="en-US"/>
            </a:p>
          </p:txBody>
        </p:sp>
        <p:sp>
          <p:nvSpPr>
            <p:cNvPr id="15" name="TextBox 15"/>
            <p:cNvSpPr txBox="1"/>
            <p:nvPr/>
          </p:nvSpPr>
          <p:spPr>
            <a:xfrm>
              <a:off x="76200" y="28575"/>
              <a:ext cx="660400" cy="708025"/>
            </a:xfrm>
            <a:prstGeom prst="rect">
              <a:avLst/>
            </a:prstGeom>
          </p:spPr>
          <p:txBody>
            <a:bodyPr lIns="33867" tIns="33867" rIns="33867" bIns="33867" rtlCol="0" anchor="ctr"/>
            <a:lstStyle/>
            <a:p>
              <a:pPr algn="ctr">
                <a:lnSpc>
                  <a:spcPts val="1867"/>
                </a:lnSpc>
              </a:pPr>
              <a:endParaRPr sz="1200"/>
            </a:p>
          </p:txBody>
        </p:sp>
      </p:grpSp>
      <p:grpSp>
        <p:nvGrpSpPr>
          <p:cNvPr id="16" name="Group 16"/>
          <p:cNvGrpSpPr/>
          <p:nvPr/>
        </p:nvGrpSpPr>
        <p:grpSpPr>
          <a:xfrm>
            <a:off x="658955" y="4395470"/>
            <a:ext cx="3133079" cy="1925505"/>
            <a:chOff x="0" y="0"/>
            <a:chExt cx="1629904" cy="1001694"/>
          </a:xfrm>
        </p:grpSpPr>
        <p:sp>
          <p:nvSpPr>
            <p:cNvPr id="17" name="Freeform 17"/>
            <p:cNvSpPr/>
            <p:nvPr/>
          </p:nvSpPr>
          <p:spPr>
            <a:xfrm>
              <a:off x="0" y="0"/>
              <a:ext cx="1629904" cy="1001694"/>
            </a:xfrm>
            <a:custGeom>
              <a:avLst/>
              <a:gdLst/>
              <a:ahLst/>
              <a:cxnLst/>
              <a:rect l="l" t="t" r="r" b="b"/>
              <a:pathLst>
                <a:path w="1629904" h="1001694">
                  <a:moveTo>
                    <a:pt x="1505444" y="1001694"/>
                  </a:moveTo>
                  <a:lnTo>
                    <a:pt x="124460" y="1001694"/>
                  </a:lnTo>
                  <a:cubicBezTo>
                    <a:pt x="55880" y="1001694"/>
                    <a:pt x="0" y="945814"/>
                    <a:pt x="0" y="877234"/>
                  </a:cubicBezTo>
                  <a:lnTo>
                    <a:pt x="0" y="124460"/>
                  </a:lnTo>
                  <a:cubicBezTo>
                    <a:pt x="0" y="55880"/>
                    <a:pt x="55880" y="0"/>
                    <a:pt x="124460" y="0"/>
                  </a:cubicBezTo>
                  <a:lnTo>
                    <a:pt x="1505444" y="0"/>
                  </a:lnTo>
                  <a:cubicBezTo>
                    <a:pt x="1574024" y="0"/>
                    <a:pt x="1629904" y="55880"/>
                    <a:pt x="1629904" y="124460"/>
                  </a:cubicBezTo>
                  <a:lnTo>
                    <a:pt x="1629904" y="877234"/>
                  </a:lnTo>
                  <a:cubicBezTo>
                    <a:pt x="1629904" y="945814"/>
                    <a:pt x="1574024" y="1001694"/>
                    <a:pt x="1505444" y="1001694"/>
                  </a:cubicBezTo>
                  <a:close/>
                </a:path>
              </a:pathLst>
            </a:custGeom>
            <a:solidFill>
              <a:srgbClr val="F2F1DC"/>
            </a:solidFill>
          </p:spPr>
          <p:txBody>
            <a:bodyPr/>
            <a:lstStyle/>
            <a:p>
              <a:endParaRPr lang="en-US"/>
            </a:p>
          </p:txBody>
        </p:sp>
      </p:grpSp>
      <p:grpSp>
        <p:nvGrpSpPr>
          <p:cNvPr id="18" name="Group 18"/>
          <p:cNvGrpSpPr/>
          <p:nvPr/>
        </p:nvGrpSpPr>
        <p:grpSpPr>
          <a:xfrm>
            <a:off x="671449" y="3991146"/>
            <a:ext cx="3022851" cy="2325806"/>
            <a:chOff x="0" y="-38100"/>
            <a:chExt cx="6045701" cy="4651612"/>
          </a:xfrm>
        </p:grpSpPr>
        <p:sp>
          <p:nvSpPr>
            <p:cNvPr id="19" name="TextBox 19"/>
            <p:cNvSpPr txBox="1"/>
            <p:nvPr/>
          </p:nvSpPr>
          <p:spPr>
            <a:xfrm>
              <a:off x="0" y="-38100"/>
              <a:ext cx="6045701" cy="516552"/>
            </a:xfrm>
            <a:prstGeom prst="rect">
              <a:avLst/>
            </a:prstGeom>
          </p:spPr>
          <p:txBody>
            <a:bodyPr lIns="0" tIns="0" rIns="0" bIns="0" rtlCol="0" anchor="t">
              <a:spAutoFit/>
            </a:bodyPr>
            <a:lstStyle/>
            <a:p>
              <a:pPr algn="ctr">
                <a:lnSpc>
                  <a:spcPts val="2239"/>
                </a:lnSpc>
              </a:pPr>
              <a:r>
                <a:rPr lang="en-US" sz="1600" b="1">
                  <a:solidFill>
                    <a:srgbClr val="3C4C59"/>
                  </a:solidFill>
                  <a:latin typeface="Canva Sans Bold"/>
                  <a:ea typeface="Canva Sans Bold"/>
                  <a:cs typeface="Canva Sans Bold"/>
                  <a:sym typeface="Canva Sans Bold"/>
                </a:rPr>
                <a:t>Value Proposition:</a:t>
              </a:r>
            </a:p>
          </p:txBody>
        </p:sp>
        <p:sp>
          <p:nvSpPr>
            <p:cNvPr id="20" name="TextBox 20"/>
            <p:cNvSpPr txBox="1"/>
            <p:nvPr/>
          </p:nvSpPr>
          <p:spPr>
            <a:xfrm>
              <a:off x="0" y="728346"/>
              <a:ext cx="6045701" cy="3885166"/>
            </a:xfrm>
            <a:prstGeom prst="rect">
              <a:avLst/>
            </a:prstGeom>
          </p:spPr>
          <p:txBody>
            <a:bodyPr lIns="0" tIns="0" rIns="0" bIns="0" rtlCol="0" anchor="t">
              <a:spAutoFit/>
            </a:bodyPr>
            <a:lstStyle/>
            <a:p>
              <a:pPr algn="just">
                <a:lnSpc>
                  <a:spcPts val="1679"/>
                </a:lnSpc>
              </a:pPr>
              <a:endParaRPr sz="1200"/>
            </a:p>
            <a:p>
              <a:pPr marL="259092" lvl="1" indent="-129546" algn="just">
                <a:lnSpc>
                  <a:spcPts val="1679"/>
                </a:lnSpc>
                <a:buFont typeface="Arial"/>
                <a:buChar char="•"/>
              </a:pPr>
              <a:r>
                <a:rPr lang="en-US" sz="1199" b="1">
                  <a:solidFill>
                    <a:srgbClr val="63696F"/>
                  </a:solidFill>
                  <a:latin typeface="Canva Sans Bold"/>
                  <a:ea typeface="Canva Sans Bold"/>
                  <a:cs typeface="Canva Sans Bold"/>
                  <a:sym typeface="Canva Sans Bold"/>
                </a:rPr>
                <a:t>Early detection of vitamin deficiencies, improving patient health outcomes.</a:t>
              </a:r>
            </a:p>
            <a:p>
              <a:pPr marL="259092" lvl="1" indent="-129546" algn="just">
                <a:lnSpc>
                  <a:spcPts val="1679"/>
                </a:lnSpc>
                <a:buFont typeface="Arial"/>
                <a:buChar char="•"/>
              </a:pPr>
              <a:r>
                <a:rPr lang="en-US" sz="1199" b="1">
                  <a:solidFill>
                    <a:srgbClr val="63696F"/>
                  </a:solidFill>
                  <a:latin typeface="Canva Sans Bold"/>
                  <a:ea typeface="Canva Sans Bold"/>
                  <a:cs typeface="Canva Sans Bold"/>
                  <a:sym typeface="Canva Sans Bold"/>
                </a:rPr>
                <a:t>Personalized dietary &amp; supplementation recommendations.</a:t>
              </a:r>
            </a:p>
            <a:p>
              <a:pPr marL="259092" lvl="1" indent="-129546" algn="just">
                <a:lnSpc>
                  <a:spcPts val="1679"/>
                </a:lnSpc>
                <a:spcBef>
                  <a:spcPct val="0"/>
                </a:spcBef>
                <a:buFont typeface="Arial"/>
                <a:buChar char="•"/>
              </a:pPr>
              <a:r>
                <a:rPr lang="en-US" sz="1199" b="1">
                  <a:solidFill>
                    <a:srgbClr val="63696F"/>
                  </a:solidFill>
                  <a:latin typeface="Canva Sans Bold"/>
                  <a:ea typeface="Canva Sans Bold"/>
                  <a:cs typeface="Canva Sans Bold"/>
                  <a:sym typeface="Canva Sans Bold"/>
                </a:rPr>
                <a:t>Reduces hospital visits and lab testing costs.</a:t>
              </a:r>
            </a:p>
            <a:p>
              <a:pPr algn="just">
                <a:lnSpc>
                  <a:spcPts val="1679"/>
                </a:lnSpc>
                <a:spcBef>
                  <a:spcPct val="0"/>
                </a:spcBef>
              </a:pPr>
              <a:endParaRPr lang="en-US" sz="1199" b="1">
                <a:solidFill>
                  <a:srgbClr val="63696F"/>
                </a:solidFill>
                <a:latin typeface="Canva Sans Bold"/>
                <a:ea typeface="Canva Sans Bold"/>
                <a:cs typeface="Canva Sans Bold"/>
                <a:sym typeface="Canva Sans Bold"/>
              </a:endParaRPr>
            </a:p>
          </p:txBody>
        </p:sp>
      </p:grpSp>
      <p:grpSp>
        <p:nvGrpSpPr>
          <p:cNvPr id="21" name="Group 21"/>
          <p:cNvGrpSpPr/>
          <p:nvPr/>
        </p:nvGrpSpPr>
        <p:grpSpPr>
          <a:xfrm>
            <a:off x="3750940" y="5132550"/>
            <a:ext cx="864391" cy="864391"/>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3D92B"/>
            </a:solidFill>
          </p:spPr>
          <p:txBody>
            <a:bodyPr/>
            <a:lstStyle/>
            <a:p>
              <a:endParaRPr lang="en-US"/>
            </a:p>
          </p:txBody>
        </p:sp>
        <p:sp>
          <p:nvSpPr>
            <p:cNvPr id="23" name="TextBox 23"/>
            <p:cNvSpPr txBox="1"/>
            <p:nvPr/>
          </p:nvSpPr>
          <p:spPr>
            <a:xfrm>
              <a:off x="76200" y="28575"/>
              <a:ext cx="660400" cy="708025"/>
            </a:xfrm>
            <a:prstGeom prst="rect">
              <a:avLst/>
            </a:prstGeom>
          </p:spPr>
          <p:txBody>
            <a:bodyPr lIns="33867" tIns="33867" rIns="33867" bIns="33867" rtlCol="0" anchor="ctr"/>
            <a:lstStyle/>
            <a:p>
              <a:pPr algn="ctr">
                <a:lnSpc>
                  <a:spcPts val="1867"/>
                </a:lnSpc>
              </a:pPr>
              <a:endParaRPr sz="1200"/>
            </a:p>
          </p:txBody>
        </p:sp>
      </p:grpSp>
      <p:grpSp>
        <p:nvGrpSpPr>
          <p:cNvPr id="24" name="Group 24"/>
          <p:cNvGrpSpPr/>
          <p:nvPr/>
        </p:nvGrpSpPr>
        <p:grpSpPr>
          <a:xfrm>
            <a:off x="4037697" y="2171039"/>
            <a:ext cx="3277827" cy="2352960"/>
            <a:chOff x="0" y="0"/>
            <a:chExt cx="1870189" cy="1342499"/>
          </a:xfrm>
        </p:grpSpPr>
        <p:sp>
          <p:nvSpPr>
            <p:cNvPr id="25" name="Freeform 25"/>
            <p:cNvSpPr/>
            <p:nvPr/>
          </p:nvSpPr>
          <p:spPr>
            <a:xfrm>
              <a:off x="0" y="0"/>
              <a:ext cx="1870190" cy="1342499"/>
            </a:xfrm>
            <a:custGeom>
              <a:avLst/>
              <a:gdLst/>
              <a:ahLst/>
              <a:cxnLst/>
              <a:rect l="l" t="t" r="r" b="b"/>
              <a:pathLst>
                <a:path w="1870190" h="1342499">
                  <a:moveTo>
                    <a:pt x="1745729" y="1342499"/>
                  </a:moveTo>
                  <a:lnTo>
                    <a:pt x="124460" y="1342499"/>
                  </a:lnTo>
                  <a:cubicBezTo>
                    <a:pt x="55880" y="1342499"/>
                    <a:pt x="0" y="1286619"/>
                    <a:pt x="0" y="1218039"/>
                  </a:cubicBezTo>
                  <a:lnTo>
                    <a:pt x="0" y="124460"/>
                  </a:lnTo>
                  <a:cubicBezTo>
                    <a:pt x="0" y="55880"/>
                    <a:pt x="55880" y="0"/>
                    <a:pt x="124460" y="0"/>
                  </a:cubicBezTo>
                  <a:lnTo>
                    <a:pt x="1745730" y="0"/>
                  </a:lnTo>
                  <a:cubicBezTo>
                    <a:pt x="1814310" y="0"/>
                    <a:pt x="1870190" y="55880"/>
                    <a:pt x="1870190" y="124460"/>
                  </a:cubicBezTo>
                  <a:lnTo>
                    <a:pt x="1870190" y="1218039"/>
                  </a:lnTo>
                  <a:cubicBezTo>
                    <a:pt x="1870190" y="1286619"/>
                    <a:pt x="1814310" y="1342499"/>
                    <a:pt x="1745730" y="1342499"/>
                  </a:cubicBezTo>
                  <a:close/>
                </a:path>
              </a:pathLst>
            </a:custGeom>
            <a:solidFill>
              <a:srgbClr val="F2F1DC"/>
            </a:solidFill>
          </p:spPr>
          <p:txBody>
            <a:bodyPr/>
            <a:lstStyle/>
            <a:p>
              <a:endParaRPr lang="en-US"/>
            </a:p>
          </p:txBody>
        </p:sp>
      </p:grpSp>
      <p:grpSp>
        <p:nvGrpSpPr>
          <p:cNvPr id="26" name="Group 26"/>
          <p:cNvGrpSpPr/>
          <p:nvPr/>
        </p:nvGrpSpPr>
        <p:grpSpPr>
          <a:xfrm>
            <a:off x="7645724" y="4880604"/>
            <a:ext cx="4076855" cy="1558297"/>
            <a:chOff x="0" y="0"/>
            <a:chExt cx="1985220" cy="758811"/>
          </a:xfrm>
        </p:grpSpPr>
        <p:sp>
          <p:nvSpPr>
            <p:cNvPr id="27" name="Freeform 27"/>
            <p:cNvSpPr/>
            <p:nvPr/>
          </p:nvSpPr>
          <p:spPr>
            <a:xfrm>
              <a:off x="0" y="0"/>
              <a:ext cx="1985220" cy="758811"/>
            </a:xfrm>
            <a:custGeom>
              <a:avLst/>
              <a:gdLst/>
              <a:ahLst/>
              <a:cxnLst/>
              <a:rect l="l" t="t" r="r" b="b"/>
              <a:pathLst>
                <a:path w="1985220" h="758811">
                  <a:moveTo>
                    <a:pt x="1860760" y="758811"/>
                  </a:moveTo>
                  <a:lnTo>
                    <a:pt x="124460" y="758811"/>
                  </a:lnTo>
                  <a:cubicBezTo>
                    <a:pt x="55880" y="758811"/>
                    <a:pt x="0" y="702931"/>
                    <a:pt x="0" y="634351"/>
                  </a:cubicBezTo>
                  <a:lnTo>
                    <a:pt x="0" y="124460"/>
                  </a:lnTo>
                  <a:cubicBezTo>
                    <a:pt x="0" y="55880"/>
                    <a:pt x="55880" y="0"/>
                    <a:pt x="124460" y="0"/>
                  </a:cubicBezTo>
                  <a:lnTo>
                    <a:pt x="1860760" y="0"/>
                  </a:lnTo>
                  <a:cubicBezTo>
                    <a:pt x="1929340" y="0"/>
                    <a:pt x="1985220" y="55880"/>
                    <a:pt x="1985220" y="124460"/>
                  </a:cubicBezTo>
                  <a:lnTo>
                    <a:pt x="1985220" y="634351"/>
                  </a:lnTo>
                  <a:cubicBezTo>
                    <a:pt x="1985220" y="702931"/>
                    <a:pt x="1929340" y="758811"/>
                    <a:pt x="1860760" y="758811"/>
                  </a:cubicBezTo>
                  <a:close/>
                </a:path>
              </a:pathLst>
            </a:custGeom>
            <a:solidFill>
              <a:srgbClr val="F2F1DC"/>
            </a:solidFill>
          </p:spPr>
          <p:txBody>
            <a:bodyPr/>
            <a:lstStyle/>
            <a:p>
              <a:endParaRPr lang="en-US"/>
            </a:p>
          </p:txBody>
        </p:sp>
      </p:grpSp>
      <p:grpSp>
        <p:nvGrpSpPr>
          <p:cNvPr id="28" name="Group 28"/>
          <p:cNvGrpSpPr/>
          <p:nvPr/>
        </p:nvGrpSpPr>
        <p:grpSpPr>
          <a:xfrm>
            <a:off x="7134653" y="1988364"/>
            <a:ext cx="768141" cy="768141"/>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9BFB3"/>
            </a:solidFill>
          </p:spPr>
          <p:txBody>
            <a:bodyPr/>
            <a:lstStyle/>
            <a:p>
              <a:endParaRPr lang="en-US"/>
            </a:p>
          </p:txBody>
        </p:sp>
        <p:sp>
          <p:nvSpPr>
            <p:cNvPr id="30" name="TextBox 30"/>
            <p:cNvSpPr txBox="1"/>
            <p:nvPr/>
          </p:nvSpPr>
          <p:spPr>
            <a:xfrm>
              <a:off x="76200" y="28575"/>
              <a:ext cx="660400" cy="708025"/>
            </a:xfrm>
            <a:prstGeom prst="rect">
              <a:avLst/>
            </a:prstGeom>
          </p:spPr>
          <p:txBody>
            <a:bodyPr lIns="33867" tIns="33867" rIns="33867" bIns="33867" rtlCol="0" anchor="ctr"/>
            <a:lstStyle/>
            <a:p>
              <a:pPr algn="ctr">
                <a:lnSpc>
                  <a:spcPts val="1867"/>
                </a:lnSpc>
              </a:pPr>
              <a:endParaRPr sz="1200"/>
            </a:p>
          </p:txBody>
        </p:sp>
      </p:grpSp>
      <p:grpSp>
        <p:nvGrpSpPr>
          <p:cNvPr id="31" name="Group 31"/>
          <p:cNvGrpSpPr/>
          <p:nvPr/>
        </p:nvGrpSpPr>
        <p:grpSpPr>
          <a:xfrm>
            <a:off x="11010948" y="3953712"/>
            <a:ext cx="768141" cy="768141"/>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F4949"/>
            </a:solidFill>
          </p:spPr>
          <p:txBody>
            <a:bodyPr/>
            <a:lstStyle/>
            <a:p>
              <a:endParaRPr lang="en-US"/>
            </a:p>
          </p:txBody>
        </p:sp>
        <p:sp>
          <p:nvSpPr>
            <p:cNvPr id="33" name="TextBox 33"/>
            <p:cNvSpPr txBox="1"/>
            <p:nvPr/>
          </p:nvSpPr>
          <p:spPr>
            <a:xfrm>
              <a:off x="76200" y="28575"/>
              <a:ext cx="660400" cy="708025"/>
            </a:xfrm>
            <a:prstGeom prst="rect">
              <a:avLst/>
            </a:prstGeom>
          </p:spPr>
          <p:txBody>
            <a:bodyPr lIns="33867" tIns="33867" rIns="33867" bIns="33867" rtlCol="0" anchor="ctr"/>
            <a:lstStyle/>
            <a:p>
              <a:pPr algn="ctr">
                <a:lnSpc>
                  <a:spcPts val="1867"/>
                </a:lnSpc>
              </a:pPr>
              <a:endParaRPr sz="1200"/>
            </a:p>
          </p:txBody>
        </p:sp>
      </p:grpSp>
      <p:sp>
        <p:nvSpPr>
          <p:cNvPr id="38" name="TextBox 38"/>
          <p:cNvSpPr txBox="1"/>
          <p:nvPr/>
        </p:nvSpPr>
        <p:spPr>
          <a:xfrm>
            <a:off x="342900" y="195036"/>
            <a:ext cx="11227221" cy="846386"/>
          </a:xfrm>
          <a:prstGeom prst="rect">
            <a:avLst/>
          </a:prstGeom>
        </p:spPr>
        <p:txBody>
          <a:bodyPr lIns="0" tIns="0" rIns="0" bIns="0" rtlCol="0" anchor="t">
            <a:spAutoFit/>
          </a:bodyPr>
          <a:lstStyle/>
          <a:p>
            <a:pPr algn="ctr">
              <a:lnSpc>
                <a:spcPts val="3296"/>
              </a:lnSpc>
            </a:pPr>
            <a:r>
              <a:rPr lang="en-US" sz="3200" b="1" spc="102">
                <a:solidFill>
                  <a:schemeClr val="accent1">
                    <a:lumMod val="50000"/>
                  </a:schemeClr>
                </a:solidFill>
                <a:ea typeface="Canva Sans Bold"/>
                <a:cs typeface="Canva Sans Bold"/>
                <a:sym typeface="Canva Sans Bold"/>
              </a:rPr>
              <a:t>PROJECT OVERVIEW &amp; COMMERCIALIZATIONES WORKFLOW</a:t>
            </a:r>
          </a:p>
        </p:txBody>
      </p:sp>
      <p:grpSp>
        <p:nvGrpSpPr>
          <p:cNvPr id="39" name="Group 39"/>
          <p:cNvGrpSpPr/>
          <p:nvPr/>
        </p:nvGrpSpPr>
        <p:grpSpPr>
          <a:xfrm>
            <a:off x="8132931" y="1158190"/>
            <a:ext cx="2991892" cy="2486803"/>
            <a:chOff x="0" y="-38100"/>
            <a:chExt cx="5983784" cy="4973605"/>
          </a:xfrm>
        </p:grpSpPr>
        <p:sp>
          <p:nvSpPr>
            <p:cNvPr id="40" name="TextBox 40"/>
            <p:cNvSpPr txBox="1"/>
            <p:nvPr/>
          </p:nvSpPr>
          <p:spPr>
            <a:xfrm>
              <a:off x="0" y="-38100"/>
              <a:ext cx="5983784" cy="1081194"/>
            </a:xfrm>
            <a:prstGeom prst="rect">
              <a:avLst/>
            </a:prstGeom>
          </p:spPr>
          <p:txBody>
            <a:bodyPr lIns="0" tIns="0" rIns="0" bIns="0" rtlCol="0" anchor="t">
              <a:spAutoFit/>
            </a:bodyPr>
            <a:lstStyle/>
            <a:p>
              <a:pPr algn="ctr">
                <a:lnSpc>
                  <a:spcPts val="2249"/>
                </a:lnSpc>
              </a:pPr>
              <a:r>
                <a:rPr lang="en-US" sz="1607" b="1">
                  <a:solidFill>
                    <a:srgbClr val="3C4C59"/>
                  </a:solidFill>
                  <a:latin typeface="Canva Sans Bold"/>
                  <a:ea typeface="Canva Sans Bold"/>
                  <a:cs typeface="Canva Sans Bold"/>
                  <a:sym typeface="Canva Sans Bold"/>
                </a:rPr>
                <a:t>Target Market &amp; Customer Profile</a:t>
              </a:r>
            </a:p>
          </p:txBody>
        </p:sp>
        <p:sp>
          <p:nvSpPr>
            <p:cNvPr id="41" name="TextBox 41"/>
            <p:cNvSpPr txBox="1"/>
            <p:nvPr/>
          </p:nvSpPr>
          <p:spPr>
            <a:xfrm>
              <a:off x="0" y="1283352"/>
              <a:ext cx="5983784" cy="3652153"/>
            </a:xfrm>
            <a:prstGeom prst="rect">
              <a:avLst/>
            </a:prstGeom>
          </p:spPr>
          <p:txBody>
            <a:bodyPr lIns="0" tIns="0" rIns="0" bIns="0" rtlCol="0" anchor="t">
              <a:spAutoFit/>
            </a:bodyPr>
            <a:lstStyle/>
            <a:p>
              <a:pPr algn="just">
                <a:lnSpc>
                  <a:spcPts val="1779"/>
                </a:lnSpc>
              </a:pPr>
              <a:r>
                <a:rPr lang="en-US" sz="1271" b="1">
                  <a:solidFill>
                    <a:srgbClr val="63696F"/>
                  </a:solidFill>
                  <a:latin typeface="Canva Sans Bold"/>
                  <a:ea typeface="Canva Sans Bold"/>
                  <a:cs typeface="Canva Sans Bold"/>
                  <a:sym typeface="Canva Sans Bold"/>
                </a:rPr>
                <a:t>:</a:t>
              </a:r>
            </a:p>
            <a:p>
              <a:pPr marL="274488" lvl="1" indent="-137244" algn="just">
                <a:lnSpc>
                  <a:spcPts val="1779"/>
                </a:lnSpc>
                <a:buFont typeface="Arial"/>
                <a:buChar char="•"/>
              </a:pPr>
              <a:r>
                <a:rPr lang="en-US" sz="1271" b="1">
                  <a:solidFill>
                    <a:srgbClr val="63696F"/>
                  </a:solidFill>
                  <a:latin typeface="Canva Sans Bold"/>
                  <a:ea typeface="Canva Sans Bold"/>
                  <a:cs typeface="Canva Sans Bold"/>
                  <a:sym typeface="Canva Sans Bold"/>
                </a:rPr>
                <a:t>Elderly individuals on long-term medications (primary users).</a:t>
              </a:r>
            </a:p>
            <a:p>
              <a:pPr algn="just">
                <a:lnSpc>
                  <a:spcPts val="1779"/>
                </a:lnSpc>
              </a:pPr>
              <a:endParaRPr lang="en-US" sz="1271" b="1">
                <a:solidFill>
                  <a:srgbClr val="63696F"/>
                </a:solidFill>
                <a:latin typeface="Canva Sans Bold"/>
                <a:ea typeface="Canva Sans Bold"/>
                <a:cs typeface="Canva Sans Bold"/>
                <a:sym typeface="Canva Sans Bold"/>
              </a:endParaRPr>
            </a:p>
            <a:p>
              <a:pPr marL="274488" lvl="1" indent="-137244" algn="just">
                <a:lnSpc>
                  <a:spcPts val="1779"/>
                </a:lnSpc>
                <a:spcBef>
                  <a:spcPct val="0"/>
                </a:spcBef>
                <a:buFont typeface="Arial"/>
                <a:buChar char="•"/>
              </a:pPr>
              <a:r>
                <a:rPr lang="en-US" sz="1271" b="1">
                  <a:solidFill>
                    <a:srgbClr val="63696F"/>
                  </a:solidFill>
                  <a:latin typeface="Canva Sans Bold"/>
                  <a:ea typeface="Canva Sans Bold"/>
                  <a:cs typeface="Canva Sans Bold"/>
                  <a:sym typeface="Canva Sans Bold"/>
                </a:rPr>
                <a:t>Caregivers and family members seeking proactive health monitoring.</a:t>
              </a:r>
            </a:p>
            <a:p>
              <a:pPr algn="just">
                <a:lnSpc>
                  <a:spcPts val="1779"/>
                </a:lnSpc>
                <a:spcBef>
                  <a:spcPct val="0"/>
                </a:spcBef>
              </a:pPr>
              <a:endParaRPr lang="en-US" sz="1271" b="1">
                <a:solidFill>
                  <a:srgbClr val="63696F"/>
                </a:solidFill>
                <a:latin typeface="Canva Sans Bold"/>
                <a:ea typeface="Canva Sans Bold"/>
                <a:cs typeface="Canva Sans Bold"/>
                <a:sym typeface="Canva Sans Bold"/>
              </a:endParaRPr>
            </a:p>
          </p:txBody>
        </p:sp>
      </p:grpSp>
      <p:grpSp>
        <p:nvGrpSpPr>
          <p:cNvPr id="42" name="Group 42"/>
          <p:cNvGrpSpPr/>
          <p:nvPr/>
        </p:nvGrpSpPr>
        <p:grpSpPr>
          <a:xfrm>
            <a:off x="4037696" y="1886316"/>
            <a:ext cx="3116705" cy="2784709"/>
            <a:chOff x="0" y="-38100"/>
            <a:chExt cx="6233409" cy="5569419"/>
          </a:xfrm>
        </p:grpSpPr>
        <p:sp>
          <p:nvSpPr>
            <p:cNvPr id="43" name="TextBox 43"/>
            <p:cNvSpPr txBox="1"/>
            <p:nvPr/>
          </p:nvSpPr>
          <p:spPr>
            <a:xfrm>
              <a:off x="0" y="-38100"/>
              <a:ext cx="6233409" cy="514756"/>
            </a:xfrm>
            <a:prstGeom prst="rect">
              <a:avLst/>
            </a:prstGeom>
          </p:spPr>
          <p:txBody>
            <a:bodyPr lIns="0" tIns="0" rIns="0" bIns="0" rtlCol="0" anchor="t">
              <a:spAutoFit/>
            </a:bodyPr>
            <a:lstStyle/>
            <a:p>
              <a:pPr algn="ctr">
                <a:lnSpc>
                  <a:spcPts val="2196"/>
                </a:lnSpc>
              </a:pPr>
              <a:r>
                <a:rPr lang="en-US" sz="1569" b="1">
                  <a:solidFill>
                    <a:srgbClr val="3C4C59"/>
                  </a:solidFill>
                  <a:latin typeface="Canva Sans Bold"/>
                  <a:ea typeface="Canva Sans Bold"/>
                  <a:cs typeface="Canva Sans Bold"/>
                  <a:sym typeface="Canva Sans Bold"/>
                </a:rPr>
                <a:t>Investment / Cost &amp; Recovery:</a:t>
              </a:r>
            </a:p>
          </p:txBody>
        </p:sp>
        <p:sp>
          <p:nvSpPr>
            <p:cNvPr id="44" name="TextBox 44"/>
            <p:cNvSpPr txBox="1"/>
            <p:nvPr/>
          </p:nvSpPr>
          <p:spPr>
            <a:xfrm>
              <a:off x="0" y="694480"/>
              <a:ext cx="6233409" cy="4836839"/>
            </a:xfrm>
            <a:prstGeom prst="rect">
              <a:avLst/>
            </a:prstGeom>
          </p:spPr>
          <p:txBody>
            <a:bodyPr lIns="0" tIns="0" rIns="0" bIns="0" rtlCol="0" anchor="t">
              <a:spAutoFit/>
            </a:bodyPr>
            <a:lstStyle/>
            <a:p>
              <a:pPr marL="268978" lvl="1" indent="-134489" algn="just">
                <a:lnSpc>
                  <a:spcPts val="1744"/>
                </a:lnSpc>
                <a:buFont typeface="Arial"/>
                <a:buChar char="•"/>
              </a:pPr>
              <a:r>
                <a:rPr lang="en-US" sz="1245" b="1">
                  <a:solidFill>
                    <a:srgbClr val="63696F"/>
                  </a:solidFill>
                  <a:latin typeface="Canva Sans Bold"/>
                  <a:ea typeface="Canva Sans Bold"/>
                  <a:cs typeface="Canva Sans Bold"/>
                  <a:sym typeface="Canva Sans Bold"/>
                </a:rPr>
                <a:t>Cloud servers</a:t>
              </a:r>
            </a:p>
            <a:p>
              <a:pPr marL="268978" lvl="1" indent="-134489" algn="just">
                <a:lnSpc>
                  <a:spcPts val="1744"/>
                </a:lnSpc>
                <a:buFont typeface="Arial"/>
                <a:buChar char="•"/>
              </a:pPr>
              <a:r>
                <a:rPr lang="en-US" sz="1245" b="1">
                  <a:solidFill>
                    <a:srgbClr val="63696F"/>
                  </a:solidFill>
                  <a:latin typeface="Canva Sans Bold"/>
                  <a:ea typeface="Canva Sans Bold"/>
                  <a:cs typeface="Canva Sans Bold"/>
                  <a:sym typeface="Canva Sans Bold"/>
                </a:rPr>
                <a:t> app infrastructure</a:t>
              </a:r>
            </a:p>
            <a:p>
              <a:pPr algn="just">
                <a:lnSpc>
                  <a:spcPts val="1744"/>
                </a:lnSpc>
              </a:pPr>
              <a:endParaRPr lang="en-US" sz="1245" b="1">
                <a:solidFill>
                  <a:srgbClr val="63696F"/>
                </a:solidFill>
                <a:latin typeface="Canva Sans Bold"/>
                <a:ea typeface="Canva Sans Bold"/>
                <a:cs typeface="Canva Sans Bold"/>
                <a:sym typeface="Canva Sans Bold"/>
              </a:endParaRPr>
            </a:p>
            <a:p>
              <a:pPr algn="just">
                <a:lnSpc>
                  <a:spcPts val="2024"/>
                </a:lnSpc>
              </a:pPr>
              <a:r>
                <a:rPr lang="en-US" sz="1445" b="1">
                  <a:solidFill>
                    <a:srgbClr val="63696F"/>
                  </a:solidFill>
                  <a:latin typeface="Canva Sans Bold"/>
                  <a:ea typeface="Canva Sans Bold"/>
                  <a:cs typeface="Canva Sans Bold"/>
                  <a:sym typeface="Canva Sans Bold"/>
                </a:rPr>
                <a:t>Recovery Strategy:</a:t>
              </a:r>
            </a:p>
            <a:p>
              <a:pPr marL="268978" lvl="1" indent="-134489" algn="just">
                <a:lnSpc>
                  <a:spcPts val="1744"/>
                </a:lnSpc>
                <a:buFont typeface="Arial"/>
                <a:buChar char="•"/>
              </a:pPr>
              <a:r>
                <a:rPr lang="en-US" sz="1245" b="1">
                  <a:solidFill>
                    <a:srgbClr val="63696F"/>
                  </a:solidFill>
                  <a:latin typeface="Canva Sans Bold"/>
                  <a:ea typeface="Canva Sans Bold"/>
                  <a:cs typeface="Canva Sans Bold"/>
                  <a:sym typeface="Canva Sans Bold"/>
                </a:rPr>
                <a:t>Subscription plans for clinics and hospitals.</a:t>
              </a:r>
            </a:p>
            <a:p>
              <a:pPr marL="268978" lvl="1" indent="-134489" algn="just">
                <a:lnSpc>
                  <a:spcPts val="1744"/>
                </a:lnSpc>
                <a:buFont typeface="Arial"/>
                <a:buChar char="•"/>
              </a:pPr>
              <a:r>
                <a:rPr lang="en-US" sz="1245" b="1">
                  <a:solidFill>
                    <a:srgbClr val="63696F"/>
                  </a:solidFill>
                  <a:latin typeface="Canva Sans Bold"/>
                  <a:ea typeface="Canva Sans Bold"/>
                  <a:cs typeface="Canva Sans Bold"/>
                  <a:sym typeface="Canva Sans Bold"/>
                </a:rPr>
                <a:t>Premium model for individual users with optional premium features.</a:t>
              </a:r>
            </a:p>
            <a:p>
              <a:pPr marL="268978" lvl="1" indent="-134489" algn="just">
                <a:lnSpc>
                  <a:spcPts val="1744"/>
                </a:lnSpc>
                <a:buFont typeface="Arial"/>
                <a:buChar char="•"/>
              </a:pPr>
              <a:r>
                <a:rPr lang="en-US" sz="1245" b="1">
                  <a:solidFill>
                    <a:srgbClr val="63696F"/>
                  </a:solidFill>
                  <a:latin typeface="Canva Sans Bold"/>
                  <a:ea typeface="Canva Sans Bold"/>
                  <a:cs typeface="Canva Sans Bold"/>
                  <a:sym typeface="Canva Sans Bold"/>
                </a:rPr>
                <a:t>Partnerships with health insurers or wellness programs.</a:t>
              </a:r>
            </a:p>
            <a:p>
              <a:pPr algn="just">
                <a:lnSpc>
                  <a:spcPts val="1744"/>
                </a:lnSpc>
              </a:pPr>
              <a:endParaRPr lang="en-US" sz="1245" b="1">
                <a:solidFill>
                  <a:srgbClr val="63696F"/>
                </a:solidFill>
                <a:latin typeface="Canva Sans Bold"/>
                <a:ea typeface="Canva Sans Bold"/>
                <a:cs typeface="Canva Sans Bold"/>
                <a:sym typeface="Canva Sans Bold"/>
              </a:endParaRPr>
            </a:p>
          </p:txBody>
        </p:sp>
      </p:grpSp>
      <p:grpSp>
        <p:nvGrpSpPr>
          <p:cNvPr id="45" name="Group 45"/>
          <p:cNvGrpSpPr/>
          <p:nvPr/>
        </p:nvGrpSpPr>
        <p:grpSpPr>
          <a:xfrm>
            <a:off x="7645724" y="4395470"/>
            <a:ext cx="3860477" cy="2107798"/>
            <a:chOff x="0" y="-38100"/>
            <a:chExt cx="7720954" cy="4215596"/>
          </a:xfrm>
        </p:grpSpPr>
        <p:sp>
          <p:nvSpPr>
            <p:cNvPr id="46" name="TextBox 46"/>
            <p:cNvSpPr txBox="1"/>
            <p:nvPr/>
          </p:nvSpPr>
          <p:spPr>
            <a:xfrm>
              <a:off x="0" y="-38100"/>
              <a:ext cx="7720954" cy="516552"/>
            </a:xfrm>
            <a:prstGeom prst="rect">
              <a:avLst/>
            </a:prstGeom>
          </p:spPr>
          <p:txBody>
            <a:bodyPr lIns="0" tIns="0" rIns="0" bIns="0" rtlCol="0" anchor="t">
              <a:spAutoFit/>
            </a:bodyPr>
            <a:lstStyle/>
            <a:p>
              <a:pPr algn="ctr">
                <a:lnSpc>
                  <a:spcPts val="2239"/>
                </a:lnSpc>
              </a:pPr>
              <a:r>
                <a:rPr lang="en-US" sz="1600" b="1">
                  <a:solidFill>
                    <a:srgbClr val="3C4C59"/>
                  </a:solidFill>
                  <a:latin typeface="Canva Sans Bold"/>
                  <a:ea typeface="Canva Sans Bold"/>
                  <a:cs typeface="Canva Sans Bold"/>
                  <a:sym typeface="Canva Sans Bold"/>
                </a:rPr>
                <a:t>Intellectual Property Rights</a:t>
              </a:r>
            </a:p>
          </p:txBody>
        </p:sp>
        <p:sp>
          <p:nvSpPr>
            <p:cNvPr id="47" name="TextBox 47"/>
            <p:cNvSpPr txBox="1"/>
            <p:nvPr/>
          </p:nvSpPr>
          <p:spPr>
            <a:xfrm>
              <a:off x="0" y="728346"/>
              <a:ext cx="7720954" cy="3449150"/>
            </a:xfrm>
            <a:prstGeom prst="rect">
              <a:avLst/>
            </a:prstGeom>
          </p:spPr>
          <p:txBody>
            <a:bodyPr lIns="0" tIns="0" rIns="0" bIns="0" rtlCol="0" anchor="t">
              <a:spAutoFit/>
            </a:bodyPr>
            <a:lstStyle/>
            <a:p>
              <a:pPr algn="ctr">
                <a:lnSpc>
                  <a:spcPts val="1679"/>
                </a:lnSpc>
              </a:pPr>
              <a:r>
                <a:rPr lang="en-US" sz="1199" b="1">
                  <a:solidFill>
                    <a:srgbClr val="63696F"/>
                  </a:solidFill>
                  <a:latin typeface="Canva Sans Bold"/>
                  <a:ea typeface="Canva Sans Bold"/>
                  <a:cs typeface="Canva Sans Bold"/>
                  <a:sym typeface="Canva Sans Bold"/>
                </a:rPr>
                <a:t>:</a:t>
              </a:r>
            </a:p>
            <a:p>
              <a:pPr marL="259092" lvl="1" indent="-129546" algn="just">
                <a:lnSpc>
                  <a:spcPts val="1679"/>
                </a:lnSpc>
                <a:buFont typeface="Arial"/>
                <a:buChar char="•"/>
              </a:pPr>
              <a:r>
                <a:rPr lang="en-US" sz="1199" b="1">
                  <a:solidFill>
                    <a:srgbClr val="63696F"/>
                  </a:solidFill>
                  <a:latin typeface="Canva Sans Bold"/>
                  <a:ea typeface="Canva Sans Bold"/>
                  <a:cs typeface="Canva Sans Bold"/>
                  <a:sym typeface="Canva Sans Bold"/>
                </a:rPr>
                <a:t>Proprietary AI algorithms for predictive deficiency detection.</a:t>
              </a:r>
            </a:p>
            <a:p>
              <a:pPr marL="259092" lvl="1" indent="-129546" algn="just">
                <a:lnSpc>
                  <a:spcPts val="1679"/>
                </a:lnSpc>
                <a:buFont typeface="Arial"/>
                <a:buChar char="•"/>
              </a:pPr>
              <a:r>
                <a:rPr lang="en-US" sz="1199" b="1">
                  <a:solidFill>
                    <a:srgbClr val="63696F"/>
                  </a:solidFill>
                  <a:latin typeface="Canva Sans Bold"/>
                  <a:ea typeface="Canva Sans Bold"/>
                  <a:cs typeface="Canva Sans Bold"/>
                  <a:sym typeface="Canva Sans Bold"/>
                </a:rPr>
                <a:t>Database schema, recommendation engine, and app design protected under copyright.</a:t>
              </a:r>
            </a:p>
            <a:p>
              <a:pPr marL="259092" lvl="1" indent="-129546" algn="just">
                <a:lnSpc>
                  <a:spcPts val="1679"/>
                </a:lnSpc>
                <a:spcBef>
                  <a:spcPct val="0"/>
                </a:spcBef>
                <a:buFont typeface="Arial"/>
                <a:buChar char="•"/>
              </a:pPr>
              <a:r>
                <a:rPr lang="en-US" sz="1199" b="1">
                  <a:solidFill>
                    <a:srgbClr val="63696F"/>
                  </a:solidFill>
                  <a:latin typeface="Canva Sans Bold"/>
                  <a:ea typeface="Canva Sans Bold"/>
                  <a:cs typeface="Canva Sans Bold"/>
                  <a:sym typeface="Canva Sans Bold"/>
                </a:rPr>
                <a:t>Potential for patenting predictive model and unique multi-factor integration method.</a:t>
              </a:r>
            </a:p>
            <a:p>
              <a:pPr algn="ctr">
                <a:lnSpc>
                  <a:spcPts val="1679"/>
                </a:lnSpc>
                <a:spcBef>
                  <a:spcPct val="0"/>
                </a:spcBef>
              </a:pPr>
              <a:endParaRPr lang="en-US" sz="1199" b="1">
                <a:solidFill>
                  <a:srgbClr val="63696F"/>
                </a:solidFill>
                <a:latin typeface="Canva Sans Bold"/>
                <a:ea typeface="Canva Sans Bold"/>
                <a:cs typeface="Canva Sans Bold"/>
                <a:sym typeface="Canva Sans Bold"/>
              </a:endParaRPr>
            </a:p>
          </p:txBody>
        </p:sp>
      </p:grpSp>
      <p:sp>
        <p:nvSpPr>
          <p:cNvPr id="48" name="Freeform 48"/>
          <p:cNvSpPr/>
          <p:nvPr/>
        </p:nvSpPr>
        <p:spPr>
          <a:xfrm>
            <a:off x="4022462" y="5383397"/>
            <a:ext cx="393700" cy="362696"/>
          </a:xfrm>
          <a:custGeom>
            <a:avLst/>
            <a:gdLst/>
            <a:ahLst/>
            <a:cxnLst/>
            <a:rect l="l" t="t" r="r" b="b"/>
            <a:pathLst>
              <a:path w="590550" h="544044">
                <a:moveTo>
                  <a:pt x="0" y="0"/>
                </a:moveTo>
                <a:lnTo>
                  <a:pt x="590550" y="0"/>
                </a:lnTo>
                <a:lnTo>
                  <a:pt x="590550" y="544044"/>
                </a:lnTo>
                <a:lnTo>
                  <a:pt x="0" y="5440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9" name="Freeform 49"/>
          <p:cNvSpPr/>
          <p:nvPr/>
        </p:nvSpPr>
        <p:spPr>
          <a:xfrm>
            <a:off x="3488070" y="1516587"/>
            <a:ext cx="393700" cy="388779"/>
          </a:xfrm>
          <a:custGeom>
            <a:avLst/>
            <a:gdLst/>
            <a:ahLst/>
            <a:cxnLst/>
            <a:rect l="l" t="t" r="r" b="b"/>
            <a:pathLst>
              <a:path w="590550" h="583168">
                <a:moveTo>
                  <a:pt x="0" y="0"/>
                </a:moveTo>
                <a:lnTo>
                  <a:pt x="590550" y="0"/>
                </a:lnTo>
                <a:lnTo>
                  <a:pt x="590550" y="583168"/>
                </a:lnTo>
                <a:lnTo>
                  <a:pt x="0" y="5831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0" name="Freeform 50"/>
          <p:cNvSpPr/>
          <p:nvPr/>
        </p:nvSpPr>
        <p:spPr>
          <a:xfrm>
            <a:off x="7321873" y="2183090"/>
            <a:ext cx="393700" cy="378690"/>
          </a:xfrm>
          <a:custGeom>
            <a:avLst/>
            <a:gdLst/>
            <a:ahLst/>
            <a:cxnLst/>
            <a:rect l="l" t="t" r="r" b="b"/>
            <a:pathLst>
              <a:path w="590550" h="568035">
                <a:moveTo>
                  <a:pt x="0" y="0"/>
                </a:moveTo>
                <a:lnTo>
                  <a:pt x="590550" y="0"/>
                </a:lnTo>
                <a:lnTo>
                  <a:pt x="590550" y="568034"/>
                </a:lnTo>
                <a:lnTo>
                  <a:pt x="0" y="568034"/>
                </a:lnTo>
                <a:lnTo>
                  <a:pt x="0" y="0"/>
                </a:lnTo>
                <a:close/>
              </a:path>
            </a:pathLst>
          </a:custGeom>
          <a:blipFill>
            <a:blip r:embed="rId6">
              <a:extLst>
                <a:ext uri="{96DAC541-7B7A-43D3-8B79-37D633B846F1}">
                  <asvg:svgBlip xmlns:asvg="http://schemas.microsoft.com/office/drawing/2016/SVG/main" r:embed="rId7"/>
                </a:ext>
              </a:extLst>
            </a:blip>
            <a:stretch>
              <a:fillRect l="-1911" t="-3798" r="-1366" b="-3573"/>
            </a:stretch>
          </a:blipFill>
        </p:spPr>
        <p:txBody>
          <a:bodyPr/>
          <a:lstStyle/>
          <a:p>
            <a:endParaRPr lang="en-US"/>
          </a:p>
        </p:txBody>
      </p:sp>
      <p:sp>
        <p:nvSpPr>
          <p:cNvPr id="51" name="Freeform 51"/>
          <p:cNvSpPr/>
          <p:nvPr/>
        </p:nvSpPr>
        <p:spPr>
          <a:xfrm>
            <a:off x="11198168" y="4190426"/>
            <a:ext cx="393700" cy="395709"/>
          </a:xfrm>
          <a:custGeom>
            <a:avLst/>
            <a:gdLst/>
            <a:ahLst/>
            <a:cxnLst/>
            <a:rect l="l" t="t" r="r" b="b"/>
            <a:pathLst>
              <a:path w="590550" h="593563">
                <a:moveTo>
                  <a:pt x="0" y="0"/>
                </a:moveTo>
                <a:lnTo>
                  <a:pt x="590550" y="0"/>
                </a:lnTo>
                <a:lnTo>
                  <a:pt x="590550" y="593563"/>
                </a:lnTo>
                <a:lnTo>
                  <a:pt x="0" y="593563"/>
                </a:lnTo>
                <a:lnTo>
                  <a:pt x="0" y="0"/>
                </a:lnTo>
                <a:close/>
              </a:path>
            </a:pathLst>
          </a:custGeom>
          <a:blipFill>
            <a:blip r:embed="rId8">
              <a:extLst>
                <a:ext uri="{96DAC541-7B7A-43D3-8B79-37D633B846F1}">
                  <asvg:svgBlip xmlns:asvg="http://schemas.microsoft.com/office/drawing/2016/SVG/main" r:embed="rId9"/>
                </a:ext>
              </a:extLst>
            </a:blip>
            <a:stretch>
              <a:fillRect l="-1742" t="-1421" r="-1872" b="-1668"/>
            </a:stretch>
          </a:blipFill>
        </p:spPr>
        <p:txBody>
          <a:bodyPr/>
          <a:lstStyle/>
          <a:p>
            <a:endParaRPr lang="en-US"/>
          </a:p>
        </p:txBody>
      </p:sp>
      <p:sp>
        <p:nvSpPr>
          <p:cNvPr id="52" name="Freeform 52"/>
          <p:cNvSpPr/>
          <p:nvPr/>
        </p:nvSpPr>
        <p:spPr>
          <a:xfrm>
            <a:off x="11124823" y="1379822"/>
            <a:ext cx="393700" cy="387608"/>
          </a:xfrm>
          <a:custGeom>
            <a:avLst/>
            <a:gdLst/>
            <a:ahLst/>
            <a:cxnLst/>
            <a:rect l="l" t="t" r="r" b="b"/>
            <a:pathLst>
              <a:path w="590550" h="581412">
                <a:moveTo>
                  <a:pt x="0" y="0"/>
                </a:moveTo>
                <a:lnTo>
                  <a:pt x="590550" y="0"/>
                </a:lnTo>
                <a:lnTo>
                  <a:pt x="590550" y="581412"/>
                </a:lnTo>
                <a:lnTo>
                  <a:pt x="0" y="581412"/>
                </a:lnTo>
                <a:lnTo>
                  <a:pt x="0" y="0"/>
                </a:lnTo>
                <a:close/>
              </a:path>
            </a:pathLst>
          </a:custGeom>
          <a:blipFill>
            <a:blip r:embed="rId10">
              <a:extLst>
                <a:ext uri="{96DAC541-7B7A-43D3-8B79-37D633B846F1}">
                  <asvg:svgBlip xmlns:asvg="http://schemas.microsoft.com/office/drawing/2016/SVG/main" r:embed="rId11"/>
                </a:ext>
              </a:extLst>
            </a:blip>
            <a:stretch>
              <a:fillRect l="-1161" t="-2036" r="-1538" b="-2276"/>
            </a:stretch>
          </a:blipFill>
        </p:spPr>
        <p:txBody>
          <a:bodyPr/>
          <a:lstStyle/>
          <a:p>
            <a:endParaRPr lang="en-US"/>
          </a:p>
        </p:txBody>
      </p:sp>
      <p:sp>
        <p:nvSpPr>
          <p:cNvPr id="57" name="Freeform 4">
            <a:extLst>
              <a:ext uri="{FF2B5EF4-FFF2-40B4-BE49-F238E27FC236}">
                <a16:creationId xmlns:a16="http://schemas.microsoft.com/office/drawing/2014/main" id="{511D1B17-FF3E-1E16-6E35-FAC449B70AF3}"/>
              </a:ext>
            </a:extLst>
          </p:cNvPr>
          <p:cNvSpPr/>
          <p:nvPr/>
        </p:nvSpPr>
        <p:spPr>
          <a:xfrm rot="-1439754">
            <a:off x="4280163" y="5172982"/>
            <a:ext cx="5069245" cy="4004704"/>
          </a:xfrm>
          <a:custGeom>
            <a:avLst/>
            <a:gdLst/>
            <a:ahLst/>
            <a:cxnLst/>
            <a:rect l="l" t="t" r="r" b="b"/>
            <a:pathLst>
              <a:path w="7603868" h="6007056">
                <a:moveTo>
                  <a:pt x="0" y="0"/>
                </a:moveTo>
                <a:lnTo>
                  <a:pt x="7603868" y="0"/>
                </a:lnTo>
                <a:lnTo>
                  <a:pt x="7603868" y="6007056"/>
                </a:lnTo>
                <a:lnTo>
                  <a:pt x="0" y="600705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0" name="Picture 8" descr="Q&amp;A Images – Browse 165,352 Stock Photos, Vectors, and Video | Adobe Stock">
            <a:extLst>
              <a:ext uri="{FF2B5EF4-FFF2-40B4-BE49-F238E27FC236}">
                <a16:creationId xmlns:a16="http://schemas.microsoft.com/office/drawing/2014/main" id="{8F8CCE6A-B511-7235-24BC-208FBA3E812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456" b="6785"/>
          <a:stretch/>
        </p:blipFill>
        <p:spPr bwMode="auto">
          <a:xfrm>
            <a:off x="907026" y="491613"/>
            <a:ext cx="10377948" cy="549768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322248"/>
      </p:ext>
    </p:extLst>
  </p:cSld>
  <p:clrMapOvr>
    <a:masterClrMapping/>
  </p:clrMapOvr>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D08376A6-FCE2-4A8E-BFFF-11B69BD93976}" vid="{0A5F165D-9E14-4628-BA29-A51D7051FD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315195e-671e-423b-bef2-4f1205612242">
      <Terms xmlns="http://schemas.microsoft.com/office/infopath/2007/PartnerControls"/>
    </lcf76f155ced4ddcb4097134ff3c332f>
    <TaxCatchAll xmlns="db72c12f-87a4-44ab-bbc5-4cc8306b158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DC20DB7DB36DD49BC8150064CF95DD9" ma:contentTypeVersion="13" ma:contentTypeDescription="Create a new document." ma:contentTypeScope="" ma:versionID="550c4f938508304d96ee8923cc022600">
  <xsd:schema xmlns:xsd="http://www.w3.org/2001/XMLSchema" xmlns:xs="http://www.w3.org/2001/XMLSchema" xmlns:p="http://schemas.microsoft.com/office/2006/metadata/properties" xmlns:ns2="b315195e-671e-423b-bef2-4f1205612242" xmlns:ns3="db72c12f-87a4-44ab-bbc5-4cc8306b158a" targetNamespace="http://schemas.microsoft.com/office/2006/metadata/properties" ma:root="true" ma:fieldsID="578884b52fd4f9d1b61924ef77b1223d" ns2:_="" ns3:_="">
    <xsd:import namespace="b315195e-671e-423b-bef2-4f1205612242"/>
    <xsd:import namespace="db72c12f-87a4-44ab-bbc5-4cc8306b15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15195e-671e-423b-bef2-4f12056122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descriptio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b72c12f-87a4-44ab-bbc5-4cc8306b158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a90b710-f748-4220-b362-4102ae550bf9}" ma:internalName="TaxCatchAll" ma:showField="CatchAllData" ma:web="db72c12f-87a4-44ab-bbc5-4cc8306b15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60FB20-9CB0-4AEE-842B-5EF711A0CF59}">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9f051fea-6169-422b-9b96-d2faa3f6702f"/>
    <ds:schemaRef ds:uri="ebcb448b-e496-46d6-b65e-001154fa212e"/>
    <ds:schemaRef ds:uri="http://www.w3.org/XML/1998/namespace"/>
    <ds:schemaRef ds:uri="http://purl.org/dc/dcmitype/"/>
    <ds:schemaRef ds:uri="b315195e-671e-423b-bef2-4f1205612242"/>
    <ds:schemaRef ds:uri="db72c12f-87a4-44ab-bbc5-4cc8306b158a"/>
  </ds:schemaRefs>
</ds:datastoreItem>
</file>

<file path=customXml/itemProps2.xml><?xml version="1.0" encoding="utf-8"?>
<ds:datastoreItem xmlns:ds="http://schemas.openxmlformats.org/officeDocument/2006/customXml" ds:itemID="{775367E3-2213-4635-AF43-EBE727D1DD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15195e-671e-423b-bef2-4f1205612242"/>
    <ds:schemaRef ds:uri="db72c12f-87a4-44ab-bbc5-4cc8306b15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3C2A01-0009-4451-9FDC-31FB55ED5E25}">
  <ds:schemaRefs>
    <ds:schemaRef ds:uri="http://schemas.microsoft.com/sharepoint/v3/contenttype/forms"/>
  </ds:schemaRefs>
</ds:datastoreItem>
</file>

<file path=docMetadata/LabelInfo.xml><?xml version="1.0" encoding="utf-8"?>
<clbl:labelList xmlns:clbl="http://schemas.microsoft.com/office/2020/mipLabelMetadata">
  <clbl:label id="{44e3cf94-19c9-4e32-96c3-14f5bf01391a}" enabled="0" method="" siteId="{44e3cf94-19c9-4e32-96c3-14f5bf01391a}" removed="1"/>
</clbl:labelList>
</file>

<file path=docProps/app.xml><?xml version="1.0" encoding="utf-8"?>
<Properties xmlns="http://schemas.openxmlformats.org/officeDocument/2006/extended-properties" xmlns:vt="http://schemas.openxmlformats.org/officeDocument/2006/docPropsVTypes">
  <Template>Metropolitan</Template>
  <TotalTime>0</TotalTime>
  <Words>3311</Words>
  <Application>Microsoft Office PowerPoint</Application>
  <PresentationFormat>Widescreen</PresentationFormat>
  <Paragraphs>485</Paragraphs>
  <Slides>38</Slides>
  <Notes>4</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SMART POLYPHARMACY AND VITAMIN RECOMMENDATION SYSTEM</vt:lpstr>
      <vt:lpstr>Our Team</vt:lpstr>
      <vt:lpstr>PowerPoint Presentation</vt:lpstr>
      <vt:lpstr>PowerPoint Presentation</vt:lpstr>
      <vt:lpstr>PowerPoint Presentation</vt:lpstr>
      <vt:lpstr>PowerPoint Presentation</vt:lpstr>
      <vt:lpstr>Overall solution as a system diagram</vt:lpstr>
      <vt:lpstr>It22600448 | Reshmi m g g k</vt:lpstr>
      <vt:lpstr>PowerPoint Presentation</vt:lpstr>
      <vt:lpstr>PowerPoint Presentation</vt:lpstr>
      <vt:lpstr>PowerPoint Presentation</vt:lpstr>
      <vt:lpstr>PowerPoint Presentation</vt:lpstr>
      <vt:lpstr>PowerPoint Presentation</vt:lpstr>
      <vt:lpstr>It22561084 | JEESARA k g n</vt:lpstr>
      <vt:lpstr>Introduction</vt:lpstr>
      <vt:lpstr>Research Gap</vt:lpstr>
      <vt:lpstr>Overview of Shortcomings</vt:lpstr>
      <vt:lpstr>Methodology</vt:lpstr>
      <vt:lpstr>PowerPoint Presentation</vt:lpstr>
      <vt:lpstr>System Overview Diagram</vt:lpstr>
      <vt:lpstr>IT22591098 | JAYALATH J P R J</vt:lpstr>
      <vt:lpstr>Introduction</vt:lpstr>
      <vt:lpstr>Research Gap</vt:lpstr>
      <vt:lpstr>PowerPoint Presentation</vt:lpstr>
      <vt:lpstr>Methodology</vt:lpstr>
      <vt:lpstr>PowerPoint Presentation</vt:lpstr>
      <vt:lpstr>SYSTEM OVERVIEW DIAGRAM</vt:lpstr>
      <vt:lpstr>PowerPoint Presentation</vt:lpstr>
      <vt:lpstr>It22600516 | Tharaka B W P</vt:lpstr>
      <vt:lpstr>PowerPoint Presentation</vt:lpstr>
      <vt:lpstr>PowerPoint Presentation</vt:lpstr>
      <vt:lpstr>PowerPoint Presentation</vt:lpstr>
      <vt:lpstr>Methodology</vt:lpstr>
      <vt:lpstr>PowerPoint Presentation</vt:lpstr>
      <vt:lpstr>SYSTEM OVERVIEW DIAGRAM</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THARAKA B.W.P it22600516</dc:creator>
  <cp:lastModifiedBy>THARAKA B.W.P it22600516</cp:lastModifiedBy>
  <cp:revision>5</cp:revision>
  <dcterms:created xsi:type="dcterms:W3CDTF">2025-08-31T14:52:08Z</dcterms:created>
  <dcterms:modified xsi:type="dcterms:W3CDTF">2025-10-10T04:00:30Z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0x0101008DC20DB7DB36DD49BC8150064CF95DD9</vt:lpwstr>
  </property>
  <property fmtid="{D5CDD505-2E9C-101B-9397-08002B2CF9AE}" pid="3" name="MediaServiceImageTags">
    <vt:lpwstr/>
  </property>
</Properties>
</file>